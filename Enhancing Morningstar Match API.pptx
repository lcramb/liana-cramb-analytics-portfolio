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1"/>
  </p:sldMasterIdLst>
  <p:notesMasterIdLst>
    <p:notesMasterId r:id="rId21"/>
  </p:notesMasterIdLst>
  <p:sldIdLst>
    <p:sldId id="268" r:id="rId2"/>
    <p:sldId id="276" r:id="rId3"/>
    <p:sldId id="287" r:id="rId4"/>
    <p:sldId id="277" r:id="rId5"/>
    <p:sldId id="278" r:id="rId6"/>
    <p:sldId id="265" r:id="rId7"/>
    <p:sldId id="269" r:id="rId8"/>
    <p:sldId id="284" r:id="rId9"/>
    <p:sldId id="285" r:id="rId10"/>
    <p:sldId id="290" r:id="rId11"/>
    <p:sldId id="292" r:id="rId12"/>
    <p:sldId id="286" r:id="rId13"/>
    <p:sldId id="293" r:id="rId14"/>
    <p:sldId id="270" r:id="rId15"/>
    <p:sldId id="271" r:id="rId16"/>
    <p:sldId id="294" r:id="rId17"/>
    <p:sldId id="273" r:id="rId18"/>
    <p:sldId id="280"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EEB0676-255E-88DC-015D-8D5DF0E31C7F}" name="Malpeli, Payton" initials="MP" userId="S::PMALPELI@depaul.edu::71c77c61-1c39-44e1-b957-820c5bbc2567" providerId="AD"/>
  <p188:author id="{82FA509B-52A7-8EEA-A8C9-6E50E071E389}" name="Malpeli, Payton" initials="MP" userId="S::pmalpeli@depaul.edu::71c77c61-1c39-44e1-b957-820c5bbc2567" providerId="AD"/>
  <p188:author id="{55DEB8B7-E418-296C-D769-B3B5F3C4859D}" name="Cramb, Liana" initials="CL" userId="S::lcramb@depaul.edu::05e86c88-8440-46ec-870d-aed065da4571" providerId="AD"/>
  <p188:author id="{B892E4C2-23D7-BA51-D75A-4F6A2D521D90}" name="Majid, Qurrathul Ain" initials="MQ" userId="S::qmajid@depaul.edu::9dedf671-cff3-4037-935b-c82b20754af3" providerId="AD"/>
  <p188:author id="{5EBEE2F7-3D69-CAB9-9108-B84E9F2972F0}" name="Balla, Yuva raj" initials="BY" userId="S::yballa@depaul.edu::2a6cdca0-7538-45c8-a613-58a7885e271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777777"/>
    <a:srgbClr val="808080"/>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418C42-349B-A180-2F05-7336A04244A8}" v="14" dt="2025-11-16T06:39:43.796"/>
    <p1510:client id="{1CF32202-636D-4F7F-A57A-A7EFAD5DD4FF}" v="589" dt="2025-11-16T16:45:01.157"/>
    <p1510:client id="{D2FEF84D-5421-7240-8397-88E5FDDAEB26}" v="2" dt="2025-11-16T16:53:50.1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4"/>
    <p:restoredTop sz="94656"/>
  </p:normalViewPr>
  <p:slideViewPr>
    <p:cSldViewPr snapToGrid="0">
      <p:cViewPr varScale="1">
        <p:scale>
          <a:sx n="107" d="100"/>
          <a:sy n="107" d="100"/>
        </p:scale>
        <p:origin x="64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8/10/relationships/authors" Target="authors.xml"/></Relationships>
</file>

<file path=ppt/charts/_rels/chart1.xml.rels><?xml version="1.0" encoding="UTF-8" standalone="yes"?>
<Relationships xmlns="http://schemas.openxmlformats.org/package/2006/relationships"><Relationship Id="rId3" Type="http://schemas.openxmlformats.org/officeDocument/2006/relationships/oleObject" Target="https://d.docs.live.net/DD0D2BCDB8ED6053/Documents/Book1.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ysClr val="windowText" lastClr="000000"/>
                </a:solidFill>
                <a:latin typeface="Rockwell" panose="02060603020205020403" pitchFamily="18" charset="0"/>
                <a:ea typeface="+mn-ea"/>
                <a:cs typeface="+mn-cs"/>
              </a:defRPr>
            </a:pPr>
            <a:r>
              <a:rPr lang="en-US" sz="1800">
                <a:solidFill>
                  <a:sysClr val="windowText" lastClr="000000"/>
                </a:solidFill>
                <a:latin typeface="Rockwell" panose="02060603020205020403" pitchFamily="18" charset="0"/>
              </a:rPr>
              <a:t>Top 10</a:t>
            </a:r>
          </a:p>
        </c:rich>
      </c:tx>
      <c:overlay val="0"/>
      <c:spPr>
        <a:noFill/>
        <a:ln>
          <a:noFill/>
        </a:ln>
        <a:effectLst/>
      </c:spPr>
      <c:txPr>
        <a:bodyPr rot="0" spcFirstLastPara="1" vertOverflow="ellipsis" vert="horz" wrap="square" anchor="ctr" anchorCtr="1"/>
        <a:lstStyle/>
        <a:p>
          <a:pPr>
            <a:defRPr sz="1800" b="0" i="0" u="none" strike="noStrike" kern="1200" spc="0" baseline="0">
              <a:solidFill>
                <a:sysClr val="windowText" lastClr="000000"/>
              </a:solidFill>
              <a:latin typeface="Rockwell" panose="02060603020205020403" pitchFamily="18" charset="0"/>
              <a:ea typeface="+mn-ea"/>
              <a:cs typeface="+mn-cs"/>
            </a:defRPr>
          </a:pPr>
          <a:endParaRPr lang="en-US"/>
        </a:p>
      </c:txPr>
    </c:title>
    <c:autoTitleDeleted val="0"/>
    <c:plotArea>
      <c:layout/>
      <c:barChart>
        <c:barDir val="col"/>
        <c:grouping val="clustered"/>
        <c:varyColors val="0"/>
        <c:ser>
          <c:idx val="0"/>
          <c:order val="0"/>
          <c:tx>
            <c:strRef>
              <c:f>Sheet1!$B$1</c:f>
              <c:strCache>
                <c:ptCount val="1"/>
                <c:pt idx="0">
                  <c:v>F1 Score</c:v>
                </c:pt>
              </c:strCache>
            </c:strRef>
          </c:tx>
          <c:spPr>
            <a:solidFill>
              <a:srgbClr val="FF0000"/>
            </a:solidFill>
            <a:ln>
              <a:noFill/>
            </a:ln>
            <a:effectLst/>
          </c:spPr>
          <c:invertIfNegative val="0"/>
          <c:cat>
            <c:strRef>
              <c:f>Sheet1!$A$2:$A$11</c:f>
              <c:strCache>
                <c:ptCount val="10"/>
                <c:pt idx="0">
                  <c:v>BG</c:v>
                </c:pt>
                <c:pt idx="1">
                  <c:v>CU</c:v>
                </c:pt>
                <c:pt idx="2">
                  <c:v>12</c:v>
                </c:pt>
                <c:pt idx="3">
                  <c:v>BT</c:v>
                </c:pt>
                <c:pt idx="4">
                  <c:v>1</c:v>
                </c:pt>
                <c:pt idx="5">
                  <c:v>BD</c:v>
                </c:pt>
                <c:pt idx="6">
                  <c:v>E</c:v>
                </c:pt>
                <c:pt idx="7">
                  <c:v>B</c:v>
                </c:pt>
                <c:pt idx="8">
                  <c:v>ER</c:v>
                </c:pt>
                <c:pt idx="9">
                  <c:v>BY</c:v>
                </c:pt>
              </c:strCache>
            </c:strRef>
          </c:cat>
          <c:val>
            <c:numRef>
              <c:f>Sheet1!$B$2:$B$11</c:f>
              <c:numCache>
                <c:formatCode>General</c:formatCode>
                <c:ptCount val="10"/>
                <c:pt idx="0" formatCode="0.00">
                  <c:v>1</c:v>
                </c:pt>
                <c:pt idx="1">
                  <c:v>0.98</c:v>
                </c:pt>
                <c:pt idx="2">
                  <c:v>0.97</c:v>
                </c:pt>
                <c:pt idx="3">
                  <c:v>0.96</c:v>
                </c:pt>
                <c:pt idx="4" formatCode="0.00">
                  <c:v>0.95</c:v>
                </c:pt>
                <c:pt idx="5">
                  <c:v>0.95</c:v>
                </c:pt>
                <c:pt idx="6">
                  <c:v>0.95</c:v>
                </c:pt>
                <c:pt idx="7">
                  <c:v>0.88</c:v>
                </c:pt>
                <c:pt idx="8">
                  <c:v>0.88</c:v>
                </c:pt>
                <c:pt idx="9">
                  <c:v>0.87</c:v>
                </c:pt>
              </c:numCache>
            </c:numRef>
          </c:val>
          <c:extLst>
            <c:ext xmlns:c16="http://schemas.microsoft.com/office/drawing/2014/chart" uri="{C3380CC4-5D6E-409C-BE32-E72D297353CC}">
              <c16:uniqueId val="{00000000-BD73-48D6-88DD-DBA3745B1792}"/>
            </c:ext>
          </c:extLst>
        </c:ser>
        <c:ser>
          <c:idx val="1"/>
          <c:order val="1"/>
          <c:tx>
            <c:strRef>
              <c:f>Sheet1!$C$1</c:f>
              <c:strCache>
                <c:ptCount val="1"/>
                <c:pt idx="0">
                  <c:v>Precision</c:v>
                </c:pt>
              </c:strCache>
            </c:strRef>
          </c:tx>
          <c:spPr>
            <a:solidFill>
              <a:schemeClr val="bg2">
                <a:lumMod val="50000"/>
              </a:schemeClr>
            </a:solidFill>
            <a:ln>
              <a:noFill/>
            </a:ln>
            <a:effectLst/>
          </c:spPr>
          <c:invertIfNegative val="0"/>
          <c:cat>
            <c:strRef>
              <c:f>Sheet1!$A$2:$A$11</c:f>
              <c:strCache>
                <c:ptCount val="10"/>
                <c:pt idx="0">
                  <c:v>BG</c:v>
                </c:pt>
                <c:pt idx="1">
                  <c:v>CU</c:v>
                </c:pt>
                <c:pt idx="2">
                  <c:v>12</c:v>
                </c:pt>
                <c:pt idx="3">
                  <c:v>BT</c:v>
                </c:pt>
                <c:pt idx="4">
                  <c:v>1</c:v>
                </c:pt>
                <c:pt idx="5">
                  <c:v>BD</c:v>
                </c:pt>
                <c:pt idx="6">
                  <c:v>E</c:v>
                </c:pt>
                <c:pt idx="7">
                  <c:v>B</c:v>
                </c:pt>
                <c:pt idx="8">
                  <c:v>ER</c:v>
                </c:pt>
                <c:pt idx="9">
                  <c:v>BY</c:v>
                </c:pt>
              </c:strCache>
            </c:strRef>
          </c:cat>
          <c:val>
            <c:numRef>
              <c:f>Sheet1!$C$2:$C$11</c:f>
              <c:numCache>
                <c:formatCode>General</c:formatCode>
                <c:ptCount val="10"/>
                <c:pt idx="0" formatCode="0.00">
                  <c:v>1</c:v>
                </c:pt>
                <c:pt idx="1">
                  <c:v>0.99</c:v>
                </c:pt>
                <c:pt idx="2">
                  <c:v>0.96</c:v>
                </c:pt>
                <c:pt idx="3">
                  <c:v>0.98</c:v>
                </c:pt>
                <c:pt idx="4">
                  <c:v>0.96</c:v>
                </c:pt>
                <c:pt idx="5">
                  <c:v>0.96</c:v>
                </c:pt>
                <c:pt idx="6">
                  <c:v>0.93</c:v>
                </c:pt>
                <c:pt idx="7">
                  <c:v>0.93</c:v>
                </c:pt>
                <c:pt idx="8">
                  <c:v>0.88</c:v>
                </c:pt>
                <c:pt idx="9">
                  <c:v>0.93</c:v>
                </c:pt>
              </c:numCache>
            </c:numRef>
          </c:val>
          <c:extLst>
            <c:ext xmlns:c16="http://schemas.microsoft.com/office/drawing/2014/chart" uri="{C3380CC4-5D6E-409C-BE32-E72D297353CC}">
              <c16:uniqueId val="{00000001-BD73-48D6-88DD-DBA3745B1792}"/>
            </c:ext>
          </c:extLst>
        </c:ser>
        <c:ser>
          <c:idx val="2"/>
          <c:order val="2"/>
          <c:tx>
            <c:strRef>
              <c:f>Sheet1!$D$1</c:f>
              <c:strCache>
                <c:ptCount val="1"/>
                <c:pt idx="0">
                  <c:v>Recall</c:v>
                </c:pt>
              </c:strCache>
            </c:strRef>
          </c:tx>
          <c:spPr>
            <a:solidFill>
              <a:schemeClr val="tx1"/>
            </a:solidFill>
            <a:ln>
              <a:noFill/>
            </a:ln>
            <a:effectLst/>
          </c:spPr>
          <c:invertIfNegative val="0"/>
          <c:cat>
            <c:strRef>
              <c:f>Sheet1!$A$2:$A$11</c:f>
              <c:strCache>
                <c:ptCount val="10"/>
                <c:pt idx="0">
                  <c:v>BG</c:v>
                </c:pt>
                <c:pt idx="1">
                  <c:v>CU</c:v>
                </c:pt>
                <c:pt idx="2">
                  <c:v>12</c:v>
                </c:pt>
                <c:pt idx="3">
                  <c:v>BT</c:v>
                </c:pt>
                <c:pt idx="4">
                  <c:v>1</c:v>
                </c:pt>
                <c:pt idx="5">
                  <c:v>BD</c:v>
                </c:pt>
                <c:pt idx="6">
                  <c:v>E</c:v>
                </c:pt>
                <c:pt idx="7">
                  <c:v>B</c:v>
                </c:pt>
                <c:pt idx="8">
                  <c:v>ER</c:v>
                </c:pt>
                <c:pt idx="9">
                  <c:v>BY</c:v>
                </c:pt>
              </c:strCache>
            </c:strRef>
          </c:cat>
          <c:val>
            <c:numRef>
              <c:f>Sheet1!$D$2:$D$11</c:f>
              <c:numCache>
                <c:formatCode>General</c:formatCode>
                <c:ptCount val="10"/>
                <c:pt idx="0" formatCode="0.00">
                  <c:v>1</c:v>
                </c:pt>
                <c:pt idx="1">
                  <c:v>0.97</c:v>
                </c:pt>
                <c:pt idx="2">
                  <c:v>0.97</c:v>
                </c:pt>
                <c:pt idx="3">
                  <c:v>0.94</c:v>
                </c:pt>
                <c:pt idx="4">
                  <c:v>0.93</c:v>
                </c:pt>
                <c:pt idx="5">
                  <c:v>0.95</c:v>
                </c:pt>
                <c:pt idx="6">
                  <c:v>0.98</c:v>
                </c:pt>
                <c:pt idx="7">
                  <c:v>0.84</c:v>
                </c:pt>
                <c:pt idx="8">
                  <c:v>0.89</c:v>
                </c:pt>
                <c:pt idx="9">
                  <c:v>0.81</c:v>
                </c:pt>
              </c:numCache>
            </c:numRef>
          </c:val>
          <c:extLst>
            <c:ext xmlns:c16="http://schemas.microsoft.com/office/drawing/2014/chart" uri="{C3380CC4-5D6E-409C-BE32-E72D297353CC}">
              <c16:uniqueId val="{00000002-BD73-48D6-88DD-DBA3745B1792}"/>
            </c:ext>
          </c:extLst>
        </c:ser>
        <c:dLbls>
          <c:showLegendKey val="0"/>
          <c:showVal val="0"/>
          <c:showCatName val="0"/>
          <c:showSerName val="0"/>
          <c:showPercent val="0"/>
          <c:showBubbleSize val="0"/>
        </c:dLbls>
        <c:gapWidth val="219"/>
        <c:overlap val="-27"/>
        <c:axId val="1370147088"/>
        <c:axId val="1370164848"/>
      </c:barChart>
      <c:catAx>
        <c:axId val="1370147088"/>
        <c:scaling>
          <c:orientation val="minMax"/>
        </c:scaling>
        <c:delete val="0"/>
        <c:axPos val="b"/>
        <c:title>
          <c:tx>
            <c:rich>
              <a:bodyPr rot="0" spcFirstLastPara="1" vertOverflow="ellipsis" vert="horz" wrap="square" anchor="ctr" anchorCtr="1"/>
              <a:lstStyle/>
              <a:p>
                <a:pPr>
                  <a:defRPr sz="1600" b="0" i="0" u="none" strike="noStrike" kern="1200" baseline="0">
                    <a:solidFill>
                      <a:sysClr val="windowText" lastClr="000000"/>
                    </a:solidFill>
                    <a:latin typeface="Rockwell" panose="02060603020205020403" pitchFamily="18" charset="0"/>
                    <a:ea typeface="+mn-ea"/>
                    <a:cs typeface="+mn-cs"/>
                  </a:defRPr>
                </a:pPr>
                <a:r>
                  <a:rPr lang="en-US" sz="1600">
                    <a:solidFill>
                      <a:sysClr val="windowText" lastClr="000000"/>
                    </a:solidFill>
                    <a:latin typeface="Rockwell" panose="02060603020205020403" pitchFamily="18" charset="0"/>
                  </a:rPr>
                  <a:t>Class</a:t>
                </a:r>
              </a:p>
            </c:rich>
          </c:tx>
          <c:layout>
            <c:manualLayout>
              <c:xMode val="edge"/>
              <c:yMode val="edge"/>
              <c:x val="0.47171863586638751"/>
              <c:y val="0.84517836514222655"/>
            </c:manualLayout>
          </c:layout>
          <c:overlay val="0"/>
          <c:spPr>
            <a:solidFill>
              <a:sysClr val="window" lastClr="FFFFFF"/>
            </a:solidFill>
            <a:ln>
              <a:noFill/>
            </a:ln>
            <a:effectLst/>
          </c:spPr>
          <c:txPr>
            <a:bodyPr rot="0" spcFirstLastPara="1" vertOverflow="ellipsis" vert="horz" wrap="square" anchor="ctr" anchorCtr="1"/>
            <a:lstStyle/>
            <a:p>
              <a:pPr>
                <a:defRPr sz="1600" b="0" i="0" u="none" strike="noStrike" kern="1200" baseline="0">
                  <a:solidFill>
                    <a:sysClr val="windowText" lastClr="000000"/>
                  </a:solidFill>
                  <a:latin typeface="Rockwell" panose="02060603020205020403" pitchFamily="18" charset="0"/>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370164848"/>
        <c:crosses val="autoZero"/>
        <c:auto val="1"/>
        <c:lblAlgn val="ctr"/>
        <c:lblOffset val="100"/>
        <c:noMultiLvlLbl val="0"/>
      </c:catAx>
      <c:valAx>
        <c:axId val="1370164848"/>
        <c:scaling>
          <c:orientation val="minMax"/>
          <c:max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600" b="0" i="0" u="none" strike="noStrike" kern="1200" baseline="0">
                    <a:solidFill>
                      <a:sysClr val="windowText" lastClr="000000"/>
                    </a:solidFill>
                    <a:latin typeface="Rockwell" panose="02060603020205020403" pitchFamily="18" charset="0"/>
                    <a:ea typeface="+mn-ea"/>
                    <a:cs typeface="+mn-cs"/>
                  </a:defRPr>
                </a:pPr>
                <a:r>
                  <a:rPr lang="en-US" sz="1600">
                    <a:solidFill>
                      <a:sysClr val="windowText" lastClr="000000"/>
                    </a:solidFill>
                    <a:latin typeface="Rockwell" panose="02060603020205020403" pitchFamily="18" charset="0"/>
                  </a:rPr>
                  <a:t>Percentage</a:t>
                </a:r>
              </a:p>
            </c:rich>
          </c:tx>
          <c:overlay val="0"/>
          <c:spPr>
            <a:noFill/>
            <a:ln>
              <a:noFill/>
            </a:ln>
            <a:effectLst/>
          </c:spPr>
          <c:txPr>
            <a:bodyPr rot="-5400000" spcFirstLastPara="1" vertOverflow="ellipsis" vert="horz" wrap="square" anchor="ctr" anchorCtr="1"/>
            <a:lstStyle/>
            <a:p>
              <a:pPr>
                <a:defRPr sz="1600" b="0" i="0" u="none" strike="noStrike" kern="1200" baseline="0">
                  <a:solidFill>
                    <a:sysClr val="windowText" lastClr="000000"/>
                  </a:solidFill>
                  <a:latin typeface="Rockwell" panose="02060603020205020403" pitchFamily="18" charset="0"/>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370147088"/>
        <c:crosses val="autoZero"/>
        <c:crossBetween val="between"/>
      </c:valAx>
      <c:spPr>
        <a:noFill/>
        <a:ln>
          <a:noFill/>
        </a:ln>
        <a:effectLst/>
      </c:spPr>
    </c:plotArea>
    <c:legend>
      <c:legendPos val="b"/>
      <c:layout>
        <c:manualLayout>
          <c:xMode val="edge"/>
          <c:yMode val="edge"/>
          <c:x val="2.3819658592792638E-2"/>
          <c:y val="0.87263132812675825"/>
          <c:w val="0.34013319923973967"/>
          <c:h val="9.3235296096599973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Rockwell" panose="02060603020205020403" pitchFamily="18"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5ACF747-4BE7-41E1-A06F-765C16350669}"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432132FC-884B-4163-9C80-A7B39C0453AB}">
      <dgm:prSet custT="1"/>
      <dgm:spPr/>
      <dgm:t>
        <a:bodyPr/>
        <a:lstStyle/>
        <a:p>
          <a:pPr>
            <a:lnSpc>
              <a:spcPct val="100000"/>
            </a:lnSpc>
          </a:pPr>
          <a:r>
            <a:rPr lang="en-US" sz="1400"/>
            <a:t>Develop a machine learning model to predict detail holding type using ExternalName</a:t>
          </a:r>
        </a:p>
      </dgm:t>
    </dgm:pt>
    <dgm:pt modelId="{89F0AF27-73ED-414D-82A9-8C354EAE3AB1}" type="parTrans" cxnId="{0D66D3AB-9266-4535-86A5-04586BA36EAF}">
      <dgm:prSet/>
      <dgm:spPr/>
      <dgm:t>
        <a:bodyPr/>
        <a:lstStyle/>
        <a:p>
          <a:endParaRPr lang="en-US" sz="1200"/>
        </a:p>
      </dgm:t>
    </dgm:pt>
    <dgm:pt modelId="{DDC6FF9A-EAE0-4ECA-AFCB-A89F49CECB0E}" type="sibTrans" cxnId="{0D66D3AB-9266-4535-86A5-04586BA36EAF}">
      <dgm:prSet/>
      <dgm:spPr/>
      <dgm:t>
        <a:bodyPr/>
        <a:lstStyle/>
        <a:p>
          <a:pPr>
            <a:lnSpc>
              <a:spcPct val="100000"/>
            </a:lnSpc>
          </a:pPr>
          <a:endParaRPr lang="en-US" sz="1200"/>
        </a:p>
      </dgm:t>
    </dgm:pt>
    <dgm:pt modelId="{BE62219A-4C30-49D2-8AD0-9E108BC789E0}">
      <dgm:prSet custT="1"/>
      <dgm:spPr/>
      <dgm:t>
        <a:bodyPr/>
        <a:lstStyle/>
        <a:p>
          <a:pPr>
            <a:lnSpc>
              <a:spcPct val="100000"/>
            </a:lnSpc>
          </a:pPr>
          <a:r>
            <a:rPr lang="en-US" sz="1400"/>
            <a:t>Compute and analyze prediction quality &amp; computation efficiency of modeling approaches</a:t>
          </a:r>
        </a:p>
      </dgm:t>
    </dgm:pt>
    <dgm:pt modelId="{1C9A5524-508B-452C-9D9A-ECAA0309AF60}" type="parTrans" cxnId="{660416B2-608E-40FA-97C1-74D51E463B00}">
      <dgm:prSet/>
      <dgm:spPr/>
      <dgm:t>
        <a:bodyPr/>
        <a:lstStyle/>
        <a:p>
          <a:endParaRPr lang="en-US" sz="1200"/>
        </a:p>
      </dgm:t>
    </dgm:pt>
    <dgm:pt modelId="{9846FAAB-538D-42F9-9950-479CC5078427}" type="sibTrans" cxnId="{660416B2-608E-40FA-97C1-74D51E463B00}">
      <dgm:prSet/>
      <dgm:spPr/>
      <dgm:t>
        <a:bodyPr/>
        <a:lstStyle/>
        <a:p>
          <a:pPr>
            <a:lnSpc>
              <a:spcPct val="100000"/>
            </a:lnSpc>
          </a:pPr>
          <a:endParaRPr lang="en-US" sz="1200"/>
        </a:p>
      </dgm:t>
    </dgm:pt>
    <dgm:pt modelId="{D3C9CBBA-9651-4BAF-AC84-781D8F3DE7E4}">
      <dgm:prSet custT="1"/>
      <dgm:spPr/>
      <dgm:t>
        <a:bodyPr/>
        <a:lstStyle/>
        <a:p>
          <a:pPr>
            <a:lnSpc>
              <a:spcPct val="100000"/>
            </a:lnSpc>
          </a:pPr>
          <a:r>
            <a:rPr lang="en-US" sz="1400"/>
            <a:t>Enhance Match APIs ability to subset and route holdings data to reduce false positives and improve overall match precision </a:t>
          </a:r>
        </a:p>
      </dgm:t>
    </dgm:pt>
    <dgm:pt modelId="{CE4A90EF-3348-41EF-AF34-53665C26B423}" type="parTrans" cxnId="{B03721BA-4C6D-4F6B-B5C1-56C696766771}">
      <dgm:prSet/>
      <dgm:spPr/>
      <dgm:t>
        <a:bodyPr/>
        <a:lstStyle/>
        <a:p>
          <a:endParaRPr lang="en-US" sz="1200"/>
        </a:p>
      </dgm:t>
    </dgm:pt>
    <dgm:pt modelId="{1DB2AA35-5BF6-409F-BB96-471BDD1D87DE}" type="sibTrans" cxnId="{B03721BA-4C6D-4F6B-B5C1-56C696766771}">
      <dgm:prSet/>
      <dgm:spPr/>
      <dgm:t>
        <a:bodyPr/>
        <a:lstStyle/>
        <a:p>
          <a:pPr>
            <a:lnSpc>
              <a:spcPct val="100000"/>
            </a:lnSpc>
          </a:pPr>
          <a:endParaRPr lang="en-US" sz="1200"/>
        </a:p>
      </dgm:t>
    </dgm:pt>
    <dgm:pt modelId="{56753257-B8BD-4ECD-88B6-5E397ADAB685}">
      <dgm:prSet custT="1"/>
      <dgm:spPr/>
      <dgm:t>
        <a:bodyPr/>
        <a:lstStyle/>
        <a:p>
          <a:pPr>
            <a:lnSpc>
              <a:spcPct val="100000"/>
            </a:lnSpc>
          </a:pPr>
          <a:r>
            <a:rPr lang="en-US" sz="1400"/>
            <a:t>Create a model which can be easily updated with new data</a:t>
          </a:r>
        </a:p>
      </dgm:t>
    </dgm:pt>
    <dgm:pt modelId="{CCE3EFB8-DF17-4A63-8D5F-90C13F94F37E}" type="parTrans" cxnId="{1FCD97E8-6ED1-479A-BF55-18226E07015C}">
      <dgm:prSet/>
      <dgm:spPr/>
      <dgm:t>
        <a:bodyPr/>
        <a:lstStyle/>
        <a:p>
          <a:endParaRPr lang="en-US" sz="1200"/>
        </a:p>
      </dgm:t>
    </dgm:pt>
    <dgm:pt modelId="{46EB59B4-24FA-4E7B-8915-33EB1D251532}" type="sibTrans" cxnId="{1FCD97E8-6ED1-479A-BF55-18226E07015C}">
      <dgm:prSet/>
      <dgm:spPr/>
      <dgm:t>
        <a:bodyPr/>
        <a:lstStyle/>
        <a:p>
          <a:pPr>
            <a:lnSpc>
              <a:spcPct val="100000"/>
            </a:lnSpc>
          </a:pPr>
          <a:endParaRPr lang="en-US" sz="1200"/>
        </a:p>
      </dgm:t>
    </dgm:pt>
    <dgm:pt modelId="{ECDEF407-E1D9-47C3-8EA3-BADAFEC9365E}">
      <dgm:prSet custT="1"/>
      <dgm:spPr/>
      <dgm:t>
        <a:bodyPr/>
        <a:lstStyle/>
        <a:p>
          <a:pPr>
            <a:lnSpc>
              <a:spcPct val="100000"/>
            </a:lnSpc>
          </a:pPr>
          <a:r>
            <a:rPr lang="en-US" sz="1400"/>
            <a:t>Deliver insights for further improvements</a:t>
          </a:r>
        </a:p>
      </dgm:t>
    </dgm:pt>
    <dgm:pt modelId="{62063BB0-4635-4AD8-A6D0-767BE4F89A46}" type="parTrans" cxnId="{D0243063-701B-4392-81AD-CD5DC456165D}">
      <dgm:prSet/>
      <dgm:spPr/>
      <dgm:t>
        <a:bodyPr/>
        <a:lstStyle/>
        <a:p>
          <a:endParaRPr lang="en-US" sz="1200"/>
        </a:p>
      </dgm:t>
    </dgm:pt>
    <dgm:pt modelId="{529F47DC-09AD-4196-A5A0-4470045BFB8A}" type="sibTrans" cxnId="{D0243063-701B-4392-81AD-CD5DC456165D}">
      <dgm:prSet/>
      <dgm:spPr/>
      <dgm:t>
        <a:bodyPr/>
        <a:lstStyle/>
        <a:p>
          <a:endParaRPr lang="en-US" sz="1200"/>
        </a:p>
      </dgm:t>
    </dgm:pt>
    <dgm:pt modelId="{6FAEA555-2AA8-4DA4-8659-4DC313AE4F38}" type="pres">
      <dgm:prSet presAssocID="{65ACF747-4BE7-41E1-A06F-765C16350669}" presName="root" presStyleCnt="0">
        <dgm:presLayoutVars>
          <dgm:dir/>
          <dgm:resizeHandles val="exact"/>
        </dgm:presLayoutVars>
      </dgm:prSet>
      <dgm:spPr/>
    </dgm:pt>
    <dgm:pt modelId="{9D24EB81-862A-413B-9B62-24C506247745}" type="pres">
      <dgm:prSet presAssocID="{65ACF747-4BE7-41E1-A06F-765C16350669}" presName="container" presStyleCnt="0">
        <dgm:presLayoutVars>
          <dgm:dir/>
          <dgm:resizeHandles val="exact"/>
        </dgm:presLayoutVars>
      </dgm:prSet>
      <dgm:spPr/>
    </dgm:pt>
    <dgm:pt modelId="{7A9959DF-B9FF-4D4E-85A6-0C483B1CC687}" type="pres">
      <dgm:prSet presAssocID="{432132FC-884B-4163-9C80-A7B39C0453AB}" presName="compNode" presStyleCnt="0"/>
      <dgm:spPr/>
    </dgm:pt>
    <dgm:pt modelId="{BF540A27-D0B8-49F1-A085-5BA41FB30F11}" type="pres">
      <dgm:prSet presAssocID="{432132FC-884B-4163-9C80-A7B39C0453AB}" presName="iconBgRect" presStyleLbl="bgShp" presStyleIdx="0" presStyleCnt="5"/>
      <dgm:spPr/>
    </dgm:pt>
    <dgm:pt modelId="{D89EF925-9A1C-47C9-AAEB-10274051EF3F}" type="pres">
      <dgm:prSet presAssocID="{432132FC-884B-4163-9C80-A7B39C0453AB}"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ead with Gears"/>
        </a:ext>
      </dgm:extLst>
    </dgm:pt>
    <dgm:pt modelId="{76E2124F-9C86-4588-B136-EB3392D6B128}" type="pres">
      <dgm:prSet presAssocID="{432132FC-884B-4163-9C80-A7B39C0453AB}" presName="spaceRect" presStyleCnt="0"/>
      <dgm:spPr/>
    </dgm:pt>
    <dgm:pt modelId="{635220CD-A61E-4D1B-8BF6-5BAF16B9D456}" type="pres">
      <dgm:prSet presAssocID="{432132FC-884B-4163-9C80-A7B39C0453AB}" presName="textRect" presStyleLbl="revTx" presStyleIdx="0" presStyleCnt="5">
        <dgm:presLayoutVars>
          <dgm:chMax val="1"/>
          <dgm:chPref val="1"/>
        </dgm:presLayoutVars>
      </dgm:prSet>
      <dgm:spPr/>
    </dgm:pt>
    <dgm:pt modelId="{9F6790E5-0F9F-4C9B-AC76-960D77A4306D}" type="pres">
      <dgm:prSet presAssocID="{DDC6FF9A-EAE0-4ECA-AFCB-A89F49CECB0E}" presName="sibTrans" presStyleLbl="sibTrans2D1" presStyleIdx="0" presStyleCnt="0"/>
      <dgm:spPr/>
    </dgm:pt>
    <dgm:pt modelId="{B3C7B7BE-6EF8-4DA0-B871-430C77915306}" type="pres">
      <dgm:prSet presAssocID="{BE62219A-4C30-49D2-8AD0-9E108BC789E0}" presName="compNode" presStyleCnt="0"/>
      <dgm:spPr/>
    </dgm:pt>
    <dgm:pt modelId="{2CA27DA3-CA8E-4230-88CF-3D6D60823E86}" type="pres">
      <dgm:prSet presAssocID="{BE62219A-4C30-49D2-8AD0-9E108BC789E0}" presName="iconBgRect" presStyleLbl="bgShp" presStyleIdx="1" presStyleCnt="5"/>
      <dgm:spPr/>
    </dgm:pt>
    <dgm:pt modelId="{E78B9925-25A1-4965-BD1A-A004DA089644}" type="pres">
      <dgm:prSet presAssocID="{BE62219A-4C30-49D2-8AD0-9E108BC789E0}"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atabase"/>
        </a:ext>
      </dgm:extLst>
    </dgm:pt>
    <dgm:pt modelId="{02B0F9C6-F2C0-44FE-A16C-21DBC3933C71}" type="pres">
      <dgm:prSet presAssocID="{BE62219A-4C30-49D2-8AD0-9E108BC789E0}" presName="spaceRect" presStyleCnt="0"/>
      <dgm:spPr/>
    </dgm:pt>
    <dgm:pt modelId="{D4E76B05-FCF0-469F-901C-2AF87CEE680B}" type="pres">
      <dgm:prSet presAssocID="{BE62219A-4C30-49D2-8AD0-9E108BC789E0}" presName="textRect" presStyleLbl="revTx" presStyleIdx="1" presStyleCnt="5">
        <dgm:presLayoutVars>
          <dgm:chMax val="1"/>
          <dgm:chPref val="1"/>
        </dgm:presLayoutVars>
      </dgm:prSet>
      <dgm:spPr/>
    </dgm:pt>
    <dgm:pt modelId="{4556FB4F-31CE-457F-97EE-02949BBBD221}" type="pres">
      <dgm:prSet presAssocID="{9846FAAB-538D-42F9-9950-479CC5078427}" presName="sibTrans" presStyleLbl="sibTrans2D1" presStyleIdx="0" presStyleCnt="0"/>
      <dgm:spPr/>
    </dgm:pt>
    <dgm:pt modelId="{71654F55-1A1C-45CC-A184-062CE05FA567}" type="pres">
      <dgm:prSet presAssocID="{D3C9CBBA-9651-4BAF-AC84-781D8F3DE7E4}" presName="compNode" presStyleCnt="0"/>
      <dgm:spPr/>
    </dgm:pt>
    <dgm:pt modelId="{708875DE-8268-40E7-AE52-58EC03877C0B}" type="pres">
      <dgm:prSet presAssocID="{D3C9CBBA-9651-4BAF-AC84-781D8F3DE7E4}" presName="iconBgRect" presStyleLbl="bgShp" presStyleIdx="2" presStyleCnt="5"/>
      <dgm:spPr/>
    </dgm:pt>
    <dgm:pt modelId="{4B6C7BD6-23CC-4359-BC2C-16BF83AB1311}" type="pres">
      <dgm:prSet presAssocID="{D3C9CBBA-9651-4BAF-AC84-781D8F3DE7E4}"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heckmark"/>
        </a:ext>
      </dgm:extLst>
    </dgm:pt>
    <dgm:pt modelId="{65677ED7-5498-4E58-B907-1A0B8014B641}" type="pres">
      <dgm:prSet presAssocID="{D3C9CBBA-9651-4BAF-AC84-781D8F3DE7E4}" presName="spaceRect" presStyleCnt="0"/>
      <dgm:spPr/>
    </dgm:pt>
    <dgm:pt modelId="{0253FE54-C770-4370-9985-5781D1007A22}" type="pres">
      <dgm:prSet presAssocID="{D3C9CBBA-9651-4BAF-AC84-781D8F3DE7E4}" presName="textRect" presStyleLbl="revTx" presStyleIdx="2" presStyleCnt="5">
        <dgm:presLayoutVars>
          <dgm:chMax val="1"/>
          <dgm:chPref val="1"/>
        </dgm:presLayoutVars>
      </dgm:prSet>
      <dgm:spPr/>
    </dgm:pt>
    <dgm:pt modelId="{E7284E52-308A-4089-86E3-D59298A1DDF6}" type="pres">
      <dgm:prSet presAssocID="{1DB2AA35-5BF6-409F-BB96-471BDD1D87DE}" presName="sibTrans" presStyleLbl="sibTrans2D1" presStyleIdx="0" presStyleCnt="0"/>
      <dgm:spPr/>
    </dgm:pt>
    <dgm:pt modelId="{C229C36D-DDD0-4FAC-AF92-B624BEAD52E5}" type="pres">
      <dgm:prSet presAssocID="{56753257-B8BD-4ECD-88B6-5E397ADAB685}" presName="compNode" presStyleCnt="0"/>
      <dgm:spPr/>
    </dgm:pt>
    <dgm:pt modelId="{22ACDACC-7E77-4622-B063-B5E44FB0A328}" type="pres">
      <dgm:prSet presAssocID="{56753257-B8BD-4ECD-88B6-5E397ADAB685}" presName="iconBgRect" presStyleLbl="bgShp" presStyleIdx="3" presStyleCnt="5"/>
      <dgm:spPr/>
    </dgm:pt>
    <dgm:pt modelId="{C5BAAA6E-DE09-41CD-BD8A-3EC150045736}" type="pres">
      <dgm:prSet presAssocID="{56753257-B8BD-4ECD-88B6-5E397ADAB685}"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Table"/>
        </a:ext>
      </dgm:extLst>
    </dgm:pt>
    <dgm:pt modelId="{C8AB92C5-3D87-4CBF-93D5-5C1824D1BC6F}" type="pres">
      <dgm:prSet presAssocID="{56753257-B8BD-4ECD-88B6-5E397ADAB685}" presName="spaceRect" presStyleCnt="0"/>
      <dgm:spPr/>
    </dgm:pt>
    <dgm:pt modelId="{3EC8B52F-65B8-4FB0-9FB7-FF481A1C0172}" type="pres">
      <dgm:prSet presAssocID="{56753257-B8BD-4ECD-88B6-5E397ADAB685}" presName="textRect" presStyleLbl="revTx" presStyleIdx="3" presStyleCnt="5">
        <dgm:presLayoutVars>
          <dgm:chMax val="1"/>
          <dgm:chPref val="1"/>
        </dgm:presLayoutVars>
      </dgm:prSet>
      <dgm:spPr/>
    </dgm:pt>
    <dgm:pt modelId="{175F0AA6-9A30-4385-A9E8-997AAE888FDB}" type="pres">
      <dgm:prSet presAssocID="{46EB59B4-24FA-4E7B-8915-33EB1D251532}" presName="sibTrans" presStyleLbl="sibTrans2D1" presStyleIdx="0" presStyleCnt="0"/>
      <dgm:spPr/>
    </dgm:pt>
    <dgm:pt modelId="{05645FB4-8109-474A-8EA8-1C35A9D9AF66}" type="pres">
      <dgm:prSet presAssocID="{ECDEF407-E1D9-47C3-8EA3-BADAFEC9365E}" presName="compNode" presStyleCnt="0"/>
      <dgm:spPr/>
    </dgm:pt>
    <dgm:pt modelId="{EF190301-06CA-4997-887D-2D2E9CC92FC5}" type="pres">
      <dgm:prSet presAssocID="{ECDEF407-E1D9-47C3-8EA3-BADAFEC9365E}" presName="iconBgRect" presStyleLbl="bgShp" presStyleIdx="4" presStyleCnt="5"/>
      <dgm:spPr/>
    </dgm:pt>
    <dgm:pt modelId="{5EE7F0B5-83C0-4052-9E42-0B26E26D619E}" type="pres">
      <dgm:prSet presAssocID="{ECDEF407-E1D9-47C3-8EA3-BADAFEC9365E}"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Lightbulb"/>
        </a:ext>
      </dgm:extLst>
    </dgm:pt>
    <dgm:pt modelId="{B0503C6B-BDA4-4601-B181-10C627B9DBF1}" type="pres">
      <dgm:prSet presAssocID="{ECDEF407-E1D9-47C3-8EA3-BADAFEC9365E}" presName="spaceRect" presStyleCnt="0"/>
      <dgm:spPr/>
    </dgm:pt>
    <dgm:pt modelId="{DAF80923-BF4F-4C1F-BEFC-03700E351E2B}" type="pres">
      <dgm:prSet presAssocID="{ECDEF407-E1D9-47C3-8EA3-BADAFEC9365E}" presName="textRect" presStyleLbl="revTx" presStyleIdx="4" presStyleCnt="5">
        <dgm:presLayoutVars>
          <dgm:chMax val="1"/>
          <dgm:chPref val="1"/>
        </dgm:presLayoutVars>
      </dgm:prSet>
      <dgm:spPr/>
    </dgm:pt>
  </dgm:ptLst>
  <dgm:cxnLst>
    <dgm:cxn modelId="{A2483B34-E083-4D55-AFCF-61D4EEBADBA7}" type="presOf" srcId="{65ACF747-4BE7-41E1-A06F-765C16350669}" destId="{6FAEA555-2AA8-4DA4-8659-4DC313AE4F38}" srcOrd="0" destOrd="0" presId="urn:microsoft.com/office/officeart/2018/2/layout/IconCircleList"/>
    <dgm:cxn modelId="{D4D12456-67F6-4868-BD60-F6056DBD590E}" type="presOf" srcId="{432132FC-884B-4163-9C80-A7B39C0453AB}" destId="{635220CD-A61E-4D1B-8BF6-5BAF16B9D456}" srcOrd="0" destOrd="0" presId="urn:microsoft.com/office/officeart/2018/2/layout/IconCircleList"/>
    <dgm:cxn modelId="{D0243063-701B-4392-81AD-CD5DC456165D}" srcId="{65ACF747-4BE7-41E1-A06F-765C16350669}" destId="{ECDEF407-E1D9-47C3-8EA3-BADAFEC9365E}" srcOrd="4" destOrd="0" parTransId="{62063BB0-4635-4AD8-A6D0-767BE4F89A46}" sibTransId="{529F47DC-09AD-4196-A5A0-4470045BFB8A}"/>
    <dgm:cxn modelId="{F846F566-5891-4EEF-9333-C560073F4479}" type="presOf" srcId="{56753257-B8BD-4ECD-88B6-5E397ADAB685}" destId="{3EC8B52F-65B8-4FB0-9FB7-FF481A1C0172}" srcOrd="0" destOrd="0" presId="urn:microsoft.com/office/officeart/2018/2/layout/IconCircleList"/>
    <dgm:cxn modelId="{B0CBD287-BECF-46FF-9565-D2E33438AE20}" type="presOf" srcId="{1DB2AA35-5BF6-409F-BB96-471BDD1D87DE}" destId="{E7284E52-308A-4089-86E3-D59298A1DDF6}" srcOrd="0" destOrd="0" presId="urn:microsoft.com/office/officeart/2018/2/layout/IconCircleList"/>
    <dgm:cxn modelId="{24D5BC9B-8367-4AF1-B48A-3DDCC52F22F9}" type="presOf" srcId="{BE62219A-4C30-49D2-8AD0-9E108BC789E0}" destId="{D4E76B05-FCF0-469F-901C-2AF87CEE680B}" srcOrd="0" destOrd="0" presId="urn:microsoft.com/office/officeart/2018/2/layout/IconCircleList"/>
    <dgm:cxn modelId="{0D66D3AB-9266-4535-86A5-04586BA36EAF}" srcId="{65ACF747-4BE7-41E1-A06F-765C16350669}" destId="{432132FC-884B-4163-9C80-A7B39C0453AB}" srcOrd="0" destOrd="0" parTransId="{89F0AF27-73ED-414D-82A9-8C354EAE3AB1}" sibTransId="{DDC6FF9A-EAE0-4ECA-AFCB-A89F49CECB0E}"/>
    <dgm:cxn modelId="{660416B2-608E-40FA-97C1-74D51E463B00}" srcId="{65ACF747-4BE7-41E1-A06F-765C16350669}" destId="{BE62219A-4C30-49D2-8AD0-9E108BC789E0}" srcOrd="1" destOrd="0" parTransId="{1C9A5524-508B-452C-9D9A-ECAA0309AF60}" sibTransId="{9846FAAB-538D-42F9-9950-479CC5078427}"/>
    <dgm:cxn modelId="{AF7BA8B8-EE9D-4D37-8807-49F6993B2707}" type="presOf" srcId="{ECDEF407-E1D9-47C3-8EA3-BADAFEC9365E}" destId="{DAF80923-BF4F-4C1F-BEFC-03700E351E2B}" srcOrd="0" destOrd="0" presId="urn:microsoft.com/office/officeart/2018/2/layout/IconCircleList"/>
    <dgm:cxn modelId="{B03721BA-4C6D-4F6B-B5C1-56C696766771}" srcId="{65ACF747-4BE7-41E1-A06F-765C16350669}" destId="{D3C9CBBA-9651-4BAF-AC84-781D8F3DE7E4}" srcOrd="2" destOrd="0" parTransId="{CE4A90EF-3348-41EF-AF34-53665C26B423}" sibTransId="{1DB2AA35-5BF6-409F-BB96-471BDD1D87DE}"/>
    <dgm:cxn modelId="{1FCD97E8-6ED1-479A-BF55-18226E07015C}" srcId="{65ACF747-4BE7-41E1-A06F-765C16350669}" destId="{56753257-B8BD-4ECD-88B6-5E397ADAB685}" srcOrd="3" destOrd="0" parTransId="{CCE3EFB8-DF17-4A63-8D5F-90C13F94F37E}" sibTransId="{46EB59B4-24FA-4E7B-8915-33EB1D251532}"/>
    <dgm:cxn modelId="{129ADCE9-FEF4-4029-9849-09621C111D41}" type="presOf" srcId="{DDC6FF9A-EAE0-4ECA-AFCB-A89F49CECB0E}" destId="{9F6790E5-0F9F-4C9B-AC76-960D77A4306D}" srcOrd="0" destOrd="0" presId="urn:microsoft.com/office/officeart/2018/2/layout/IconCircleList"/>
    <dgm:cxn modelId="{FF8950EE-72F2-45B7-B642-3BB7478F5AA9}" type="presOf" srcId="{46EB59B4-24FA-4E7B-8915-33EB1D251532}" destId="{175F0AA6-9A30-4385-A9E8-997AAE888FDB}" srcOrd="0" destOrd="0" presId="urn:microsoft.com/office/officeart/2018/2/layout/IconCircleList"/>
    <dgm:cxn modelId="{EE59FDEF-B4DE-4ABC-9604-9089AAC92F70}" type="presOf" srcId="{9846FAAB-538D-42F9-9950-479CC5078427}" destId="{4556FB4F-31CE-457F-97EE-02949BBBD221}" srcOrd="0" destOrd="0" presId="urn:microsoft.com/office/officeart/2018/2/layout/IconCircleList"/>
    <dgm:cxn modelId="{92A949F8-2443-4188-9986-D1B28491319C}" type="presOf" srcId="{D3C9CBBA-9651-4BAF-AC84-781D8F3DE7E4}" destId="{0253FE54-C770-4370-9985-5781D1007A22}" srcOrd="0" destOrd="0" presId="urn:microsoft.com/office/officeart/2018/2/layout/IconCircleList"/>
    <dgm:cxn modelId="{CD1D9D09-F35C-492F-A3FA-1B9723E17D25}" type="presParOf" srcId="{6FAEA555-2AA8-4DA4-8659-4DC313AE4F38}" destId="{9D24EB81-862A-413B-9B62-24C506247745}" srcOrd="0" destOrd="0" presId="urn:microsoft.com/office/officeart/2018/2/layout/IconCircleList"/>
    <dgm:cxn modelId="{0454039F-853B-4490-B044-81F9130642A4}" type="presParOf" srcId="{9D24EB81-862A-413B-9B62-24C506247745}" destId="{7A9959DF-B9FF-4D4E-85A6-0C483B1CC687}" srcOrd="0" destOrd="0" presId="urn:microsoft.com/office/officeart/2018/2/layout/IconCircleList"/>
    <dgm:cxn modelId="{17784205-1761-4918-835A-F6743811006A}" type="presParOf" srcId="{7A9959DF-B9FF-4D4E-85A6-0C483B1CC687}" destId="{BF540A27-D0B8-49F1-A085-5BA41FB30F11}" srcOrd="0" destOrd="0" presId="urn:microsoft.com/office/officeart/2018/2/layout/IconCircleList"/>
    <dgm:cxn modelId="{134A753B-04AB-48AC-9394-198838A7104A}" type="presParOf" srcId="{7A9959DF-B9FF-4D4E-85A6-0C483B1CC687}" destId="{D89EF925-9A1C-47C9-AAEB-10274051EF3F}" srcOrd="1" destOrd="0" presId="urn:microsoft.com/office/officeart/2018/2/layout/IconCircleList"/>
    <dgm:cxn modelId="{F4688C64-D66D-41E6-BBBD-70898BEC1030}" type="presParOf" srcId="{7A9959DF-B9FF-4D4E-85A6-0C483B1CC687}" destId="{76E2124F-9C86-4588-B136-EB3392D6B128}" srcOrd="2" destOrd="0" presId="urn:microsoft.com/office/officeart/2018/2/layout/IconCircleList"/>
    <dgm:cxn modelId="{627DA500-E758-4332-8FB1-30565181B779}" type="presParOf" srcId="{7A9959DF-B9FF-4D4E-85A6-0C483B1CC687}" destId="{635220CD-A61E-4D1B-8BF6-5BAF16B9D456}" srcOrd="3" destOrd="0" presId="urn:microsoft.com/office/officeart/2018/2/layout/IconCircleList"/>
    <dgm:cxn modelId="{D1793C50-010B-4B0D-921F-2A477F7880B9}" type="presParOf" srcId="{9D24EB81-862A-413B-9B62-24C506247745}" destId="{9F6790E5-0F9F-4C9B-AC76-960D77A4306D}" srcOrd="1" destOrd="0" presId="urn:microsoft.com/office/officeart/2018/2/layout/IconCircleList"/>
    <dgm:cxn modelId="{15D5EAD9-D4AA-43F1-973F-721BE63EF326}" type="presParOf" srcId="{9D24EB81-862A-413B-9B62-24C506247745}" destId="{B3C7B7BE-6EF8-4DA0-B871-430C77915306}" srcOrd="2" destOrd="0" presId="urn:microsoft.com/office/officeart/2018/2/layout/IconCircleList"/>
    <dgm:cxn modelId="{F00354A8-9EAB-449B-8090-674D676D700C}" type="presParOf" srcId="{B3C7B7BE-6EF8-4DA0-B871-430C77915306}" destId="{2CA27DA3-CA8E-4230-88CF-3D6D60823E86}" srcOrd="0" destOrd="0" presId="urn:microsoft.com/office/officeart/2018/2/layout/IconCircleList"/>
    <dgm:cxn modelId="{27D29F8C-87B2-4724-BDD7-74AC9E135F4D}" type="presParOf" srcId="{B3C7B7BE-6EF8-4DA0-B871-430C77915306}" destId="{E78B9925-25A1-4965-BD1A-A004DA089644}" srcOrd="1" destOrd="0" presId="urn:microsoft.com/office/officeart/2018/2/layout/IconCircleList"/>
    <dgm:cxn modelId="{B61B00AE-344C-4CEF-92DD-CC820EDCEACE}" type="presParOf" srcId="{B3C7B7BE-6EF8-4DA0-B871-430C77915306}" destId="{02B0F9C6-F2C0-44FE-A16C-21DBC3933C71}" srcOrd="2" destOrd="0" presId="urn:microsoft.com/office/officeart/2018/2/layout/IconCircleList"/>
    <dgm:cxn modelId="{3E83CCB2-416D-43A3-AF17-2F6454A9921D}" type="presParOf" srcId="{B3C7B7BE-6EF8-4DA0-B871-430C77915306}" destId="{D4E76B05-FCF0-469F-901C-2AF87CEE680B}" srcOrd="3" destOrd="0" presId="urn:microsoft.com/office/officeart/2018/2/layout/IconCircleList"/>
    <dgm:cxn modelId="{28D0EA30-8462-4F8D-9702-1B490C6854C0}" type="presParOf" srcId="{9D24EB81-862A-413B-9B62-24C506247745}" destId="{4556FB4F-31CE-457F-97EE-02949BBBD221}" srcOrd="3" destOrd="0" presId="urn:microsoft.com/office/officeart/2018/2/layout/IconCircleList"/>
    <dgm:cxn modelId="{7E377F80-5F4E-4527-9CAD-0D32B765C5DD}" type="presParOf" srcId="{9D24EB81-862A-413B-9B62-24C506247745}" destId="{71654F55-1A1C-45CC-A184-062CE05FA567}" srcOrd="4" destOrd="0" presId="urn:microsoft.com/office/officeart/2018/2/layout/IconCircleList"/>
    <dgm:cxn modelId="{C13BB72C-DDAA-4EEF-A65A-20B7AD29DCBB}" type="presParOf" srcId="{71654F55-1A1C-45CC-A184-062CE05FA567}" destId="{708875DE-8268-40E7-AE52-58EC03877C0B}" srcOrd="0" destOrd="0" presId="urn:microsoft.com/office/officeart/2018/2/layout/IconCircleList"/>
    <dgm:cxn modelId="{33475A33-8BCF-4C1D-B02E-963FF6EAD2D9}" type="presParOf" srcId="{71654F55-1A1C-45CC-A184-062CE05FA567}" destId="{4B6C7BD6-23CC-4359-BC2C-16BF83AB1311}" srcOrd="1" destOrd="0" presId="urn:microsoft.com/office/officeart/2018/2/layout/IconCircleList"/>
    <dgm:cxn modelId="{8A6BBB6D-64ED-4E27-8F7E-DA31235BF409}" type="presParOf" srcId="{71654F55-1A1C-45CC-A184-062CE05FA567}" destId="{65677ED7-5498-4E58-B907-1A0B8014B641}" srcOrd="2" destOrd="0" presId="urn:microsoft.com/office/officeart/2018/2/layout/IconCircleList"/>
    <dgm:cxn modelId="{D398E9E3-07AD-4F01-BBF8-A0FEEC21AD0D}" type="presParOf" srcId="{71654F55-1A1C-45CC-A184-062CE05FA567}" destId="{0253FE54-C770-4370-9985-5781D1007A22}" srcOrd="3" destOrd="0" presId="urn:microsoft.com/office/officeart/2018/2/layout/IconCircleList"/>
    <dgm:cxn modelId="{46CBD409-B69B-4F83-8788-6E908B9C8B08}" type="presParOf" srcId="{9D24EB81-862A-413B-9B62-24C506247745}" destId="{E7284E52-308A-4089-86E3-D59298A1DDF6}" srcOrd="5" destOrd="0" presId="urn:microsoft.com/office/officeart/2018/2/layout/IconCircleList"/>
    <dgm:cxn modelId="{2361E36E-A096-47A6-89E2-5A3A9D9AC5B0}" type="presParOf" srcId="{9D24EB81-862A-413B-9B62-24C506247745}" destId="{C229C36D-DDD0-4FAC-AF92-B624BEAD52E5}" srcOrd="6" destOrd="0" presId="urn:microsoft.com/office/officeart/2018/2/layout/IconCircleList"/>
    <dgm:cxn modelId="{FAC1902F-06D4-4E7E-B846-25F038D203EB}" type="presParOf" srcId="{C229C36D-DDD0-4FAC-AF92-B624BEAD52E5}" destId="{22ACDACC-7E77-4622-B063-B5E44FB0A328}" srcOrd="0" destOrd="0" presId="urn:microsoft.com/office/officeart/2018/2/layout/IconCircleList"/>
    <dgm:cxn modelId="{39FE74C0-58F9-4D21-B710-583A320326FC}" type="presParOf" srcId="{C229C36D-DDD0-4FAC-AF92-B624BEAD52E5}" destId="{C5BAAA6E-DE09-41CD-BD8A-3EC150045736}" srcOrd="1" destOrd="0" presId="urn:microsoft.com/office/officeart/2018/2/layout/IconCircleList"/>
    <dgm:cxn modelId="{E4D6501F-E5C6-4968-A895-25FBEF1F95F0}" type="presParOf" srcId="{C229C36D-DDD0-4FAC-AF92-B624BEAD52E5}" destId="{C8AB92C5-3D87-4CBF-93D5-5C1824D1BC6F}" srcOrd="2" destOrd="0" presId="urn:microsoft.com/office/officeart/2018/2/layout/IconCircleList"/>
    <dgm:cxn modelId="{CD8F95A2-1F4F-4E64-A43A-8F50D3B2A8DE}" type="presParOf" srcId="{C229C36D-DDD0-4FAC-AF92-B624BEAD52E5}" destId="{3EC8B52F-65B8-4FB0-9FB7-FF481A1C0172}" srcOrd="3" destOrd="0" presId="urn:microsoft.com/office/officeart/2018/2/layout/IconCircleList"/>
    <dgm:cxn modelId="{2BC661C2-90DA-487B-8209-E3FBFADD2DB3}" type="presParOf" srcId="{9D24EB81-862A-413B-9B62-24C506247745}" destId="{175F0AA6-9A30-4385-A9E8-997AAE888FDB}" srcOrd="7" destOrd="0" presId="urn:microsoft.com/office/officeart/2018/2/layout/IconCircleList"/>
    <dgm:cxn modelId="{66475C2E-5D74-4115-998E-7CE9C9505D3B}" type="presParOf" srcId="{9D24EB81-862A-413B-9B62-24C506247745}" destId="{05645FB4-8109-474A-8EA8-1C35A9D9AF66}" srcOrd="8" destOrd="0" presId="urn:microsoft.com/office/officeart/2018/2/layout/IconCircleList"/>
    <dgm:cxn modelId="{A85E4655-F3C9-4A28-A520-A865A71DF489}" type="presParOf" srcId="{05645FB4-8109-474A-8EA8-1C35A9D9AF66}" destId="{EF190301-06CA-4997-887D-2D2E9CC92FC5}" srcOrd="0" destOrd="0" presId="urn:microsoft.com/office/officeart/2018/2/layout/IconCircleList"/>
    <dgm:cxn modelId="{440D3C00-D2DE-43FC-BFA3-813EDF45E80D}" type="presParOf" srcId="{05645FB4-8109-474A-8EA8-1C35A9D9AF66}" destId="{5EE7F0B5-83C0-4052-9E42-0B26E26D619E}" srcOrd="1" destOrd="0" presId="urn:microsoft.com/office/officeart/2018/2/layout/IconCircleList"/>
    <dgm:cxn modelId="{614ABC91-0EE0-45CF-AC2E-630F5F236FA4}" type="presParOf" srcId="{05645FB4-8109-474A-8EA8-1C35A9D9AF66}" destId="{B0503C6B-BDA4-4601-B181-10C627B9DBF1}" srcOrd="2" destOrd="0" presId="urn:microsoft.com/office/officeart/2018/2/layout/IconCircleList"/>
    <dgm:cxn modelId="{E73BFCAF-807B-4AF0-B356-662C353FE425}" type="presParOf" srcId="{05645FB4-8109-474A-8EA8-1C35A9D9AF66}" destId="{DAF80923-BF4F-4C1F-BEFC-03700E351E2B}" srcOrd="3" destOrd="0" presId="urn:microsoft.com/office/officeart/2018/2/layout/IconCircle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E6095B8-D821-4D7A-BC2D-6A246ECCE775}" type="doc">
      <dgm:prSet loTypeId="urn:microsoft.com/office/officeart/2016/7/layout/RepeatingBendingProcessNew" loCatId="process" qsTypeId="urn:microsoft.com/office/officeart/2005/8/quickstyle/simple2" qsCatId="simple" csTypeId="urn:microsoft.com/office/officeart/2005/8/colors/accent1_3" csCatId="accent1" phldr="1"/>
      <dgm:spPr/>
      <dgm:t>
        <a:bodyPr/>
        <a:lstStyle/>
        <a:p>
          <a:endParaRPr lang="en-US"/>
        </a:p>
      </dgm:t>
    </dgm:pt>
    <dgm:pt modelId="{632143AB-FB36-4A96-80EB-98B972AC1ACA}">
      <dgm:prSet/>
      <dgm:spPr>
        <a:solidFill>
          <a:schemeClr val="tx1">
            <a:lumMod val="95000"/>
            <a:lumOff val="5000"/>
          </a:schemeClr>
        </a:solidFill>
      </dgm:spPr>
      <dgm:t>
        <a:bodyPr/>
        <a:lstStyle/>
        <a:p>
          <a:r>
            <a:rPr lang="en-US"/>
            <a:t>Input: </a:t>
          </a:r>
          <a:r>
            <a:rPr lang="en-US" i="1"/>
            <a:t>ExternalName</a:t>
          </a:r>
          <a:r>
            <a:rPr lang="en-US"/>
            <a:t> converted into numeric TF-IDF features and removed rare BD external names</a:t>
          </a:r>
        </a:p>
      </dgm:t>
    </dgm:pt>
    <dgm:pt modelId="{719B3303-D1F3-4515-B6AF-2A600AB8A10E}" type="parTrans" cxnId="{15A53D31-7DF3-41D7-82BB-C36FEF4E1245}">
      <dgm:prSet/>
      <dgm:spPr/>
      <dgm:t>
        <a:bodyPr/>
        <a:lstStyle/>
        <a:p>
          <a:endParaRPr lang="en-US"/>
        </a:p>
      </dgm:t>
    </dgm:pt>
    <dgm:pt modelId="{8497D8E9-D0D4-42B4-8DB2-23D1DF9F07D0}" type="sibTrans" cxnId="{15A53D31-7DF3-41D7-82BB-C36FEF4E1245}">
      <dgm:prSet/>
      <dgm:spPr>
        <a:ln w="28575">
          <a:solidFill>
            <a:srgbClr val="FF0000"/>
          </a:solidFill>
        </a:ln>
      </dgm:spPr>
      <dgm:t>
        <a:bodyPr/>
        <a:lstStyle/>
        <a:p>
          <a:endParaRPr lang="en-US"/>
        </a:p>
      </dgm:t>
    </dgm:pt>
    <dgm:pt modelId="{E90DA815-09C3-4E38-8D17-CED28F8C0E99}">
      <dgm:prSet/>
      <dgm:spPr>
        <a:solidFill>
          <a:schemeClr val="tx1">
            <a:lumMod val="85000"/>
            <a:lumOff val="15000"/>
          </a:schemeClr>
        </a:solidFill>
      </dgm:spPr>
      <dgm:t>
        <a:bodyPr/>
        <a:lstStyle/>
        <a:p>
          <a:r>
            <a:rPr lang="en-US"/>
            <a:t>Data Split: 70% training and 30% testing)</a:t>
          </a:r>
        </a:p>
      </dgm:t>
    </dgm:pt>
    <dgm:pt modelId="{EDF776C7-87CD-47FD-8A15-0EAC5EFB8407}" type="parTrans" cxnId="{4DEE1093-6F36-45AD-A94F-5A5C726F2407}">
      <dgm:prSet/>
      <dgm:spPr/>
      <dgm:t>
        <a:bodyPr/>
        <a:lstStyle/>
        <a:p>
          <a:endParaRPr lang="en-US"/>
        </a:p>
      </dgm:t>
    </dgm:pt>
    <dgm:pt modelId="{42B45E28-DD83-43C1-BE09-C3C429DB9AFC}" type="sibTrans" cxnId="{4DEE1093-6F36-45AD-A94F-5A5C726F2407}">
      <dgm:prSet/>
      <dgm:spPr>
        <a:ln w="28575">
          <a:solidFill>
            <a:srgbClr val="FF0000"/>
          </a:solidFill>
        </a:ln>
      </dgm:spPr>
      <dgm:t>
        <a:bodyPr/>
        <a:lstStyle/>
        <a:p>
          <a:endParaRPr lang="en-US"/>
        </a:p>
      </dgm:t>
    </dgm:pt>
    <dgm:pt modelId="{3CE625AC-0C0B-467D-9507-A28211B772B5}">
      <dgm:prSet/>
      <dgm:spPr>
        <a:solidFill>
          <a:schemeClr val="bg2">
            <a:lumMod val="25000"/>
          </a:schemeClr>
        </a:solidFill>
      </dgm:spPr>
      <dgm:t>
        <a:bodyPr/>
        <a:lstStyle/>
        <a:p>
          <a:r>
            <a:rPr lang="en-US"/>
            <a:t>Algorithm Used: </a:t>
          </a:r>
          <a:r>
            <a:rPr lang="en-US" err="1"/>
            <a:t>XGBoost</a:t>
          </a:r>
          <a:r>
            <a:rPr lang="en-US"/>
            <a:t> (Name-Only Classification)</a:t>
          </a:r>
        </a:p>
      </dgm:t>
    </dgm:pt>
    <dgm:pt modelId="{EDF9985A-618B-41AF-8995-32DBF4CC8AA1}" type="parTrans" cxnId="{1CC85524-945C-4565-83E3-CC20E906E096}">
      <dgm:prSet/>
      <dgm:spPr/>
      <dgm:t>
        <a:bodyPr/>
        <a:lstStyle/>
        <a:p>
          <a:endParaRPr lang="en-US"/>
        </a:p>
      </dgm:t>
    </dgm:pt>
    <dgm:pt modelId="{A5E676D8-2FE5-4D74-9207-3DD7A92DDA65}" type="sibTrans" cxnId="{1CC85524-945C-4565-83E3-CC20E906E096}">
      <dgm:prSet/>
      <dgm:spPr>
        <a:ln w="28575">
          <a:solidFill>
            <a:srgbClr val="FF0000"/>
          </a:solidFill>
        </a:ln>
      </dgm:spPr>
      <dgm:t>
        <a:bodyPr/>
        <a:lstStyle/>
        <a:p>
          <a:endParaRPr lang="en-US"/>
        </a:p>
      </dgm:t>
    </dgm:pt>
    <dgm:pt modelId="{87757606-4FBF-4EF6-BA29-88D850D8D008}">
      <dgm:prSet/>
      <dgm:spPr>
        <a:solidFill>
          <a:schemeClr val="tx1">
            <a:lumMod val="75000"/>
            <a:lumOff val="25000"/>
          </a:schemeClr>
        </a:solidFill>
      </dgm:spPr>
      <dgm:t>
        <a:bodyPr/>
        <a:lstStyle/>
        <a:p>
          <a:r>
            <a:rPr lang="en-US"/>
            <a:t>Created both word-level (1–2 grams) and character-level (3–5 grams) features</a:t>
          </a:r>
        </a:p>
      </dgm:t>
    </dgm:pt>
    <dgm:pt modelId="{11D96EEE-558B-4DC2-97C5-8FE5872FCC3A}" type="parTrans" cxnId="{F4EBBDDE-2A07-4C2C-9008-3358CE0F4059}">
      <dgm:prSet/>
      <dgm:spPr/>
      <dgm:t>
        <a:bodyPr/>
        <a:lstStyle/>
        <a:p>
          <a:endParaRPr lang="en-US"/>
        </a:p>
      </dgm:t>
    </dgm:pt>
    <dgm:pt modelId="{3247734C-32D8-46D8-A692-D7F6BC98CB33}" type="sibTrans" cxnId="{F4EBBDDE-2A07-4C2C-9008-3358CE0F4059}">
      <dgm:prSet/>
      <dgm:spPr>
        <a:ln w="28575">
          <a:solidFill>
            <a:srgbClr val="FF0000"/>
          </a:solidFill>
        </a:ln>
      </dgm:spPr>
      <dgm:t>
        <a:bodyPr/>
        <a:lstStyle/>
        <a:p>
          <a:endParaRPr lang="en-US"/>
        </a:p>
      </dgm:t>
    </dgm:pt>
    <dgm:pt modelId="{BDED0B61-6188-4C7A-BACD-8ADE39BCC2DF}">
      <dgm:prSet/>
      <dgm:spPr>
        <a:solidFill>
          <a:schemeClr val="tx1">
            <a:lumMod val="65000"/>
            <a:lumOff val="35000"/>
          </a:schemeClr>
        </a:solidFill>
      </dgm:spPr>
      <dgm:t>
        <a:bodyPr/>
        <a:lstStyle/>
        <a:p>
          <a:r>
            <a:rPr lang="en-US"/>
            <a:t>Applied TF-IDF to highlight important and meaningful terms</a:t>
          </a:r>
        </a:p>
      </dgm:t>
    </dgm:pt>
    <dgm:pt modelId="{A1F0D083-B37E-4E34-8996-6354AD15640D}" type="parTrans" cxnId="{17B6CD5F-8663-40B7-8565-3672E3456706}">
      <dgm:prSet/>
      <dgm:spPr/>
      <dgm:t>
        <a:bodyPr/>
        <a:lstStyle/>
        <a:p>
          <a:endParaRPr lang="en-US"/>
        </a:p>
      </dgm:t>
    </dgm:pt>
    <dgm:pt modelId="{E2804A53-C033-4857-9B39-B92E3BD88DEF}" type="sibTrans" cxnId="{17B6CD5F-8663-40B7-8565-3672E3456706}">
      <dgm:prSet/>
      <dgm:spPr>
        <a:ln w="28575">
          <a:solidFill>
            <a:srgbClr val="FF0000"/>
          </a:solidFill>
        </a:ln>
      </dgm:spPr>
      <dgm:t>
        <a:bodyPr/>
        <a:lstStyle/>
        <a:p>
          <a:endParaRPr lang="en-US"/>
        </a:p>
      </dgm:t>
    </dgm:pt>
    <dgm:pt modelId="{2A372D71-091B-4ACE-8723-029863EDA972}">
      <dgm:prSet/>
      <dgm:spPr>
        <a:solidFill>
          <a:srgbClr val="777777"/>
        </a:solidFill>
      </dgm:spPr>
      <dgm:t>
        <a:bodyPr/>
        <a:lstStyle/>
        <a:p>
          <a:r>
            <a:rPr lang="en-US"/>
            <a:t>Output: </a:t>
          </a:r>
          <a:r>
            <a:rPr lang="en-US" i="1"/>
            <a:t>DetailHoldingTypeId</a:t>
          </a:r>
          <a:r>
            <a:rPr lang="en-US"/>
            <a:t> (101 unique classes)</a:t>
          </a:r>
        </a:p>
      </dgm:t>
    </dgm:pt>
    <dgm:pt modelId="{B1051932-6C02-4AD7-A9B4-43887B550D77}" type="parTrans" cxnId="{9BE51EBF-FFDB-4AF0-ABA9-9DB160592369}">
      <dgm:prSet/>
      <dgm:spPr/>
      <dgm:t>
        <a:bodyPr/>
        <a:lstStyle/>
        <a:p>
          <a:endParaRPr lang="en-US"/>
        </a:p>
      </dgm:t>
    </dgm:pt>
    <dgm:pt modelId="{6CFCDACD-CF74-4CFF-9518-78A3467C96A5}" type="sibTrans" cxnId="{9BE51EBF-FFDB-4AF0-ABA9-9DB160592369}">
      <dgm:prSet/>
      <dgm:spPr/>
      <dgm:t>
        <a:bodyPr/>
        <a:lstStyle/>
        <a:p>
          <a:endParaRPr lang="en-US"/>
        </a:p>
      </dgm:t>
    </dgm:pt>
    <dgm:pt modelId="{121E994E-5765-4287-BE4D-5EAB61579E50}" type="pres">
      <dgm:prSet presAssocID="{8E6095B8-D821-4D7A-BC2D-6A246ECCE775}" presName="Name0" presStyleCnt="0">
        <dgm:presLayoutVars>
          <dgm:dir/>
          <dgm:resizeHandles val="exact"/>
        </dgm:presLayoutVars>
      </dgm:prSet>
      <dgm:spPr/>
    </dgm:pt>
    <dgm:pt modelId="{DF185DBF-7ABC-4B48-8081-2A9A23BF6628}" type="pres">
      <dgm:prSet presAssocID="{632143AB-FB36-4A96-80EB-98B972AC1ACA}" presName="node" presStyleLbl="node1" presStyleIdx="0" presStyleCnt="6">
        <dgm:presLayoutVars>
          <dgm:bulletEnabled val="1"/>
        </dgm:presLayoutVars>
      </dgm:prSet>
      <dgm:spPr/>
    </dgm:pt>
    <dgm:pt modelId="{F45BFD64-8234-4864-A386-E40982F3B04C}" type="pres">
      <dgm:prSet presAssocID="{8497D8E9-D0D4-42B4-8DB2-23D1DF9F07D0}" presName="sibTrans" presStyleLbl="sibTrans1D1" presStyleIdx="0" presStyleCnt="5"/>
      <dgm:spPr/>
    </dgm:pt>
    <dgm:pt modelId="{874F339A-3BB9-4C67-99E4-5B52B284A239}" type="pres">
      <dgm:prSet presAssocID="{8497D8E9-D0D4-42B4-8DB2-23D1DF9F07D0}" presName="connectorText" presStyleLbl="sibTrans1D1" presStyleIdx="0" presStyleCnt="5"/>
      <dgm:spPr/>
    </dgm:pt>
    <dgm:pt modelId="{087E1610-D5DA-4693-9A1B-7A30586BF4D3}" type="pres">
      <dgm:prSet presAssocID="{E90DA815-09C3-4E38-8D17-CED28F8C0E99}" presName="node" presStyleLbl="node1" presStyleIdx="1" presStyleCnt="6">
        <dgm:presLayoutVars>
          <dgm:bulletEnabled val="1"/>
        </dgm:presLayoutVars>
      </dgm:prSet>
      <dgm:spPr/>
    </dgm:pt>
    <dgm:pt modelId="{85EE5E1F-ABF1-4503-9079-F1DD2CDDA52F}" type="pres">
      <dgm:prSet presAssocID="{42B45E28-DD83-43C1-BE09-C3C429DB9AFC}" presName="sibTrans" presStyleLbl="sibTrans1D1" presStyleIdx="1" presStyleCnt="5"/>
      <dgm:spPr/>
    </dgm:pt>
    <dgm:pt modelId="{B677EA26-1C4D-4498-B05F-1D5FEDCB2752}" type="pres">
      <dgm:prSet presAssocID="{42B45E28-DD83-43C1-BE09-C3C429DB9AFC}" presName="connectorText" presStyleLbl="sibTrans1D1" presStyleIdx="1" presStyleCnt="5"/>
      <dgm:spPr/>
    </dgm:pt>
    <dgm:pt modelId="{53F53513-9C60-44BC-A3F8-96A23F50997F}" type="pres">
      <dgm:prSet presAssocID="{3CE625AC-0C0B-467D-9507-A28211B772B5}" presName="node" presStyleLbl="node1" presStyleIdx="2" presStyleCnt="6">
        <dgm:presLayoutVars>
          <dgm:bulletEnabled val="1"/>
        </dgm:presLayoutVars>
      </dgm:prSet>
      <dgm:spPr/>
    </dgm:pt>
    <dgm:pt modelId="{9B656119-F8AC-40C5-B78F-3B2B9E2926E8}" type="pres">
      <dgm:prSet presAssocID="{A5E676D8-2FE5-4D74-9207-3DD7A92DDA65}" presName="sibTrans" presStyleLbl="sibTrans1D1" presStyleIdx="2" presStyleCnt="5"/>
      <dgm:spPr/>
    </dgm:pt>
    <dgm:pt modelId="{F3FE26D8-4013-4C37-BC76-8B2AB9A0EA4B}" type="pres">
      <dgm:prSet presAssocID="{A5E676D8-2FE5-4D74-9207-3DD7A92DDA65}" presName="connectorText" presStyleLbl="sibTrans1D1" presStyleIdx="2" presStyleCnt="5"/>
      <dgm:spPr/>
    </dgm:pt>
    <dgm:pt modelId="{0E7D00BE-E444-482F-AB9B-9BBE37A9D9BF}" type="pres">
      <dgm:prSet presAssocID="{87757606-4FBF-4EF6-BA29-88D850D8D008}" presName="node" presStyleLbl="node1" presStyleIdx="3" presStyleCnt="6">
        <dgm:presLayoutVars>
          <dgm:bulletEnabled val="1"/>
        </dgm:presLayoutVars>
      </dgm:prSet>
      <dgm:spPr/>
    </dgm:pt>
    <dgm:pt modelId="{BA546090-49C2-49D6-AB33-31C5AA00819A}" type="pres">
      <dgm:prSet presAssocID="{3247734C-32D8-46D8-A692-D7F6BC98CB33}" presName="sibTrans" presStyleLbl="sibTrans1D1" presStyleIdx="3" presStyleCnt="5"/>
      <dgm:spPr/>
    </dgm:pt>
    <dgm:pt modelId="{7F1E50DA-CF59-40EB-88BC-454D7BE822B0}" type="pres">
      <dgm:prSet presAssocID="{3247734C-32D8-46D8-A692-D7F6BC98CB33}" presName="connectorText" presStyleLbl="sibTrans1D1" presStyleIdx="3" presStyleCnt="5"/>
      <dgm:spPr/>
    </dgm:pt>
    <dgm:pt modelId="{EC589498-7FC2-4AB5-A38F-A0A9A448B506}" type="pres">
      <dgm:prSet presAssocID="{BDED0B61-6188-4C7A-BACD-8ADE39BCC2DF}" presName="node" presStyleLbl="node1" presStyleIdx="4" presStyleCnt="6">
        <dgm:presLayoutVars>
          <dgm:bulletEnabled val="1"/>
        </dgm:presLayoutVars>
      </dgm:prSet>
      <dgm:spPr/>
    </dgm:pt>
    <dgm:pt modelId="{D7EDF552-D4DB-4FC9-BCDB-535E8DBAAE8E}" type="pres">
      <dgm:prSet presAssocID="{E2804A53-C033-4857-9B39-B92E3BD88DEF}" presName="sibTrans" presStyleLbl="sibTrans1D1" presStyleIdx="4" presStyleCnt="5"/>
      <dgm:spPr/>
    </dgm:pt>
    <dgm:pt modelId="{D2167F55-A527-4676-B8C8-7B837CF6C720}" type="pres">
      <dgm:prSet presAssocID="{E2804A53-C033-4857-9B39-B92E3BD88DEF}" presName="connectorText" presStyleLbl="sibTrans1D1" presStyleIdx="4" presStyleCnt="5"/>
      <dgm:spPr/>
    </dgm:pt>
    <dgm:pt modelId="{EFCD4AD4-08E2-4A1B-BB5C-58A6EAC9C72A}" type="pres">
      <dgm:prSet presAssocID="{2A372D71-091B-4ACE-8723-029863EDA972}" presName="node" presStyleLbl="node1" presStyleIdx="5" presStyleCnt="6">
        <dgm:presLayoutVars>
          <dgm:bulletEnabled val="1"/>
        </dgm:presLayoutVars>
      </dgm:prSet>
      <dgm:spPr/>
    </dgm:pt>
  </dgm:ptLst>
  <dgm:cxnLst>
    <dgm:cxn modelId="{6FF0B905-B9B4-4870-93B4-359D3B1AC5C4}" type="presOf" srcId="{3247734C-32D8-46D8-A692-D7F6BC98CB33}" destId="{7F1E50DA-CF59-40EB-88BC-454D7BE822B0}" srcOrd="1" destOrd="0" presId="urn:microsoft.com/office/officeart/2016/7/layout/RepeatingBendingProcessNew"/>
    <dgm:cxn modelId="{1CC85524-945C-4565-83E3-CC20E906E096}" srcId="{8E6095B8-D821-4D7A-BC2D-6A246ECCE775}" destId="{3CE625AC-0C0B-467D-9507-A28211B772B5}" srcOrd="2" destOrd="0" parTransId="{EDF9985A-618B-41AF-8995-32DBF4CC8AA1}" sibTransId="{A5E676D8-2FE5-4D74-9207-3DD7A92DDA65}"/>
    <dgm:cxn modelId="{C9997629-947E-4008-AB43-BAA8FB5AC883}" type="presOf" srcId="{E2804A53-C033-4857-9B39-B92E3BD88DEF}" destId="{D2167F55-A527-4676-B8C8-7B837CF6C720}" srcOrd="1" destOrd="0" presId="urn:microsoft.com/office/officeart/2016/7/layout/RepeatingBendingProcessNew"/>
    <dgm:cxn modelId="{15A53D31-7DF3-41D7-82BB-C36FEF4E1245}" srcId="{8E6095B8-D821-4D7A-BC2D-6A246ECCE775}" destId="{632143AB-FB36-4A96-80EB-98B972AC1ACA}" srcOrd="0" destOrd="0" parTransId="{719B3303-D1F3-4515-B6AF-2A600AB8A10E}" sibTransId="{8497D8E9-D0D4-42B4-8DB2-23D1DF9F07D0}"/>
    <dgm:cxn modelId="{370CE032-F88A-460F-83A9-91D47B6D4FAD}" type="presOf" srcId="{8E6095B8-D821-4D7A-BC2D-6A246ECCE775}" destId="{121E994E-5765-4287-BE4D-5EAB61579E50}" srcOrd="0" destOrd="0" presId="urn:microsoft.com/office/officeart/2016/7/layout/RepeatingBendingProcessNew"/>
    <dgm:cxn modelId="{7AC43139-6BFF-4955-BD43-5148794185CF}" type="presOf" srcId="{3CE625AC-0C0B-467D-9507-A28211B772B5}" destId="{53F53513-9C60-44BC-A3F8-96A23F50997F}" srcOrd="0" destOrd="0" presId="urn:microsoft.com/office/officeart/2016/7/layout/RepeatingBendingProcessNew"/>
    <dgm:cxn modelId="{8865563A-68B3-477F-A8D1-3FAA5DD4C2F4}" type="presOf" srcId="{2A372D71-091B-4ACE-8723-029863EDA972}" destId="{EFCD4AD4-08E2-4A1B-BB5C-58A6EAC9C72A}" srcOrd="0" destOrd="0" presId="urn:microsoft.com/office/officeart/2016/7/layout/RepeatingBendingProcessNew"/>
    <dgm:cxn modelId="{EEBE0F3F-E912-4859-B0CD-B579770B41EC}" type="presOf" srcId="{42B45E28-DD83-43C1-BE09-C3C429DB9AFC}" destId="{B677EA26-1C4D-4498-B05F-1D5FEDCB2752}" srcOrd="1" destOrd="0" presId="urn:microsoft.com/office/officeart/2016/7/layout/RepeatingBendingProcessNew"/>
    <dgm:cxn modelId="{0A30EF4C-517C-4F89-9F79-FE9867B93477}" type="presOf" srcId="{A5E676D8-2FE5-4D74-9207-3DD7A92DDA65}" destId="{9B656119-F8AC-40C5-B78F-3B2B9E2926E8}" srcOrd="0" destOrd="0" presId="urn:microsoft.com/office/officeart/2016/7/layout/RepeatingBendingProcessNew"/>
    <dgm:cxn modelId="{D1E4F952-83C8-4412-B076-401FEE1DB73F}" type="presOf" srcId="{632143AB-FB36-4A96-80EB-98B972AC1ACA}" destId="{DF185DBF-7ABC-4B48-8081-2A9A23BF6628}" srcOrd="0" destOrd="0" presId="urn:microsoft.com/office/officeart/2016/7/layout/RepeatingBendingProcessNew"/>
    <dgm:cxn modelId="{17B6CD5F-8663-40B7-8565-3672E3456706}" srcId="{8E6095B8-D821-4D7A-BC2D-6A246ECCE775}" destId="{BDED0B61-6188-4C7A-BACD-8ADE39BCC2DF}" srcOrd="4" destOrd="0" parTransId="{A1F0D083-B37E-4E34-8996-6354AD15640D}" sibTransId="{E2804A53-C033-4857-9B39-B92E3BD88DEF}"/>
    <dgm:cxn modelId="{9325166B-9BB2-42C3-8FC3-1DD9299622F1}" type="presOf" srcId="{87757606-4FBF-4EF6-BA29-88D850D8D008}" destId="{0E7D00BE-E444-482F-AB9B-9BBE37A9D9BF}" srcOrd="0" destOrd="0" presId="urn:microsoft.com/office/officeart/2016/7/layout/RepeatingBendingProcessNew"/>
    <dgm:cxn modelId="{2C3C0B8A-3691-4780-99F1-88E423BA4722}" type="presOf" srcId="{3247734C-32D8-46D8-A692-D7F6BC98CB33}" destId="{BA546090-49C2-49D6-AB33-31C5AA00819A}" srcOrd="0" destOrd="0" presId="urn:microsoft.com/office/officeart/2016/7/layout/RepeatingBendingProcessNew"/>
    <dgm:cxn modelId="{4DEE1093-6F36-45AD-A94F-5A5C726F2407}" srcId="{8E6095B8-D821-4D7A-BC2D-6A246ECCE775}" destId="{E90DA815-09C3-4E38-8D17-CED28F8C0E99}" srcOrd="1" destOrd="0" parTransId="{EDF776C7-87CD-47FD-8A15-0EAC5EFB8407}" sibTransId="{42B45E28-DD83-43C1-BE09-C3C429DB9AFC}"/>
    <dgm:cxn modelId="{BD4B56B3-21EB-486F-B863-DE4E5443D0D2}" type="presOf" srcId="{A5E676D8-2FE5-4D74-9207-3DD7A92DDA65}" destId="{F3FE26D8-4013-4C37-BC76-8B2AB9A0EA4B}" srcOrd="1" destOrd="0" presId="urn:microsoft.com/office/officeart/2016/7/layout/RepeatingBendingProcessNew"/>
    <dgm:cxn modelId="{9BE51EBF-FFDB-4AF0-ABA9-9DB160592369}" srcId="{8E6095B8-D821-4D7A-BC2D-6A246ECCE775}" destId="{2A372D71-091B-4ACE-8723-029863EDA972}" srcOrd="5" destOrd="0" parTransId="{B1051932-6C02-4AD7-A9B4-43887B550D77}" sibTransId="{6CFCDACD-CF74-4CFF-9518-78A3467C96A5}"/>
    <dgm:cxn modelId="{5BF2C1C6-1CF1-425E-A5F5-F5B356ADBFBC}" type="presOf" srcId="{BDED0B61-6188-4C7A-BACD-8ADE39BCC2DF}" destId="{EC589498-7FC2-4AB5-A38F-A0A9A448B506}" srcOrd="0" destOrd="0" presId="urn:microsoft.com/office/officeart/2016/7/layout/RepeatingBendingProcessNew"/>
    <dgm:cxn modelId="{8ED077C9-6372-4B22-9984-65C04F234691}" type="presOf" srcId="{42B45E28-DD83-43C1-BE09-C3C429DB9AFC}" destId="{85EE5E1F-ABF1-4503-9079-F1DD2CDDA52F}" srcOrd="0" destOrd="0" presId="urn:microsoft.com/office/officeart/2016/7/layout/RepeatingBendingProcessNew"/>
    <dgm:cxn modelId="{E23BFDCE-CDC1-49C1-B4A1-19F67C15A63B}" type="presOf" srcId="{E90DA815-09C3-4E38-8D17-CED28F8C0E99}" destId="{087E1610-D5DA-4693-9A1B-7A30586BF4D3}" srcOrd="0" destOrd="0" presId="urn:microsoft.com/office/officeart/2016/7/layout/RepeatingBendingProcessNew"/>
    <dgm:cxn modelId="{624848D7-9DBD-4F55-8679-9E7385CC0748}" type="presOf" srcId="{E2804A53-C033-4857-9B39-B92E3BD88DEF}" destId="{D7EDF552-D4DB-4FC9-BCDB-535E8DBAAE8E}" srcOrd="0" destOrd="0" presId="urn:microsoft.com/office/officeart/2016/7/layout/RepeatingBendingProcessNew"/>
    <dgm:cxn modelId="{5B3209DE-33A0-4445-A4DB-790A6D678A3B}" type="presOf" srcId="{8497D8E9-D0D4-42B4-8DB2-23D1DF9F07D0}" destId="{874F339A-3BB9-4C67-99E4-5B52B284A239}" srcOrd="1" destOrd="0" presId="urn:microsoft.com/office/officeart/2016/7/layout/RepeatingBendingProcessNew"/>
    <dgm:cxn modelId="{F4EBBDDE-2A07-4C2C-9008-3358CE0F4059}" srcId="{8E6095B8-D821-4D7A-BC2D-6A246ECCE775}" destId="{87757606-4FBF-4EF6-BA29-88D850D8D008}" srcOrd="3" destOrd="0" parTransId="{11D96EEE-558B-4DC2-97C5-8FE5872FCC3A}" sibTransId="{3247734C-32D8-46D8-A692-D7F6BC98CB33}"/>
    <dgm:cxn modelId="{4ACDEFDF-63F9-4391-A06B-28C7BD70189D}" type="presOf" srcId="{8497D8E9-D0D4-42B4-8DB2-23D1DF9F07D0}" destId="{F45BFD64-8234-4864-A386-E40982F3B04C}" srcOrd="0" destOrd="0" presId="urn:microsoft.com/office/officeart/2016/7/layout/RepeatingBendingProcessNew"/>
    <dgm:cxn modelId="{832D22C3-8DA5-4C38-859F-02EFA54AC67E}" type="presParOf" srcId="{121E994E-5765-4287-BE4D-5EAB61579E50}" destId="{DF185DBF-7ABC-4B48-8081-2A9A23BF6628}" srcOrd="0" destOrd="0" presId="urn:microsoft.com/office/officeart/2016/7/layout/RepeatingBendingProcessNew"/>
    <dgm:cxn modelId="{6AEC38D3-1994-46FD-AE5C-EDA72F360571}" type="presParOf" srcId="{121E994E-5765-4287-BE4D-5EAB61579E50}" destId="{F45BFD64-8234-4864-A386-E40982F3B04C}" srcOrd="1" destOrd="0" presId="urn:microsoft.com/office/officeart/2016/7/layout/RepeatingBendingProcessNew"/>
    <dgm:cxn modelId="{3507B3DE-7C6C-46BE-A9F4-CE9FC3E127B6}" type="presParOf" srcId="{F45BFD64-8234-4864-A386-E40982F3B04C}" destId="{874F339A-3BB9-4C67-99E4-5B52B284A239}" srcOrd="0" destOrd="0" presId="urn:microsoft.com/office/officeart/2016/7/layout/RepeatingBendingProcessNew"/>
    <dgm:cxn modelId="{24EF0E8A-292C-4DBD-8633-41A5549A2926}" type="presParOf" srcId="{121E994E-5765-4287-BE4D-5EAB61579E50}" destId="{087E1610-D5DA-4693-9A1B-7A30586BF4D3}" srcOrd="2" destOrd="0" presId="urn:microsoft.com/office/officeart/2016/7/layout/RepeatingBendingProcessNew"/>
    <dgm:cxn modelId="{BF9B87EE-869E-49C7-A7A7-1A3F0561F104}" type="presParOf" srcId="{121E994E-5765-4287-BE4D-5EAB61579E50}" destId="{85EE5E1F-ABF1-4503-9079-F1DD2CDDA52F}" srcOrd="3" destOrd="0" presId="urn:microsoft.com/office/officeart/2016/7/layout/RepeatingBendingProcessNew"/>
    <dgm:cxn modelId="{43660596-5277-40B1-B8BA-168E2FC78B7B}" type="presParOf" srcId="{85EE5E1F-ABF1-4503-9079-F1DD2CDDA52F}" destId="{B677EA26-1C4D-4498-B05F-1D5FEDCB2752}" srcOrd="0" destOrd="0" presId="urn:microsoft.com/office/officeart/2016/7/layout/RepeatingBendingProcessNew"/>
    <dgm:cxn modelId="{5F690EA0-2243-40F0-85CA-39393C748EE5}" type="presParOf" srcId="{121E994E-5765-4287-BE4D-5EAB61579E50}" destId="{53F53513-9C60-44BC-A3F8-96A23F50997F}" srcOrd="4" destOrd="0" presId="urn:microsoft.com/office/officeart/2016/7/layout/RepeatingBendingProcessNew"/>
    <dgm:cxn modelId="{BAC960CB-C766-4FBA-B16A-21FADA26426F}" type="presParOf" srcId="{121E994E-5765-4287-BE4D-5EAB61579E50}" destId="{9B656119-F8AC-40C5-B78F-3B2B9E2926E8}" srcOrd="5" destOrd="0" presId="urn:microsoft.com/office/officeart/2016/7/layout/RepeatingBendingProcessNew"/>
    <dgm:cxn modelId="{B257906E-BA6F-4366-975A-4669955640B6}" type="presParOf" srcId="{9B656119-F8AC-40C5-B78F-3B2B9E2926E8}" destId="{F3FE26D8-4013-4C37-BC76-8B2AB9A0EA4B}" srcOrd="0" destOrd="0" presId="urn:microsoft.com/office/officeart/2016/7/layout/RepeatingBendingProcessNew"/>
    <dgm:cxn modelId="{AC386A9A-2740-4FBB-88AE-59F50065F17F}" type="presParOf" srcId="{121E994E-5765-4287-BE4D-5EAB61579E50}" destId="{0E7D00BE-E444-482F-AB9B-9BBE37A9D9BF}" srcOrd="6" destOrd="0" presId="urn:microsoft.com/office/officeart/2016/7/layout/RepeatingBendingProcessNew"/>
    <dgm:cxn modelId="{3F739BCA-BBCE-42FE-9355-A64F4CF247F4}" type="presParOf" srcId="{121E994E-5765-4287-BE4D-5EAB61579E50}" destId="{BA546090-49C2-49D6-AB33-31C5AA00819A}" srcOrd="7" destOrd="0" presId="urn:microsoft.com/office/officeart/2016/7/layout/RepeatingBendingProcessNew"/>
    <dgm:cxn modelId="{4B767D9D-4447-48D4-8532-3F9E05BCBCBF}" type="presParOf" srcId="{BA546090-49C2-49D6-AB33-31C5AA00819A}" destId="{7F1E50DA-CF59-40EB-88BC-454D7BE822B0}" srcOrd="0" destOrd="0" presId="urn:microsoft.com/office/officeart/2016/7/layout/RepeatingBendingProcessNew"/>
    <dgm:cxn modelId="{D09B049A-29B9-4733-9F4A-A88CC0C4BCB9}" type="presParOf" srcId="{121E994E-5765-4287-BE4D-5EAB61579E50}" destId="{EC589498-7FC2-4AB5-A38F-A0A9A448B506}" srcOrd="8" destOrd="0" presId="urn:microsoft.com/office/officeart/2016/7/layout/RepeatingBendingProcessNew"/>
    <dgm:cxn modelId="{57E25211-C605-4B65-8CBD-92C7B9194FA0}" type="presParOf" srcId="{121E994E-5765-4287-BE4D-5EAB61579E50}" destId="{D7EDF552-D4DB-4FC9-BCDB-535E8DBAAE8E}" srcOrd="9" destOrd="0" presId="urn:microsoft.com/office/officeart/2016/7/layout/RepeatingBendingProcessNew"/>
    <dgm:cxn modelId="{B28FEEC0-5899-4AC2-8A83-1B0FA29DA4D3}" type="presParOf" srcId="{D7EDF552-D4DB-4FC9-BCDB-535E8DBAAE8E}" destId="{D2167F55-A527-4676-B8C8-7B837CF6C720}" srcOrd="0" destOrd="0" presId="urn:microsoft.com/office/officeart/2016/7/layout/RepeatingBendingProcessNew"/>
    <dgm:cxn modelId="{A1FABB73-F972-400B-B04C-906400911B37}" type="presParOf" srcId="{121E994E-5765-4287-BE4D-5EAB61579E50}" destId="{EFCD4AD4-08E2-4A1B-BB5C-58A6EAC9C72A}" srcOrd="10"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180F2E8F-434D-44F7-B174-EA34D13360C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11B6F44E-95D9-4E6B-A517-695FAA56907D}">
      <dgm:prSet custT="1"/>
      <dgm:spPr>
        <a:solidFill>
          <a:schemeClr val="bg1"/>
        </a:solidFill>
      </dgm:spPr>
      <dgm:t>
        <a:bodyPr/>
        <a:lstStyle/>
        <a:p>
          <a:pPr algn="l"/>
          <a:endParaRPr lang="en-US" sz="1800" u="none">
            <a:solidFill>
              <a:schemeClr val="tx1"/>
            </a:solidFill>
          </a:endParaRPr>
        </a:p>
        <a:p>
          <a:pPr algn="l"/>
          <a:r>
            <a:rPr lang="en-US" sz="1800" u="none">
              <a:solidFill>
                <a:schemeClr val="tx1"/>
              </a:solidFill>
            </a:rPr>
            <a:t>Converted labels to numeric (factor) format</a:t>
          </a:r>
        </a:p>
      </dgm:t>
    </dgm:pt>
    <dgm:pt modelId="{33EAC47B-2A68-4B60-9954-D7F698D91B63}" type="parTrans" cxnId="{4C899F4D-4E1B-444B-9738-89BC6C6B530A}">
      <dgm:prSet/>
      <dgm:spPr/>
      <dgm:t>
        <a:bodyPr/>
        <a:lstStyle/>
        <a:p>
          <a:endParaRPr lang="en-US" sz="1800"/>
        </a:p>
      </dgm:t>
    </dgm:pt>
    <dgm:pt modelId="{FCECF5F7-A0C7-43D8-9390-FE66522C8D09}" type="sibTrans" cxnId="{4C899F4D-4E1B-444B-9738-89BC6C6B530A}">
      <dgm:prSet/>
      <dgm:spPr/>
      <dgm:t>
        <a:bodyPr/>
        <a:lstStyle/>
        <a:p>
          <a:endParaRPr lang="en-US" sz="1800"/>
        </a:p>
      </dgm:t>
    </dgm:pt>
    <dgm:pt modelId="{B71F6A14-799B-4510-A0A2-51FCA103D70C}">
      <dgm:prSet custT="1"/>
      <dgm:spPr>
        <a:solidFill>
          <a:schemeClr val="bg1"/>
        </a:solidFill>
      </dgm:spPr>
      <dgm:t>
        <a:bodyPr/>
        <a:lstStyle/>
        <a:p>
          <a:r>
            <a:rPr lang="en-US" sz="1800">
              <a:solidFill>
                <a:schemeClr val="tx1"/>
              </a:solidFill>
            </a:rPr>
            <a:t>Built </a:t>
          </a:r>
          <a:r>
            <a:rPr lang="en-US" sz="1800" err="1">
              <a:solidFill>
                <a:schemeClr val="tx1"/>
              </a:solidFill>
            </a:rPr>
            <a:t>DMatrix</a:t>
          </a:r>
          <a:r>
            <a:rPr lang="en-US" sz="1800">
              <a:solidFill>
                <a:schemeClr val="tx1"/>
              </a:solidFill>
            </a:rPr>
            <a:t> for faster </a:t>
          </a:r>
          <a:r>
            <a:rPr lang="en-US" sz="1800" err="1">
              <a:solidFill>
                <a:schemeClr val="tx1"/>
              </a:solidFill>
            </a:rPr>
            <a:t>XGBoost</a:t>
          </a:r>
          <a:r>
            <a:rPr lang="en-US" sz="1800">
              <a:solidFill>
                <a:schemeClr val="tx1"/>
              </a:solidFill>
            </a:rPr>
            <a:t> processing</a:t>
          </a:r>
        </a:p>
      </dgm:t>
    </dgm:pt>
    <dgm:pt modelId="{42F3FD88-1AC2-4108-A1EB-8E01E4EB063A}" type="parTrans" cxnId="{8A8482AA-D3A8-4440-AD3F-033C4982D079}">
      <dgm:prSet/>
      <dgm:spPr/>
      <dgm:t>
        <a:bodyPr/>
        <a:lstStyle/>
        <a:p>
          <a:endParaRPr lang="en-US" sz="1800"/>
        </a:p>
      </dgm:t>
    </dgm:pt>
    <dgm:pt modelId="{3D0A528F-8047-4AC2-9CF9-AB3CDFD38D94}" type="sibTrans" cxnId="{8A8482AA-D3A8-4440-AD3F-033C4982D079}">
      <dgm:prSet/>
      <dgm:spPr/>
      <dgm:t>
        <a:bodyPr/>
        <a:lstStyle/>
        <a:p>
          <a:endParaRPr lang="en-US" sz="1800"/>
        </a:p>
      </dgm:t>
    </dgm:pt>
    <dgm:pt modelId="{4D88473A-80A8-4258-8949-2EE779908527}">
      <dgm:prSet custT="1"/>
      <dgm:spPr>
        <a:solidFill>
          <a:schemeClr val="bg1"/>
        </a:solidFill>
      </dgm:spPr>
      <dgm:t>
        <a:bodyPr/>
        <a:lstStyle/>
        <a:p>
          <a:r>
            <a:rPr lang="en-US" sz="1800">
              <a:solidFill>
                <a:schemeClr val="tx1"/>
              </a:solidFill>
            </a:rPr>
            <a:t>Objective: </a:t>
          </a:r>
          <a:r>
            <a:rPr lang="en-US" sz="1800" err="1">
              <a:solidFill>
                <a:schemeClr val="tx1"/>
              </a:solidFill>
            </a:rPr>
            <a:t>multi:softprob</a:t>
          </a:r>
          <a:r>
            <a:rPr lang="en-US" sz="1800">
              <a:solidFill>
                <a:schemeClr val="tx1"/>
              </a:solidFill>
            </a:rPr>
            <a:t> Metrics: </a:t>
          </a:r>
          <a:r>
            <a:rPr lang="en-US" sz="1800" err="1">
              <a:solidFill>
                <a:schemeClr val="tx1"/>
              </a:solidFill>
            </a:rPr>
            <a:t>mlogloss</a:t>
          </a:r>
          <a:r>
            <a:rPr lang="en-US" sz="1800">
              <a:solidFill>
                <a:schemeClr val="tx1"/>
              </a:solidFill>
            </a:rPr>
            <a:t>, </a:t>
          </a:r>
          <a:r>
            <a:rPr lang="en-US" sz="1800" err="1">
              <a:solidFill>
                <a:schemeClr val="tx1"/>
              </a:solidFill>
            </a:rPr>
            <a:t>merror</a:t>
          </a:r>
          <a:endParaRPr lang="en-US" sz="1800">
            <a:solidFill>
              <a:schemeClr val="tx1"/>
            </a:solidFill>
          </a:endParaRPr>
        </a:p>
      </dgm:t>
    </dgm:pt>
    <dgm:pt modelId="{F6DF89DB-7DA2-43A0-BB3E-6E4B0EAB8771}" type="parTrans" cxnId="{255796C5-3A01-4B95-9CC4-32411A21D631}">
      <dgm:prSet/>
      <dgm:spPr/>
      <dgm:t>
        <a:bodyPr/>
        <a:lstStyle/>
        <a:p>
          <a:endParaRPr lang="en-US" sz="1800"/>
        </a:p>
      </dgm:t>
    </dgm:pt>
    <dgm:pt modelId="{A7957FFF-B80F-4CF1-85C0-764DB46D6E3D}" type="sibTrans" cxnId="{255796C5-3A01-4B95-9CC4-32411A21D631}">
      <dgm:prSet/>
      <dgm:spPr/>
      <dgm:t>
        <a:bodyPr/>
        <a:lstStyle/>
        <a:p>
          <a:endParaRPr lang="en-US" sz="1800"/>
        </a:p>
      </dgm:t>
    </dgm:pt>
    <dgm:pt modelId="{B829F9D8-F5E5-42B0-8E30-C4EFDA0E5F1F}">
      <dgm:prSet custT="1"/>
      <dgm:spPr>
        <a:solidFill>
          <a:schemeClr val="bg1"/>
        </a:solidFill>
      </dgm:spPr>
      <dgm:t>
        <a:bodyPr/>
        <a:lstStyle/>
        <a:p>
          <a:endParaRPr lang="en-US" sz="1800">
            <a:solidFill>
              <a:schemeClr val="tx1"/>
            </a:solidFill>
          </a:endParaRPr>
        </a:p>
        <a:p>
          <a:r>
            <a:rPr lang="en-US" sz="1800">
              <a:solidFill>
                <a:schemeClr val="tx1"/>
              </a:solidFill>
            </a:rPr>
            <a:t>Trained until performance became stable and accurate</a:t>
          </a:r>
        </a:p>
      </dgm:t>
    </dgm:pt>
    <dgm:pt modelId="{83F4E270-1CE9-42AB-9BFF-0366126EE6AD}" type="parTrans" cxnId="{93DED479-FFEB-478F-A727-273D2A737C69}">
      <dgm:prSet/>
      <dgm:spPr/>
      <dgm:t>
        <a:bodyPr/>
        <a:lstStyle/>
        <a:p>
          <a:endParaRPr lang="en-US" sz="1800"/>
        </a:p>
      </dgm:t>
    </dgm:pt>
    <dgm:pt modelId="{D90A8031-1070-4000-B556-2C3E75123809}" type="sibTrans" cxnId="{93DED479-FFEB-478F-A727-273D2A737C69}">
      <dgm:prSet/>
      <dgm:spPr/>
      <dgm:t>
        <a:bodyPr/>
        <a:lstStyle/>
        <a:p>
          <a:endParaRPr lang="en-US" sz="1800"/>
        </a:p>
      </dgm:t>
    </dgm:pt>
    <dgm:pt modelId="{91D02655-185E-4723-9146-3293FA88C858}">
      <dgm:prSet custT="1"/>
      <dgm:spPr>
        <a:solidFill>
          <a:schemeClr val="bg1"/>
        </a:solidFill>
      </dgm:spPr>
      <dgm:t>
        <a:bodyPr/>
        <a:lstStyle/>
        <a:p>
          <a:endParaRPr lang="en-US" sz="1800">
            <a:solidFill>
              <a:schemeClr val="tx1"/>
            </a:solidFill>
          </a:endParaRPr>
        </a:p>
        <a:p>
          <a:r>
            <a:rPr lang="en-US" sz="1800">
              <a:solidFill>
                <a:schemeClr val="tx1"/>
              </a:solidFill>
            </a:rPr>
            <a:t>Used train + validation watchlist to monitor learning</a:t>
          </a:r>
        </a:p>
      </dgm:t>
    </dgm:pt>
    <dgm:pt modelId="{17BA5666-25C8-4E8E-ADF9-1D8E463AF7C2}" type="parTrans" cxnId="{3AFF4AC0-7B41-4190-8E02-13A36D873BBA}">
      <dgm:prSet/>
      <dgm:spPr/>
      <dgm:t>
        <a:bodyPr/>
        <a:lstStyle/>
        <a:p>
          <a:endParaRPr lang="en-US" sz="1800"/>
        </a:p>
      </dgm:t>
    </dgm:pt>
    <dgm:pt modelId="{EA8E2CE5-382F-4402-A623-AEB93846D275}" type="sibTrans" cxnId="{3AFF4AC0-7B41-4190-8E02-13A36D873BBA}">
      <dgm:prSet/>
      <dgm:spPr/>
      <dgm:t>
        <a:bodyPr/>
        <a:lstStyle/>
        <a:p>
          <a:endParaRPr lang="en-US" sz="1800"/>
        </a:p>
      </dgm:t>
    </dgm:pt>
    <dgm:pt modelId="{39A6EA92-CD92-4B2C-856B-6EA069F715E4}" type="pres">
      <dgm:prSet presAssocID="{180F2E8F-434D-44F7-B174-EA34D13360C8}" presName="linear" presStyleCnt="0">
        <dgm:presLayoutVars>
          <dgm:animLvl val="lvl"/>
          <dgm:resizeHandles val="exact"/>
        </dgm:presLayoutVars>
      </dgm:prSet>
      <dgm:spPr/>
    </dgm:pt>
    <dgm:pt modelId="{91BE47A7-1984-4967-ACBB-59D031D99EDE}" type="pres">
      <dgm:prSet presAssocID="{11B6F44E-95D9-4E6B-A517-695FAA56907D}" presName="parentText" presStyleLbl="node1" presStyleIdx="0" presStyleCnt="5" custLinFactNeighborY="4661">
        <dgm:presLayoutVars>
          <dgm:chMax val="0"/>
          <dgm:bulletEnabled val="1"/>
        </dgm:presLayoutVars>
      </dgm:prSet>
      <dgm:spPr/>
    </dgm:pt>
    <dgm:pt modelId="{E7F56C47-8EFF-4080-AC31-82EA7FA2C75D}" type="pres">
      <dgm:prSet presAssocID="{FCECF5F7-A0C7-43D8-9390-FE66522C8D09}" presName="spacer" presStyleCnt="0"/>
      <dgm:spPr/>
    </dgm:pt>
    <dgm:pt modelId="{2367971E-4942-4D82-BEF8-1B4E0E065E85}" type="pres">
      <dgm:prSet presAssocID="{B71F6A14-799B-4510-A0A2-51FCA103D70C}" presName="parentText" presStyleLbl="node1" presStyleIdx="1" presStyleCnt="5">
        <dgm:presLayoutVars>
          <dgm:chMax val="0"/>
          <dgm:bulletEnabled val="1"/>
        </dgm:presLayoutVars>
      </dgm:prSet>
      <dgm:spPr/>
    </dgm:pt>
    <dgm:pt modelId="{A6B75C33-1D1D-4D17-BB96-5D0C2E2F44C6}" type="pres">
      <dgm:prSet presAssocID="{3D0A528F-8047-4AC2-9CF9-AB3CDFD38D94}" presName="spacer" presStyleCnt="0"/>
      <dgm:spPr/>
    </dgm:pt>
    <dgm:pt modelId="{C0CE93A0-2D2C-4EE2-9CE5-963ABE5F5338}" type="pres">
      <dgm:prSet presAssocID="{4D88473A-80A8-4258-8949-2EE779908527}" presName="parentText" presStyleLbl="node1" presStyleIdx="2" presStyleCnt="5">
        <dgm:presLayoutVars>
          <dgm:chMax val="0"/>
          <dgm:bulletEnabled val="1"/>
        </dgm:presLayoutVars>
      </dgm:prSet>
      <dgm:spPr/>
    </dgm:pt>
    <dgm:pt modelId="{EBF7FE17-54F4-4C3C-B5E1-3105143C0EBB}" type="pres">
      <dgm:prSet presAssocID="{A7957FFF-B80F-4CF1-85C0-764DB46D6E3D}" presName="spacer" presStyleCnt="0"/>
      <dgm:spPr/>
    </dgm:pt>
    <dgm:pt modelId="{0DAA83C9-8A7B-41DF-8BC7-C98E8199D0A8}" type="pres">
      <dgm:prSet presAssocID="{91D02655-185E-4723-9146-3293FA88C858}" presName="parentText" presStyleLbl="node1" presStyleIdx="3" presStyleCnt="5">
        <dgm:presLayoutVars>
          <dgm:chMax val="0"/>
          <dgm:bulletEnabled val="1"/>
        </dgm:presLayoutVars>
      </dgm:prSet>
      <dgm:spPr/>
    </dgm:pt>
    <dgm:pt modelId="{7811EF3B-6587-4376-A3F6-DF878F9D42AE}" type="pres">
      <dgm:prSet presAssocID="{EA8E2CE5-382F-4402-A623-AEB93846D275}" presName="spacer" presStyleCnt="0"/>
      <dgm:spPr/>
    </dgm:pt>
    <dgm:pt modelId="{D9267F9F-AFB7-415B-80C4-6973495FA6D7}" type="pres">
      <dgm:prSet presAssocID="{B829F9D8-F5E5-42B0-8E30-C4EFDA0E5F1F}" presName="parentText" presStyleLbl="node1" presStyleIdx="4" presStyleCnt="5">
        <dgm:presLayoutVars>
          <dgm:chMax val="0"/>
          <dgm:bulletEnabled val="1"/>
        </dgm:presLayoutVars>
      </dgm:prSet>
      <dgm:spPr/>
    </dgm:pt>
  </dgm:ptLst>
  <dgm:cxnLst>
    <dgm:cxn modelId="{720BA000-11F4-4B8E-8D34-134FE73DC080}" type="presOf" srcId="{11B6F44E-95D9-4E6B-A517-695FAA56907D}" destId="{91BE47A7-1984-4967-ACBB-59D031D99EDE}" srcOrd="0" destOrd="0" presId="urn:microsoft.com/office/officeart/2005/8/layout/vList2"/>
    <dgm:cxn modelId="{4D491730-792D-42E9-8CE3-C28D1A7D8DB9}" type="presOf" srcId="{180F2E8F-434D-44F7-B174-EA34D13360C8}" destId="{39A6EA92-CD92-4B2C-856B-6EA069F715E4}" srcOrd="0" destOrd="0" presId="urn:microsoft.com/office/officeart/2005/8/layout/vList2"/>
    <dgm:cxn modelId="{27130934-0708-4D86-811A-DE48055335EA}" type="presOf" srcId="{4D88473A-80A8-4258-8949-2EE779908527}" destId="{C0CE93A0-2D2C-4EE2-9CE5-963ABE5F5338}" srcOrd="0" destOrd="0" presId="urn:microsoft.com/office/officeart/2005/8/layout/vList2"/>
    <dgm:cxn modelId="{4C899F4D-4E1B-444B-9738-89BC6C6B530A}" srcId="{180F2E8F-434D-44F7-B174-EA34D13360C8}" destId="{11B6F44E-95D9-4E6B-A517-695FAA56907D}" srcOrd="0" destOrd="0" parTransId="{33EAC47B-2A68-4B60-9954-D7F698D91B63}" sibTransId="{FCECF5F7-A0C7-43D8-9390-FE66522C8D09}"/>
    <dgm:cxn modelId="{93DED479-FFEB-478F-A727-273D2A737C69}" srcId="{180F2E8F-434D-44F7-B174-EA34D13360C8}" destId="{B829F9D8-F5E5-42B0-8E30-C4EFDA0E5F1F}" srcOrd="4" destOrd="0" parTransId="{83F4E270-1CE9-42AB-9BFF-0366126EE6AD}" sibTransId="{D90A8031-1070-4000-B556-2C3E75123809}"/>
    <dgm:cxn modelId="{9B26087D-5842-44A8-9C92-6BA2E400425F}" type="presOf" srcId="{91D02655-185E-4723-9146-3293FA88C858}" destId="{0DAA83C9-8A7B-41DF-8BC7-C98E8199D0A8}" srcOrd="0" destOrd="0" presId="urn:microsoft.com/office/officeart/2005/8/layout/vList2"/>
    <dgm:cxn modelId="{11C907A6-5777-433B-8396-644368E3E44D}" type="presOf" srcId="{B71F6A14-799B-4510-A0A2-51FCA103D70C}" destId="{2367971E-4942-4D82-BEF8-1B4E0E065E85}" srcOrd="0" destOrd="0" presId="urn:microsoft.com/office/officeart/2005/8/layout/vList2"/>
    <dgm:cxn modelId="{8A8482AA-D3A8-4440-AD3F-033C4982D079}" srcId="{180F2E8F-434D-44F7-B174-EA34D13360C8}" destId="{B71F6A14-799B-4510-A0A2-51FCA103D70C}" srcOrd="1" destOrd="0" parTransId="{42F3FD88-1AC2-4108-A1EB-8E01E4EB063A}" sibTransId="{3D0A528F-8047-4AC2-9CF9-AB3CDFD38D94}"/>
    <dgm:cxn modelId="{3AFF4AC0-7B41-4190-8E02-13A36D873BBA}" srcId="{180F2E8F-434D-44F7-B174-EA34D13360C8}" destId="{91D02655-185E-4723-9146-3293FA88C858}" srcOrd="3" destOrd="0" parTransId="{17BA5666-25C8-4E8E-ADF9-1D8E463AF7C2}" sibTransId="{EA8E2CE5-382F-4402-A623-AEB93846D275}"/>
    <dgm:cxn modelId="{255796C5-3A01-4B95-9CC4-32411A21D631}" srcId="{180F2E8F-434D-44F7-B174-EA34D13360C8}" destId="{4D88473A-80A8-4258-8949-2EE779908527}" srcOrd="2" destOrd="0" parTransId="{F6DF89DB-7DA2-43A0-BB3E-6E4B0EAB8771}" sibTransId="{A7957FFF-B80F-4CF1-85C0-764DB46D6E3D}"/>
    <dgm:cxn modelId="{8A222EE0-9CF7-44A3-AA17-954EC023E847}" type="presOf" srcId="{B829F9D8-F5E5-42B0-8E30-C4EFDA0E5F1F}" destId="{D9267F9F-AFB7-415B-80C4-6973495FA6D7}" srcOrd="0" destOrd="0" presId="urn:microsoft.com/office/officeart/2005/8/layout/vList2"/>
    <dgm:cxn modelId="{65ACF858-9EF5-4225-95AD-190D98B02CA1}" type="presParOf" srcId="{39A6EA92-CD92-4B2C-856B-6EA069F715E4}" destId="{91BE47A7-1984-4967-ACBB-59D031D99EDE}" srcOrd="0" destOrd="0" presId="urn:microsoft.com/office/officeart/2005/8/layout/vList2"/>
    <dgm:cxn modelId="{00655073-1492-4D99-AB67-06659E593957}" type="presParOf" srcId="{39A6EA92-CD92-4B2C-856B-6EA069F715E4}" destId="{E7F56C47-8EFF-4080-AC31-82EA7FA2C75D}" srcOrd="1" destOrd="0" presId="urn:microsoft.com/office/officeart/2005/8/layout/vList2"/>
    <dgm:cxn modelId="{AB759380-BFD5-4B4A-AB6C-B1BB61FCE2A0}" type="presParOf" srcId="{39A6EA92-CD92-4B2C-856B-6EA069F715E4}" destId="{2367971E-4942-4D82-BEF8-1B4E0E065E85}" srcOrd="2" destOrd="0" presId="urn:microsoft.com/office/officeart/2005/8/layout/vList2"/>
    <dgm:cxn modelId="{C97B3E75-331F-43D7-A1B4-9C17A643F1C6}" type="presParOf" srcId="{39A6EA92-CD92-4B2C-856B-6EA069F715E4}" destId="{A6B75C33-1D1D-4D17-BB96-5D0C2E2F44C6}" srcOrd="3" destOrd="0" presId="urn:microsoft.com/office/officeart/2005/8/layout/vList2"/>
    <dgm:cxn modelId="{4DF7C7FF-B1E1-4F71-B6BD-21699877BE04}" type="presParOf" srcId="{39A6EA92-CD92-4B2C-856B-6EA069F715E4}" destId="{C0CE93A0-2D2C-4EE2-9CE5-963ABE5F5338}" srcOrd="4" destOrd="0" presId="urn:microsoft.com/office/officeart/2005/8/layout/vList2"/>
    <dgm:cxn modelId="{BDC38E45-DC87-44E1-982A-FFEA163593E1}" type="presParOf" srcId="{39A6EA92-CD92-4B2C-856B-6EA069F715E4}" destId="{EBF7FE17-54F4-4C3C-B5E1-3105143C0EBB}" srcOrd="5" destOrd="0" presId="urn:microsoft.com/office/officeart/2005/8/layout/vList2"/>
    <dgm:cxn modelId="{57DB1FBE-7A62-4329-A329-F42CDED40FFD}" type="presParOf" srcId="{39A6EA92-CD92-4B2C-856B-6EA069F715E4}" destId="{0DAA83C9-8A7B-41DF-8BC7-C98E8199D0A8}" srcOrd="6" destOrd="0" presId="urn:microsoft.com/office/officeart/2005/8/layout/vList2"/>
    <dgm:cxn modelId="{CCDA3C05-2C1A-4F90-A209-F78961E955FC}" type="presParOf" srcId="{39A6EA92-CD92-4B2C-856B-6EA069F715E4}" destId="{7811EF3B-6587-4376-A3F6-DF878F9D42AE}" srcOrd="7" destOrd="0" presId="urn:microsoft.com/office/officeart/2005/8/layout/vList2"/>
    <dgm:cxn modelId="{C6303BA7-868F-436E-90A0-64BA281DB27A}" type="presParOf" srcId="{39A6EA92-CD92-4B2C-856B-6EA069F715E4}" destId="{D9267F9F-AFB7-415B-80C4-6973495FA6D7}" srcOrd="8"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131869A-1853-4BC2-85C3-1AC4D7E432BD}" type="doc">
      <dgm:prSet loTypeId="urn:microsoft.com/office/officeart/2005/8/layout/hierarchy1" loCatId="hierarchy" qsTypeId="urn:microsoft.com/office/officeart/2005/8/quickstyle/simple2" qsCatId="simple" csTypeId="urn:microsoft.com/office/officeart/2005/8/colors/accent1_2" csCatId="accent1" phldr="1"/>
      <dgm:spPr/>
      <dgm:t>
        <a:bodyPr/>
        <a:lstStyle/>
        <a:p>
          <a:endParaRPr lang="en-US"/>
        </a:p>
      </dgm:t>
    </dgm:pt>
    <dgm:pt modelId="{343968D8-B10A-45A1-AE6D-8972C3A911A2}">
      <dgm:prSet/>
      <dgm:spPr/>
      <dgm:t>
        <a:bodyPr/>
        <a:lstStyle/>
        <a:p>
          <a:r>
            <a:rPr lang="en-US"/>
            <a:t>Model shows strong performance (93% accuracy, 0.93 Macro F1 score)</a:t>
          </a:r>
        </a:p>
      </dgm:t>
    </dgm:pt>
    <dgm:pt modelId="{1B4495C5-080C-4A6F-9BD1-C4FDF231AFBA}" type="parTrans" cxnId="{F800A87E-6997-4B8D-AC9B-3B91FA63719E}">
      <dgm:prSet/>
      <dgm:spPr/>
      <dgm:t>
        <a:bodyPr/>
        <a:lstStyle/>
        <a:p>
          <a:endParaRPr lang="en-US"/>
        </a:p>
      </dgm:t>
    </dgm:pt>
    <dgm:pt modelId="{03B7E944-9BC8-432C-A4F8-2886864FB1CC}" type="sibTrans" cxnId="{F800A87E-6997-4B8D-AC9B-3B91FA63719E}">
      <dgm:prSet/>
      <dgm:spPr/>
      <dgm:t>
        <a:bodyPr/>
        <a:lstStyle/>
        <a:p>
          <a:endParaRPr lang="en-US"/>
        </a:p>
      </dgm:t>
    </dgm:pt>
    <dgm:pt modelId="{A019AAAB-B5A0-413D-A134-D292248E9A48}">
      <dgm:prSet/>
      <dgm:spPr/>
      <dgm:t>
        <a:bodyPr/>
        <a:lstStyle/>
        <a:p>
          <a:r>
            <a:rPr lang="en-US"/>
            <a:t>Reliable classification</a:t>
          </a:r>
        </a:p>
      </dgm:t>
    </dgm:pt>
    <dgm:pt modelId="{755BC2B6-1053-4E05-A771-9E06DB8D2959}" type="parTrans" cxnId="{12128A13-734F-4EE5-AEA8-30A5E37BAAF3}">
      <dgm:prSet/>
      <dgm:spPr/>
      <dgm:t>
        <a:bodyPr/>
        <a:lstStyle/>
        <a:p>
          <a:endParaRPr lang="en-US"/>
        </a:p>
      </dgm:t>
    </dgm:pt>
    <dgm:pt modelId="{AA454A5F-39FB-4E57-9EED-4BA3AB95B492}" type="sibTrans" cxnId="{12128A13-734F-4EE5-AEA8-30A5E37BAAF3}">
      <dgm:prSet/>
      <dgm:spPr/>
      <dgm:t>
        <a:bodyPr/>
        <a:lstStyle/>
        <a:p>
          <a:endParaRPr lang="en-US"/>
        </a:p>
      </dgm:t>
    </dgm:pt>
    <dgm:pt modelId="{6124D3DC-DF03-4ADC-AFBB-02755D57D039}">
      <dgm:prSet/>
      <dgm:spPr/>
      <dgm:t>
        <a:bodyPr/>
        <a:lstStyle/>
        <a:p>
          <a:r>
            <a:rPr lang="en-US"/>
            <a:t>Can reduce false positives and manual review in the Match API workflow</a:t>
          </a:r>
        </a:p>
      </dgm:t>
    </dgm:pt>
    <dgm:pt modelId="{3DB425B9-41D9-4355-BB60-C4F6ED8256A4}" type="parTrans" cxnId="{E13679C4-63A3-4A2C-B54E-A7CF1ECFFA9E}">
      <dgm:prSet/>
      <dgm:spPr/>
      <dgm:t>
        <a:bodyPr/>
        <a:lstStyle/>
        <a:p>
          <a:endParaRPr lang="en-US"/>
        </a:p>
      </dgm:t>
    </dgm:pt>
    <dgm:pt modelId="{57FFFD4F-05AC-49FC-8C49-B08BABF69F31}" type="sibTrans" cxnId="{E13679C4-63A3-4A2C-B54E-A7CF1ECFFA9E}">
      <dgm:prSet/>
      <dgm:spPr/>
      <dgm:t>
        <a:bodyPr/>
        <a:lstStyle/>
        <a:p>
          <a:endParaRPr lang="en-US"/>
        </a:p>
      </dgm:t>
    </dgm:pt>
    <dgm:pt modelId="{440C338F-2C05-41CF-9ADE-6D81D4E8B365}">
      <dgm:prSet/>
      <dgm:spPr/>
      <dgm:t>
        <a:bodyPr/>
        <a:lstStyle/>
        <a:p>
          <a:r>
            <a:rPr lang="en-US"/>
            <a:t>Provides scalable value</a:t>
          </a:r>
        </a:p>
      </dgm:t>
    </dgm:pt>
    <dgm:pt modelId="{AD8B4AE5-6746-48B6-B085-FC818D452498}" type="parTrans" cxnId="{1717EF24-27BE-4FCD-BBFF-944863F28E66}">
      <dgm:prSet/>
      <dgm:spPr/>
      <dgm:t>
        <a:bodyPr/>
        <a:lstStyle/>
        <a:p>
          <a:endParaRPr lang="en-US"/>
        </a:p>
      </dgm:t>
    </dgm:pt>
    <dgm:pt modelId="{DAC3855D-EE4F-4EEE-980C-92588B100A1E}" type="sibTrans" cxnId="{1717EF24-27BE-4FCD-BBFF-944863F28E66}">
      <dgm:prSet/>
      <dgm:spPr/>
      <dgm:t>
        <a:bodyPr/>
        <a:lstStyle/>
        <a:p>
          <a:endParaRPr lang="en-US"/>
        </a:p>
      </dgm:t>
    </dgm:pt>
    <dgm:pt modelId="{F7EA2781-F7B0-4359-9D5C-1344E4F528EA}" type="pres">
      <dgm:prSet presAssocID="{D131869A-1853-4BC2-85C3-1AC4D7E432BD}" presName="hierChild1" presStyleCnt="0">
        <dgm:presLayoutVars>
          <dgm:chPref val="1"/>
          <dgm:dir/>
          <dgm:animOne val="branch"/>
          <dgm:animLvl val="lvl"/>
          <dgm:resizeHandles/>
        </dgm:presLayoutVars>
      </dgm:prSet>
      <dgm:spPr/>
    </dgm:pt>
    <dgm:pt modelId="{0F2C84BA-9AA9-4B06-BC9A-B69B72014AA6}" type="pres">
      <dgm:prSet presAssocID="{343968D8-B10A-45A1-AE6D-8972C3A911A2}" presName="hierRoot1" presStyleCnt="0"/>
      <dgm:spPr/>
    </dgm:pt>
    <dgm:pt modelId="{4A90AFF9-AAEB-4D2A-90EA-F43D60A4C555}" type="pres">
      <dgm:prSet presAssocID="{343968D8-B10A-45A1-AE6D-8972C3A911A2}" presName="composite" presStyleCnt="0"/>
      <dgm:spPr/>
    </dgm:pt>
    <dgm:pt modelId="{CFC2DF24-83AE-4D8A-8E8C-E73579DF68D3}" type="pres">
      <dgm:prSet presAssocID="{343968D8-B10A-45A1-AE6D-8972C3A911A2}" presName="background" presStyleLbl="node0" presStyleIdx="0" presStyleCnt="4"/>
      <dgm:spPr/>
    </dgm:pt>
    <dgm:pt modelId="{584A672A-4BBF-4B3E-BEE2-FABAF1E0399C}" type="pres">
      <dgm:prSet presAssocID="{343968D8-B10A-45A1-AE6D-8972C3A911A2}" presName="text" presStyleLbl="fgAcc0" presStyleIdx="0" presStyleCnt="4">
        <dgm:presLayoutVars>
          <dgm:chPref val="3"/>
        </dgm:presLayoutVars>
      </dgm:prSet>
      <dgm:spPr/>
    </dgm:pt>
    <dgm:pt modelId="{9822A3CA-19F3-4B65-BC7F-CDC8E2D549DE}" type="pres">
      <dgm:prSet presAssocID="{343968D8-B10A-45A1-AE6D-8972C3A911A2}" presName="hierChild2" presStyleCnt="0"/>
      <dgm:spPr/>
    </dgm:pt>
    <dgm:pt modelId="{320027A0-C1CB-4154-BCA0-8DD44093896D}" type="pres">
      <dgm:prSet presAssocID="{A019AAAB-B5A0-413D-A134-D292248E9A48}" presName="hierRoot1" presStyleCnt="0"/>
      <dgm:spPr/>
    </dgm:pt>
    <dgm:pt modelId="{7364705F-6AB7-490D-B8C8-30148FBF7B59}" type="pres">
      <dgm:prSet presAssocID="{A019AAAB-B5A0-413D-A134-D292248E9A48}" presName="composite" presStyleCnt="0"/>
      <dgm:spPr/>
    </dgm:pt>
    <dgm:pt modelId="{E9F9D0FC-86C9-438C-AE55-912DCC6E897E}" type="pres">
      <dgm:prSet presAssocID="{A019AAAB-B5A0-413D-A134-D292248E9A48}" presName="background" presStyleLbl="node0" presStyleIdx="1" presStyleCnt="4"/>
      <dgm:spPr/>
    </dgm:pt>
    <dgm:pt modelId="{9BFF419D-6C9F-4D7C-864F-836007C45FB1}" type="pres">
      <dgm:prSet presAssocID="{A019AAAB-B5A0-413D-A134-D292248E9A48}" presName="text" presStyleLbl="fgAcc0" presStyleIdx="1" presStyleCnt="4">
        <dgm:presLayoutVars>
          <dgm:chPref val="3"/>
        </dgm:presLayoutVars>
      </dgm:prSet>
      <dgm:spPr/>
    </dgm:pt>
    <dgm:pt modelId="{CD88276E-6FCF-4DFC-97E2-3E57DF764E50}" type="pres">
      <dgm:prSet presAssocID="{A019AAAB-B5A0-413D-A134-D292248E9A48}" presName="hierChild2" presStyleCnt="0"/>
      <dgm:spPr/>
    </dgm:pt>
    <dgm:pt modelId="{B29049FD-8CC8-4473-A365-2FFDD5079A6A}" type="pres">
      <dgm:prSet presAssocID="{6124D3DC-DF03-4ADC-AFBB-02755D57D039}" presName="hierRoot1" presStyleCnt="0"/>
      <dgm:spPr/>
    </dgm:pt>
    <dgm:pt modelId="{212C880D-A284-4AEC-9D6A-93B4E4749018}" type="pres">
      <dgm:prSet presAssocID="{6124D3DC-DF03-4ADC-AFBB-02755D57D039}" presName="composite" presStyleCnt="0"/>
      <dgm:spPr/>
    </dgm:pt>
    <dgm:pt modelId="{E4807461-91BB-4A60-8A86-330D18589743}" type="pres">
      <dgm:prSet presAssocID="{6124D3DC-DF03-4ADC-AFBB-02755D57D039}" presName="background" presStyleLbl="node0" presStyleIdx="2" presStyleCnt="4"/>
      <dgm:spPr/>
    </dgm:pt>
    <dgm:pt modelId="{8EEAF8E0-6992-44BF-806E-68A0263BFB9B}" type="pres">
      <dgm:prSet presAssocID="{6124D3DC-DF03-4ADC-AFBB-02755D57D039}" presName="text" presStyleLbl="fgAcc0" presStyleIdx="2" presStyleCnt="4">
        <dgm:presLayoutVars>
          <dgm:chPref val="3"/>
        </dgm:presLayoutVars>
      </dgm:prSet>
      <dgm:spPr/>
    </dgm:pt>
    <dgm:pt modelId="{AC0D2C45-F84F-484F-ABF0-1842663CF1BA}" type="pres">
      <dgm:prSet presAssocID="{6124D3DC-DF03-4ADC-AFBB-02755D57D039}" presName="hierChild2" presStyleCnt="0"/>
      <dgm:spPr/>
    </dgm:pt>
    <dgm:pt modelId="{28F59435-F5B7-40A1-8AB9-30ED35121936}" type="pres">
      <dgm:prSet presAssocID="{440C338F-2C05-41CF-9ADE-6D81D4E8B365}" presName="hierRoot1" presStyleCnt="0"/>
      <dgm:spPr/>
    </dgm:pt>
    <dgm:pt modelId="{19E4F7E2-2666-42D1-8CFB-E51AFB888EAC}" type="pres">
      <dgm:prSet presAssocID="{440C338F-2C05-41CF-9ADE-6D81D4E8B365}" presName="composite" presStyleCnt="0"/>
      <dgm:spPr/>
    </dgm:pt>
    <dgm:pt modelId="{FB6BCD73-AA5A-431A-844F-46BD424CF5EE}" type="pres">
      <dgm:prSet presAssocID="{440C338F-2C05-41CF-9ADE-6D81D4E8B365}" presName="background" presStyleLbl="node0" presStyleIdx="3" presStyleCnt="4"/>
      <dgm:spPr/>
    </dgm:pt>
    <dgm:pt modelId="{1B0DD7F9-019B-4DB7-93AC-4FCF1C639D39}" type="pres">
      <dgm:prSet presAssocID="{440C338F-2C05-41CF-9ADE-6D81D4E8B365}" presName="text" presStyleLbl="fgAcc0" presStyleIdx="3" presStyleCnt="4">
        <dgm:presLayoutVars>
          <dgm:chPref val="3"/>
        </dgm:presLayoutVars>
      </dgm:prSet>
      <dgm:spPr/>
    </dgm:pt>
    <dgm:pt modelId="{F4BF4450-CB7F-4FA0-A495-26E0D4B45CAA}" type="pres">
      <dgm:prSet presAssocID="{440C338F-2C05-41CF-9ADE-6D81D4E8B365}" presName="hierChild2" presStyleCnt="0"/>
      <dgm:spPr/>
    </dgm:pt>
  </dgm:ptLst>
  <dgm:cxnLst>
    <dgm:cxn modelId="{12128A13-734F-4EE5-AEA8-30A5E37BAAF3}" srcId="{D131869A-1853-4BC2-85C3-1AC4D7E432BD}" destId="{A019AAAB-B5A0-413D-A134-D292248E9A48}" srcOrd="1" destOrd="0" parTransId="{755BC2B6-1053-4E05-A771-9E06DB8D2959}" sibTransId="{AA454A5F-39FB-4E57-9EED-4BA3AB95B492}"/>
    <dgm:cxn modelId="{5CC8761E-D325-4903-85B7-C673826BCF26}" type="presOf" srcId="{6124D3DC-DF03-4ADC-AFBB-02755D57D039}" destId="{8EEAF8E0-6992-44BF-806E-68A0263BFB9B}" srcOrd="0" destOrd="0" presId="urn:microsoft.com/office/officeart/2005/8/layout/hierarchy1"/>
    <dgm:cxn modelId="{1717EF24-27BE-4FCD-BBFF-944863F28E66}" srcId="{D131869A-1853-4BC2-85C3-1AC4D7E432BD}" destId="{440C338F-2C05-41CF-9ADE-6D81D4E8B365}" srcOrd="3" destOrd="0" parTransId="{AD8B4AE5-6746-48B6-B085-FC818D452498}" sibTransId="{DAC3855D-EE4F-4EEE-980C-92588B100A1E}"/>
    <dgm:cxn modelId="{FA986325-1EE4-4BC6-8544-6D7FEC8AF617}" type="presOf" srcId="{A019AAAB-B5A0-413D-A134-D292248E9A48}" destId="{9BFF419D-6C9F-4D7C-864F-836007C45FB1}" srcOrd="0" destOrd="0" presId="urn:microsoft.com/office/officeart/2005/8/layout/hierarchy1"/>
    <dgm:cxn modelId="{48BE9E74-E28A-4E3D-82CD-483147B10B12}" type="presOf" srcId="{343968D8-B10A-45A1-AE6D-8972C3A911A2}" destId="{584A672A-4BBF-4B3E-BEE2-FABAF1E0399C}" srcOrd="0" destOrd="0" presId="urn:microsoft.com/office/officeart/2005/8/layout/hierarchy1"/>
    <dgm:cxn modelId="{F800A87E-6997-4B8D-AC9B-3B91FA63719E}" srcId="{D131869A-1853-4BC2-85C3-1AC4D7E432BD}" destId="{343968D8-B10A-45A1-AE6D-8972C3A911A2}" srcOrd="0" destOrd="0" parTransId="{1B4495C5-080C-4A6F-9BD1-C4FDF231AFBA}" sibTransId="{03B7E944-9BC8-432C-A4F8-2886864FB1CC}"/>
    <dgm:cxn modelId="{C426A793-AFC3-45D1-83C5-7F9CEA56B7C6}" type="presOf" srcId="{D131869A-1853-4BC2-85C3-1AC4D7E432BD}" destId="{F7EA2781-F7B0-4359-9D5C-1344E4F528EA}" srcOrd="0" destOrd="0" presId="urn:microsoft.com/office/officeart/2005/8/layout/hierarchy1"/>
    <dgm:cxn modelId="{E13679C4-63A3-4A2C-B54E-A7CF1ECFFA9E}" srcId="{D131869A-1853-4BC2-85C3-1AC4D7E432BD}" destId="{6124D3DC-DF03-4ADC-AFBB-02755D57D039}" srcOrd="2" destOrd="0" parTransId="{3DB425B9-41D9-4355-BB60-C4F6ED8256A4}" sibTransId="{57FFFD4F-05AC-49FC-8C49-B08BABF69F31}"/>
    <dgm:cxn modelId="{CFABAED6-44D2-4E72-939B-EA3AACEFA94D}" type="presOf" srcId="{440C338F-2C05-41CF-9ADE-6D81D4E8B365}" destId="{1B0DD7F9-019B-4DB7-93AC-4FCF1C639D39}" srcOrd="0" destOrd="0" presId="urn:microsoft.com/office/officeart/2005/8/layout/hierarchy1"/>
    <dgm:cxn modelId="{B7B7E008-84D6-4BED-8C11-657748991310}" type="presParOf" srcId="{F7EA2781-F7B0-4359-9D5C-1344E4F528EA}" destId="{0F2C84BA-9AA9-4B06-BC9A-B69B72014AA6}" srcOrd="0" destOrd="0" presId="urn:microsoft.com/office/officeart/2005/8/layout/hierarchy1"/>
    <dgm:cxn modelId="{6226A7C2-39B8-494D-89E4-429B958DD440}" type="presParOf" srcId="{0F2C84BA-9AA9-4B06-BC9A-B69B72014AA6}" destId="{4A90AFF9-AAEB-4D2A-90EA-F43D60A4C555}" srcOrd="0" destOrd="0" presId="urn:microsoft.com/office/officeart/2005/8/layout/hierarchy1"/>
    <dgm:cxn modelId="{32128ECB-F524-4759-960D-ADE721B678D3}" type="presParOf" srcId="{4A90AFF9-AAEB-4D2A-90EA-F43D60A4C555}" destId="{CFC2DF24-83AE-4D8A-8E8C-E73579DF68D3}" srcOrd="0" destOrd="0" presId="urn:microsoft.com/office/officeart/2005/8/layout/hierarchy1"/>
    <dgm:cxn modelId="{D9CEDCFC-45BE-41BC-9828-9595B6B29E61}" type="presParOf" srcId="{4A90AFF9-AAEB-4D2A-90EA-F43D60A4C555}" destId="{584A672A-4BBF-4B3E-BEE2-FABAF1E0399C}" srcOrd="1" destOrd="0" presId="urn:microsoft.com/office/officeart/2005/8/layout/hierarchy1"/>
    <dgm:cxn modelId="{9863079B-8D82-4EF4-BB6E-0F858E5299A9}" type="presParOf" srcId="{0F2C84BA-9AA9-4B06-BC9A-B69B72014AA6}" destId="{9822A3CA-19F3-4B65-BC7F-CDC8E2D549DE}" srcOrd="1" destOrd="0" presId="urn:microsoft.com/office/officeart/2005/8/layout/hierarchy1"/>
    <dgm:cxn modelId="{1E9BBA5D-3C1F-44D2-AC21-625DF64A737C}" type="presParOf" srcId="{F7EA2781-F7B0-4359-9D5C-1344E4F528EA}" destId="{320027A0-C1CB-4154-BCA0-8DD44093896D}" srcOrd="1" destOrd="0" presId="urn:microsoft.com/office/officeart/2005/8/layout/hierarchy1"/>
    <dgm:cxn modelId="{98BF601D-4F13-493E-9873-1F5500D4E8CE}" type="presParOf" srcId="{320027A0-C1CB-4154-BCA0-8DD44093896D}" destId="{7364705F-6AB7-490D-B8C8-30148FBF7B59}" srcOrd="0" destOrd="0" presId="urn:microsoft.com/office/officeart/2005/8/layout/hierarchy1"/>
    <dgm:cxn modelId="{4A85A18F-DE6A-42D7-957E-B12005C042CB}" type="presParOf" srcId="{7364705F-6AB7-490D-B8C8-30148FBF7B59}" destId="{E9F9D0FC-86C9-438C-AE55-912DCC6E897E}" srcOrd="0" destOrd="0" presId="urn:microsoft.com/office/officeart/2005/8/layout/hierarchy1"/>
    <dgm:cxn modelId="{73CE0E56-FF65-4773-A465-7C718773C28D}" type="presParOf" srcId="{7364705F-6AB7-490D-B8C8-30148FBF7B59}" destId="{9BFF419D-6C9F-4D7C-864F-836007C45FB1}" srcOrd="1" destOrd="0" presId="urn:microsoft.com/office/officeart/2005/8/layout/hierarchy1"/>
    <dgm:cxn modelId="{058BD87E-DDF0-421A-B78E-DD2D2C50B748}" type="presParOf" srcId="{320027A0-C1CB-4154-BCA0-8DD44093896D}" destId="{CD88276E-6FCF-4DFC-97E2-3E57DF764E50}" srcOrd="1" destOrd="0" presId="urn:microsoft.com/office/officeart/2005/8/layout/hierarchy1"/>
    <dgm:cxn modelId="{648FD3FF-A319-4AB9-A5E9-6882A1B625BE}" type="presParOf" srcId="{F7EA2781-F7B0-4359-9D5C-1344E4F528EA}" destId="{B29049FD-8CC8-4473-A365-2FFDD5079A6A}" srcOrd="2" destOrd="0" presId="urn:microsoft.com/office/officeart/2005/8/layout/hierarchy1"/>
    <dgm:cxn modelId="{FC53C673-2037-41BD-89F2-98ACDAA47227}" type="presParOf" srcId="{B29049FD-8CC8-4473-A365-2FFDD5079A6A}" destId="{212C880D-A284-4AEC-9D6A-93B4E4749018}" srcOrd="0" destOrd="0" presId="urn:microsoft.com/office/officeart/2005/8/layout/hierarchy1"/>
    <dgm:cxn modelId="{AB78435B-4A71-4779-84CD-AB6296068D6E}" type="presParOf" srcId="{212C880D-A284-4AEC-9D6A-93B4E4749018}" destId="{E4807461-91BB-4A60-8A86-330D18589743}" srcOrd="0" destOrd="0" presId="urn:microsoft.com/office/officeart/2005/8/layout/hierarchy1"/>
    <dgm:cxn modelId="{DB776C43-80FC-400F-AA3C-596A9494C910}" type="presParOf" srcId="{212C880D-A284-4AEC-9D6A-93B4E4749018}" destId="{8EEAF8E0-6992-44BF-806E-68A0263BFB9B}" srcOrd="1" destOrd="0" presId="urn:microsoft.com/office/officeart/2005/8/layout/hierarchy1"/>
    <dgm:cxn modelId="{98264603-B8B9-4BAE-BD7E-E2A3475B9B2E}" type="presParOf" srcId="{B29049FD-8CC8-4473-A365-2FFDD5079A6A}" destId="{AC0D2C45-F84F-484F-ABF0-1842663CF1BA}" srcOrd="1" destOrd="0" presId="urn:microsoft.com/office/officeart/2005/8/layout/hierarchy1"/>
    <dgm:cxn modelId="{D5DA7903-9250-42FA-A380-6F37DDEC7E85}" type="presParOf" srcId="{F7EA2781-F7B0-4359-9D5C-1344E4F528EA}" destId="{28F59435-F5B7-40A1-8AB9-30ED35121936}" srcOrd="3" destOrd="0" presId="urn:microsoft.com/office/officeart/2005/8/layout/hierarchy1"/>
    <dgm:cxn modelId="{4A475180-9FB5-461B-AB53-A5B5FE2B7E6C}" type="presParOf" srcId="{28F59435-F5B7-40A1-8AB9-30ED35121936}" destId="{19E4F7E2-2666-42D1-8CFB-E51AFB888EAC}" srcOrd="0" destOrd="0" presId="urn:microsoft.com/office/officeart/2005/8/layout/hierarchy1"/>
    <dgm:cxn modelId="{5D6FA01F-4760-4B52-AB1A-B4D61627C7E7}" type="presParOf" srcId="{19E4F7E2-2666-42D1-8CFB-E51AFB888EAC}" destId="{FB6BCD73-AA5A-431A-844F-46BD424CF5EE}" srcOrd="0" destOrd="0" presId="urn:microsoft.com/office/officeart/2005/8/layout/hierarchy1"/>
    <dgm:cxn modelId="{211C143C-9A66-4B4B-BFE9-000139F224BB}" type="presParOf" srcId="{19E4F7E2-2666-42D1-8CFB-E51AFB888EAC}" destId="{1B0DD7F9-019B-4DB7-93AC-4FCF1C639D39}" srcOrd="1" destOrd="0" presId="urn:microsoft.com/office/officeart/2005/8/layout/hierarchy1"/>
    <dgm:cxn modelId="{B0A7DC40-7FE2-4491-BCB9-5F89BBDD07F3}" type="presParOf" srcId="{28F59435-F5B7-40A1-8AB9-30ED35121936}" destId="{F4BF4450-CB7F-4FA0-A495-26E0D4B45CAA}"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80F2E8F-434D-44F7-B174-EA34D13360C8}" type="doc">
      <dgm:prSet loTypeId="urn:microsoft.com/office/officeart/2005/8/layout/hierarchy1" loCatId="hierarchy" qsTypeId="urn:microsoft.com/office/officeart/2005/8/quickstyle/simple2" qsCatId="simple" csTypeId="urn:microsoft.com/office/officeart/2005/8/colors/accent1_2" csCatId="accent1" phldr="1"/>
      <dgm:spPr/>
      <dgm:t>
        <a:bodyPr/>
        <a:lstStyle/>
        <a:p>
          <a:endParaRPr lang="en-US"/>
        </a:p>
      </dgm:t>
    </dgm:pt>
    <dgm:pt modelId="{11B6F44E-95D9-4E6B-A517-695FAA56907D}">
      <dgm:prSet custT="1"/>
      <dgm:spPr/>
      <dgm:t>
        <a:bodyPr/>
        <a:lstStyle/>
        <a:p>
          <a:r>
            <a:rPr lang="en-US" sz="1800"/>
            <a:t>Use as a pre-matching filter to subset holdings before full match processing</a:t>
          </a:r>
        </a:p>
      </dgm:t>
    </dgm:pt>
    <dgm:pt modelId="{33EAC47B-2A68-4B60-9954-D7F698D91B63}" type="parTrans" cxnId="{4C899F4D-4E1B-444B-9738-89BC6C6B530A}">
      <dgm:prSet/>
      <dgm:spPr/>
      <dgm:t>
        <a:bodyPr/>
        <a:lstStyle/>
        <a:p>
          <a:pPr algn="ctr"/>
          <a:endParaRPr lang="en-US"/>
        </a:p>
      </dgm:t>
    </dgm:pt>
    <dgm:pt modelId="{FCECF5F7-A0C7-43D8-9390-FE66522C8D09}" type="sibTrans" cxnId="{4C899F4D-4E1B-444B-9738-89BC6C6B530A}">
      <dgm:prSet/>
      <dgm:spPr/>
      <dgm:t>
        <a:bodyPr/>
        <a:lstStyle/>
        <a:p>
          <a:endParaRPr lang="en-US"/>
        </a:p>
      </dgm:t>
    </dgm:pt>
    <dgm:pt modelId="{B71F6A14-799B-4510-A0A2-51FCA103D70C}">
      <dgm:prSet custT="1"/>
      <dgm:spPr/>
      <dgm:t>
        <a:bodyPr/>
        <a:lstStyle/>
        <a:p>
          <a:r>
            <a:rPr lang="en-US" sz="1800"/>
            <a:t>Incorporate confidence-based routing </a:t>
          </a:r>
        </a:p>
      </dgm:t>
    </dgm:pt>
    <dgm:pt modelId="{42F3FD88-1AC2-4108-A1EB-8E01E4EB063A}" type="parTrans" cxnId="{8A8482AA-D3A8-4440-AD3F-033C4982D079}">
      <dgm:prSet/>
      <dgm:spPr/>
      <dgm:t>
        <a:bodyPr/>
        <a:lstStyle/>
        <a:p>
          <a:pPr algn="ctr"/>
          <a:endParaRPr lang="en-US"/>
        </a:p>
      </dgm:t>
    </dgm:pt>
    <dgm:pt modelId="{3D0A528F-8047-4AC2-9CF9-AB3CDFD38D94}" type="sibTrans" cxnId="{8A8482AA-D3A8-4440-AD3F-033C4982D079}">
      <dgm:prSet/>
      <dgm:spPr/>
      <dgm:t>
        <a:bodyPr/>
        <a:lstStyle/>
        <a:p>
          <a:endParaRPr lang="en-US"/>
        </a:p>
      </dgm:t>
    </dgm:pt>
    <dgm:pt modelId="{C69F5BF0-D4AA-43E1-9E3E-385C3F61EC64}">
      <dgm:prSet custT="1"/>
      <dgm:spPr/>
      <dgm:t>
        <a:bodyPr/>
        <a:lstStyle/>
        <a:p>
          <a:r>
            <a:rPr lang="en-US" sz="1800"/>
            <a:t>Expose prediction confidence within user interface</a:t>
          </a:r>
        </a:p>
      </dgm:t>
    </dgm:pt>
    <dgm:pt modelId="{59D8CC90-2BA2-4BE8-94C1-5E7CD85D2C34}" type="parTrans" cxnId="{2610402F-F4A3-4326-91CE-D72470F0C567}">
      <dgm:prSet/>
      <dgm:spPr/>
      <dgm:t>
        <a:bodyPr/>
        <a:lstStyle/>
        <a:p>
          <a:pPr algn="ctr"/>
          <a:endParaRPr lang="en-US"/>
        </a:p>
      </dgm:t>
    </dgm:pt>
    <dgm:pt modelId="{817A9FE4-27B2-467D-BB02-72618497AC3B}" type="sibTrans" cxnId="{2610402F-F4A3-4326-91CE-D72470F0C567}">
      <dgm:prSet/>
      <dgm:spPr/>
      <dgm:t>
        <a:bodyPr/>
        <a:lstStyle/>
        <a:p>
          <a:endParaRPr lang="en-US"/>
        </a:p>
      </dgm:t>
    </dgm:pt>
    <dgm:pt modelId="{4D88473A-80A8-4258-8949-2EE779908527}">
      <dgm:prSet custT="1"/>
      <dgm:spPr/>
      <dgm:t>
        <a:bodyPr/>
        <a:lstStyle/>
        <a:p>
          <a:r>
            <a:rPr lang="en-US" sz="1800"/>
            <a:t>Monitor business impact to measure ROI and guide scaling</a:t>
          </a:r>
        </a:p>
      </dgm:t>
    </dgm:pt>
    <dgm:pt modelId="{F6DF89DB-7DA2-43A0-BB3E-6E4B0EAB8771}" type="parTrans" cxnId="{255796C5-3A01-4B95-9CC4-32411A21D631}">
      <dgm:prSet/>
      <dgm:spPr/>
      <dgm:t>
        <a:bodyPr/>
        <a:lstStyle/>
        <a:p>
          <a:pPr algn="ctr"/>
          <a:endParaRPr lang="en-US"/>
        </a:p>
      </dgm:t>
    </dgm:pt>
    <dgm:pt modelId="{A7957FFF-B80F-4CF1-85C0-764DB46D6E3D}" type="sibTrans" cxnId="{255796C5-3A01-4B95-9CC4-32411A21D631}">
      <dgm:prSet/>
      <dgm:spPr/>
      <dgm:t>
        <a:bodyPr/>
        <a:lstStyle/>
        <a:p>
          <a:endParaRPr lang="en-US"/>
        </a:p>
      </dgm:t>
    </dgm:pt>
    <dgm:pt modelId="{1330DADC-AA72-4FEA-BA2C-DE8D2B8C3B6B}" type="pres">
      <dgm:prSet presAssocID="{180F2E8F-434D-44F7-B174-EA34D13360C8}" presName="hierChild1" presStyleCnt="0">
        <dgm:presLayoutVars>
          <dgm:chPref val="1"/>
          <dgm:dir/>
          <dgm:animOne val="branch"/>
          <dgm:animLvl val="lvl"/>
          <dgm:resizeHandles/>
        </dgm:presLayoutVars>
      </dgm:prSet>
      <dgm:spPr/>
    </dgm:pt>
    <dgm:pt modelId="{C612AA9D-B9EB-4F5C-AC15-F64DAD2D5932}" type="pres">
      <dgm:prSet presAssocID="{11B6F44E-95D9-4E6B-A517-695FAA56907D}" presName="hierRoot1" presStyleCnt="0"/>
      <dgm:spPr/>
    </dgm:pt>
    <dgm:pt modelId="{D0A36D3A-7FF2-442A-BE38-B23BD5C92205}" type="pres">
      <dgm:prSet presAssocID="{11B6F44E-95D9-4E6B-A517-695FAA56907D}" presName="composite" presStyleCnt="0"/>
      <dgm:spPr/>
    </dgm:pt>
    <dgm:pt modelId="{E0F90B02-BC38-47FD-B776-7B154DD9D16D}" type="pres">
      <dgm:prSet presAssocID="{11B6F44E-95D9-4E6B-A517-695FAA56907D}" presName="background" presStyleLbl="node0" presStyleIdx="0" presStyleCnt="4"/>
      <dgm:spPr/>
    </dgm:pt>
    <dgm:pt modelId="{BE0E9AEA-9D08-4286-99DD-330CF052119B}" type="pres">
      <dgm:prSet presAssocID="{11B6F44E-95D9-4E6B-A517-695FAA56907D}" presName="text" presStyleLbl="fgAcc0" presStyleIdx="0" presStyleCnt="4">
        <dgm:presLayoutVars>
          <dgm:chPref val="3"/>
        </dgm:presLayoutVars>
      </dgm:prSet>
      <dgm:spPr/>
    </dgm:pt>
    <dgm:pt modelId="{4156C03A-DD89-4B3D-A239-7E478A2BD2BF}" type="pres">
      <dgm:prSet presAssocID="{11B6F44E-95D9-4E6B-A517-695FAA56907D}" presName="hierChild2" presStyleCnt="0"/>
      <dgm:spPr/>
    </dgm:pt>
    <dgm:pt modelId="{674EC244-6E44-4F6C-95DA-C93EC195079A}" type="pres">
      <dgm:prSet presAssocID="{B71F6A14-799B-4510-A0A2-51FCA103D70C}" presName="hierRoot1" presStyleCnt="0"/>
      <dgm:spPr/>
    </dgm:pt>
    <dgm:pt modelId="{5C4BF7FF-C88D-4931-BDF6-84FA659DE366}" type="pres">
      <dgm:prSet presAssocID="{B71F6A14-799B-4510-A0A2-51FCA103D70C}" presName="composite" presStyleCnt="0"/>
      <dgm:spPr/>
    </dgm:pt>
    <dgm:pt modelId="{B15731DA-FEEB-46C7-A198-216961960708}" type="pres">
      <dgm:prSet presAssocID="{B71F6A14-799B-4510-A0A2-51FCA103D70C}" presName="background" presStyleLbl="node0" presStyleIdx="1" presStyleCnt="4"/>
      <dgm:spPr/>
    </dgm:pt>
    <dgm:pt modelId="{6CCBD72B-B9CF-4427-AF13-8FFA0C227E7D}" type="pres">
      <dgm:prSet presAssocID="{B71F6A14-799B-4510-A0A2-51FCA103D70C}" presName="text" presStyleLbl="fgAcc0" presStyleIdx="1" presStyleCnt="4">
        <dgm:presLayoutVars>
          <dgm:chPref val="3"/>
        </dgm:presLayoutVars>
      </dgm:prSet>
      <dgm:spPr/>
    </dgm:pt>
    <dgm:pt modelId="{D139EC37-CEA4-489B-8700-6C335C23DAB3}" type="pres">
      <dgm:prSet presAssocID="{B71F6A14-799B-4510-A0A2-51FCA103D70C}" presName="hierChild2" presStyleCnt="0"/>
      <dgm:spPr/>
    </dgm:pt>
    <dgm:pt modelId="{8968C461-2DD5-4B53-A594-01A4BD8C9609}" type="pres">
      <dgm:prSet presAssocID="{C69F5BF0-D4AA-43E1-9E3E-385C3F61EC64}" presName="hierRoot1" presStyleCnt="0"/>
      <dgm:spPr/>
    </dgm:pt>
    <dgm:pt modelId="{BAAC6FA5-7CD2-4680-B30C-1CBA20A6F81D}" type="pres">
      <dgm:prSet presAssocID="{C69F5BF0-D4AA-43E1-9E3E-385C3F61EC64}" presName="composite" presStyleCnt="0"/>
      <dgm:spPr/>
    </dgm:pt>
    <dgm:pt modelId="{64B1D4BD-D947-40D9-90A9-EDC76CB4DBD5}" type="pres">
      <dgm:prSet presAssocID="{C69F5BF0-D4AA-43E1-9E3E-385C3F61EC64}" presName="background" presStyleLbl="node0" presStyleIdx="2" presStyleCnt="4"/>
      <dgm:spPr/>
    </dgm:pt>
    <dgm:pt modelId="{BCA5C91D-CCB6-40E0-9398-C5435006E13A}" type="pres">
      <dgm:prSet presAssocID="{C69F5BF0-D4AA-43E1-9E3E-385C3F61EC64}" presName="text" presStyleLbl="fgAcc0" presStyleIdx="2" presStyleCnt="4">
        <dgm:presLayoutVars>
          <dgm:chPref val="3"/>
        </dgm:presLayoutVars>
      </dgm:prSet>
      <dgm:spPr/>
    </dgm:pt>
    <dgm:pt modelId="{478A713A-AEF8-4ADA-9BD9-346B63B5842A}" type="pres">
      <dgm:prSet presAssocID="{C69F5BF0-D4AA-43E1-9E3E-385C3F61EC64}" presName="hierChild2" presStyleCnt="0"/>
      <dgm:spPr/>
    </dgm:pt>
    <dgm:pt modelId="{F6CF7012-FD7A-42C2-BABA-3F068DB53A8F}" type="pres">
      <dgm:prSet presAssocID="{4D88473A-80A8-4258-8949-2EE779908527}" presName="hierRoot1" presStyleCnt="0"/>
      <dgm:spPr/>
    </dgm:pt>
    <dgm:pt modelId="{A176A243-E37D-460C-BED1-768065D23C11}" type="pres">
      <dgm:prSet presAssocID="{4D88473A-80A8-4258-8949-2EE779908527}" presName="composite" presStyleCnt="0"/>
      <dgm:spPr/>
    </dgm:pt>
    <dgm:pt modelId="{28E1983F-7825-436E-85AF-6AD2708954CE}" type="pres">
      <dgm:prSet presAssocID="{4D88473A-80A8-4258-8949-2EE779908527}" presName="background" presStyleLbl="node0" presStyleIdx="3" presStyleCnt="4"/>
      <dgm:spPr/>
    </dgm:pt>
    <dgm:pt modelId="{4F517CE9-3559-44A4-8B0E-94ADA86685D9}" type="pres">
      <dgm:prSet presAssocID="{4D88473A-80A8-4258-8949-2EE779908527}" presName="text" presStyleLbl="fgAcc0" presStyleIdx="3" presStyleCnt="4">
        <dgm:presLayoutVars>
          <dgm:chPref val="3"/>
        </dgm:presLayoutVars>
      </dgm:prSet>
      <dgm:spPr/>
    </dgm:pt>
    <dgm:pt modelId="{A9BA66BF-AD9F-4006-A051-4FF6F2706FBB}" type="pres">
      <dgm:prSet presAssocID="{4D88473A-80A8-4258-8949-2EE779908527}" presName="hierChild2" presStyleCnt="0"/>
      <dgm:spPr/>
    </dgm:pt>
  </dgm:ptLst>
  <dgm:cxnLst>
    <dgm:cxn modelId="{B6113C2B-0E4C-4320-86EB-0A88B3F2A28A}" type="presOf" srcId="{11B6F44E-95D9-4E6B-A517-695FAA56907D}" destId="{BE0E9AEA-9D08-4286-99DD-330CF052119B}" srcOrd="0" destOrd="0" presId="urn:microsoft.com/office/officeart/2005/8/layout/hierarchy1"/>
    <dgm:cxn modelId="{2610402F-F4A3-4326-91CE-D72470F0C567}" srcId="{180F2E8F-434D-44F7-B174-EA34D13360C8}" destId="{C69F5BF0-D4AA-43E1-9E3E-385C3F61EC64}" srcOrd="2" destOrd="0" parTransId="{59D8CC90-2BA2-4BE8-94C1-5E7CD85D2C34}" sibTransId="{817A9FE4-27B2-467D-BB02-72618497AC3B}"/>
    <dgm:cxn modelId="{4C899F4D-4E1B-444B-9738-89BC6C6B530A}" srcId="{180F2E8F-434D-44F7-B174-EA34D13360C8}" destId="{11B6F44E-95D9-4E6B-A517-695FAA56907D}" srcOrd="0" destOrd="0" parTransId="{33EAC47B-2A68-4B60-9954-D7F698D91B63}" sibTransId="{FCECF5F7-A0C7-43D8-9390-FE66522C8D09}"/>
    <dgm:cxn modelId="{05695763-58DF-4FB6-9BFE-FED9F4458317}" type="presOf" srcId="{180F2E8F-434D-44F7-B174-EA34D13360C8}" destId="{1330DADC-AA72-4FEA-BA2C-DE8D2B8C3B6B}" srcOrd="0" destOrd="0" presId="urn:microsoft.com/office/officeart/2005/8/layout/hierarchy1"/>
    <dgm:cxn modelId="{BF2F5A97-E0FD-4C32-A563-3F09C6FC33E8}" type="presOf" srcId="{C69F5BF0-D4AA-43E1-9E3E-385C3F61EC64}" destId="{BCA5C91D-CCB6-40E0-9398-C5435006E13A}" srcOrd="0" destOrd="0" presId="urn:microsoft.com/office/officeart/2005/8/layout/hierarchy1"/>
    <dgm:cxn modelId="{8A8482AA-D3A8-4440-AD3F-033C4982D079}" srcId="{180F2E8F-434D-44F7-B174-EA34D13360C8}" destId="{B71F6A14-799B-4510-A0A2-51FCA103D70C}" srcOrd="1" destOrd="0" parTransId="{42F3FD88-1AC2-4108-A1EB-8E01E4EB063A}" sibTransId="{3D0A528F-8047-4AC2-9CF9-AB3CDFD38D94}"/>
    <dgm:cxn modelId="{255796C5-3A01-4B95-9CC4-32411A21D631}" srcId="{180F2E8F-434D-44F7-B174-EA34D13360C8}" destId="{4D88473A-80A8-4258-8949-2EE779908527}" srcOrd="3" destOrd="0" parTransId="{F6DF89DB-7DA2-43A0-BB3E-6E4B0EAB8771}" sibTransId="{A7957FFF-B80F-4CF1-85C0-764DB46D6E3D}"/>
    <dgm:cxn modelId="{2B8491DE-2156-45A2-A134-534FC40793E1}" type="presOf" srcId="{B71F6A14-799B-4510-A0A2-51FCA103D70C}" destId="{6CCBD72B-B9CF-4427-AF13-8FFA0C227E7D}" srcOrd="0" destOrd="0" presId="urn:microsoft.com/office/officeart/2005/8/layout/hierarchy1"/>
    <dgm:cxn modelId="{6B433AF6-62EB-416C-A956-32C622206227}" type="presOf" srcId="{4D88473A-80A8-4258-8949-2EE779908527}" destId="{4F517CE9-3559-44A4-8B0E-94ADA86685D9}" srcOrd="0" destOrd="0" presId="urn:microsoft.com/office/officeart/2005/8/layout/hierarchy1"/>
    <dgm:cxn modelId="{35AEA6D7-7407-465D-8322-D281EDA8B112}" type="presParOf" srcId="{1330DADC-AA72-4FEA-BA2C-DE8D2B8C3B6B}" destId="{C612AA9D-B9EB-4F5C-AC15-F64DAD2D5932}" srcOrd="0" destOrd="0" presId="urn:microsoft.com/office/officeart/2005/8/layout/hierarchy1"/>
    <dgm:cxn modelId="{B1B2FB17-5F8E-4689-A867-82D80E7C34C2}" type="presParOf" srcId="{C612AA9D-B9EB-4F5C-AC15-F64DAD2D5932}" destId="{D0A36D3A-7FF2-442A-BE38-B23BD5C92205}" srcOrd="0" destOrd="0" presId="urn:microsoft.com/office/officeart/2005/8/layout/hierarchy1"/>
    <dgm:cxn modelId="{F5D13241-2BFB-4935-85D0-A7572E1DAF24}" type="presParOf" srcId="{D0A36D3A-7FF2-442A-BE38-B23BD5C92205}" destId="{E0F90B02-BC38-47FD-B776-7B154DD9D16D}" srcOrd="0" destOrd="0" presId="urn:microsoft.com/office/officeart/2005/8/layout/hierarchy1"/>
    <dgm:cxn modelId="{74623E34-FE98-45DB-A24B-D70EA59410CB}" type="presParOf" srcId="{D0A36D3A-7FF2-442A-BE38-B23BD5C92205}" destId="{BE0E9AEA-9D08-4286-99DD-330CF052119B}" srcOrd="1" destOrd="0" presId="urn:microsoft.com/office/officeart/2005/8/layout/hierarchy1"/>
    <dgm:cxn modelId="{F01A7E57-9773-4DBC-99D1-EA8F02255904}" type="presParOf" srcId="{C612AA9D-B9EB-4F5C-AC15-F64DAD2D5932}" destId="{4156C03A-DD89-4B3D-A239-7E478A2BD2BF}" srcOrd="1" destOrd="0" presId="urn:microsoft.com/office/officeart/2005/8/layout/hierarchy1"/>
    <dgm:cxn modelId="{A62CD32C-115A-41B5-8DED-DD2AD8681175}" type="presParOf" srcId="{1330DADC-AA72-4FEA-BA2C-DE8D2B8C3B6B}" destId="{674EC244-6E44-4F6C-95DA-C93EC195079A}" srcOrd="1" destOrd="0" presId="urn:microsoft.com/office/officeart/2005/8/layout/hierarchy1"/>
    <dgm:cxn modelId="{7177E114-2442-4ABF-90DF-2C9B2381A1AD}" type="presParOf" srcId="{674EC244-6E44-4F6C-95DA-C93EC195079A}" destId="{5C4BF7FF-C88D-4931-BDF6-84FA659DE366}" srcOrd="0" destOrd="0" presId="urn:microsoft.com/office/officeart/2005/8/layout/hierarchy1"/>
    <dgm:cxn modelId="{F531D35E-603F-479F-AA9C-B346ECDD770F}" type="presParOf" srcId="{5C4BF7FF-C88D-4931-BDF6-84FA659DE366}" destId="{B15731DA-FEEB-46C7-A198-216961960708}" srcOrd="0" destOrd="0" presId="urn:microsoft.com/office/officeart/2005/8/layout/hierarchy1"/>
    <dgm:cxn modelId="{3974F125-EDDB-4342-8387-88BB1AF28FCD}" type="presParOf" srcId="{5C4BF7FF-C88D-4931-BDF6-84FA659DE366}" destId="{6CCBD72B-B9CF-4427-AF13-8FFA0C227E7D}" srcOrd="1" destOrd="0" presId="urn:microsoft.com/office/officeart/2005/8/layout/hierarchy1"/>
    <dgm:cxn modelId="{B3974820-6486-45B9-9900-02FA3E0BBB92}" type="presParOf" srcId="{674EC244-6E44-4F6C-95DA-C93EC195079A}" destId="{D139EC37-CEA4-489B-8700-6C335C23DAB3}" srcOrd="1" destOrd="0" presId="urn:microsoft.com/office/officeart/2005/8/layout/hierarchy1"/>
    <dgm:cxn modelId="{09560DEB-67A0-4DAD-85F2-862F83E113DF}" type="presParOf" srcId="{1330DADC-AA72-4FEA-BA2C-DE8D2B8C3B6B}" destId="{8968C461-2DD5-4B53-A594-01A4BD8C9609}" srcOrd="2" destOrd="0" presId="urn:microsoft.com/office/officeart/2005/8/layout/hierarchy1"/>
    <dgm:cxn modelId="{4D4D869D-FA96-4364-BFEE-5B5E5C3D1982}" type="presParOf" srcId="{8968C461-2DD5-4B53-A594-01A4BD8C9609}" destId="{BAAC6FA5-7CD2-4680-B30C-1CBA20A6F81D}" srcOrd="0" destOrd="0" presId="urn:microsoft.com/office/officeart/2005/8/layout/hierarchy1"/>
    <dgm:cxn modelId="{1BDFE5AF-65F5-42B7-BA04-67CB0678F98A}" type="presParOf" srcId="{BAAC6FA5-7CD2-4680-B30C-1CBA20A6F81D}" destId="{64B1D4BD-D947-40D9-90A9-EDC76CB4DBD5}" srcOrd="0" destOrd="0" presId="urn:microsoft.com/office/officeart/2005/8/layout/hierarchy1"/>
    <dgm:cxn modelId="{81540305-7D77-47E7-9AA1-E6D8A16C47FB}" type="presParOf" srcId="{BAAC6FA5-7CD2-4680-B30C-1CBA20A6F81D}" destId="{BCA5C91D-CCB6-40E0-9398-C5435006E13A}" srcOrd="1" destOrd="0" presId="urn:microsoft.com/office/officeart/2005/8/layout/hierarchy1"/>
    <dgm:cxn modelId="{05490052-05F6-4883-B5D4-8432A58C6B00}" type="presParOf" srcId="{8968C461-2DD5-4B53-A594-01A4BD8C9609}" destId="{478A713A-AEF8-4ADA-9BD9-346B63B5842A}" srcOrd="1" destOrd="0" presId="urn:microsoft.com/office/officeart/2005/8/layout/hierarchy1"/>
    <dgm:cxn modelId="{A63D3227-0EF4-4563-974F-B91E544C9FFD}" type="presParOf" srcId="{1330DADC-AA72-4FEA-BA2C-DE8D2B8C3B6B}" destId="{F6CF7012-FD7A-42C2-BABA-3F068DB53A8F}" srcOrd="3" destOrd="0" presId="urn:microsoft.com/office/officeart/2005/8/layout/hierarchy1"/>
    <dgm:cxn modelId="{52883AA5-57C2-4F99-A07B-971A2A410D29}" type="presParOf" srcId="{F6CF7012-FD7A-42C2-BABA-3F068DB53A8F}" destId="{A176A243-E37D-460C-BED1-768065D23C11}" srcOrd="0" destOrd="0" presId="urn:microsoft.com/office/officeart/2005/8/layout/hierarchy1"/>
    <dgm:cxn modelId="{0DA423A9-D09E-4B01-96AF-FABBF4BD6B34}" type="presParOf" srcId="{A176A243-E37D-460C-BED1-768065D23C11}" destId="{28E1983F-7825-436E-85AF-6AD2708954CE}" srcOrd="0" destOrd="0" presId="urn:microsoft.com/office/officeart/2005/8/layout/hierarchy1"/>
    <dgm:cxn modelId="{C6996C2A-64B0-45D7-BA08-7C0C63F5509E}" type="presParOf" srcId="{A176A243-E37D-460C-BED1-768065D23C11}" destId="{4F517CE9-3559-44A4-8B0E-94ADA86685D9}" srcOrd="1" destOrd="0" presId="urn:microsoft.com/office/officeart/2005/8/layout/hierarchy1"/>
    <dgm:cxn modelId="{C1EDCE56-3120-4336-9BD1-207DA53005D1}" type="presParOf" srcId="{F6CF7012-FD7A-42C2-BABA-3F068DB53A8F}" destId="{A9BA66BF-AD9F-4006-A051-4FF6F2706FBB}"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540A27-D0B8-49F1-A085-5BA41FB30F11}">
      <dsp:nvSpPr>
        <dsp:cNvPr id="0" name=""/>
        <dsp:cNvSpPr/>
      </dsp:nvSpPr>
      <dsp:spPr>
        <a:xfrm>
          <a:off x="122738" y="340752"/>
          <a:ext cx="778215" cy="7782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9EF925-9A1C-47C9-AAEB-10274051EF3F}">
      <dsp:nvSpPr>
        <dsp:cNvPr id="0" name=""/>
        <dsp:cNvSpPr/>
      </dsp:nvSpPr>
      <dsp:spPr>
        <a:xfrm>
          <a:off x="286163" y="504177"/>
          <a:ext cx="451364" cy="45136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35220CD-A61E-4D1B-8BF6-5BAF16B9D456}">
      <dsp:nvSpPr>
        <dsp:cNvPr id="0" name=""/>
        <dsp:cNvSpPr/>
      </dsp:nvSpPr>
      <dsp:spPr>
        <a:xfrm>
          <a:off x="1067714" y="340752"/>
          <a:ext cx="1834365" cy="7782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a:t>Develop a machine learning model to predict detail holding type using ExternalName</a:t>
          </a:r>
        </a:p>
      </dsp:txBody>
      <dsp:txXfrm>
        <a:off x="1067714" y="340752"/>
        <a:ext cx="1834365" cy="778215"/>
      </dsp:txXfrm>
    </dsp:sp>
    <dsp:sp modelId="{2CA27DA3-CA8E-4230-88CF-3D6D60823E86}">
      <dsp:nvSpPr>
        <dsp:cNvPr id="0" name=""/>
        <dsp:cNvSpPr/>
      </dsp:nvSpPr>
      <dsp:spPr>
        <a:xfrm>
          <a:off x="3221703" y="340752"/>
          <a:ext cx="778215" cy="7782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78B9925-25A1-4965-BD1A-A004DA089644}">
      <dsp:nvSpPr>
        <dsp:cNvPr id="0" name=""/>
        <dsp:cNvSpPr/>
      </dsp:nvSpPr>
      <dsp:spPr>
        <a:xfrm>
          <a:off x="3385128" y="504177"/>
          <a:ext cx="451364" cy="45136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4E76B05-FCF0-469F-901C-2AF87CEE680B}">
      <dsp:nvSpPr>
        <dsp:cNvPr id="0" name=""/>
        <dsp:cNvSpPr/>
      </dsp:nvSpPr>
      <dsp:spPr>
        <a:xfrm>
          <a:off x="4166679" y="340752"/>
          <a:ext cx="1834365" cy="7782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a:t>Compute and analyze prediction quality &amp; computation efficiency of modeling approaches</a:t>
          </a:r>
        </a:p>
      </dsp:txBody>
      <dsp:txXfrm>
        <a:off x="4166679" y="340752"/>
        <a:ext cx="1834365" cy="778215"/>
      </dsp:txXfrm>
    </dsp:sp>
    <dsp:sp modelId="{708875DE-8268-40E7-AE52-58EC03877C0B}">
      <dsp:nvSpPr>
        <dsp:cNvPr id="0" name=""/>
        <dsp:cNvSpPr/>
      </dsp:nvSpPr>
      <dsp:spPr>
        <a:xfrm>
          <a:off x="122738" y="1895855"/>
          <a:ext cx="778215" cy="7782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B6C7BD6-23CC-4359-BC2C-16BF83AB1311}">
      <dsp:nvSpPr>
        <dsp:cNvPr id="0" name=""/>
        <dsp:cNvSpPr/>
      </dsp:nvSpPr>
      <dsp:spPr>
        <a:xfrm>
          <a:off x="286163" y="2059281"/>
          <a:ext cx="451364" cy="45136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253FE54-C770-4370-9985-5781D1007A22}">
      <dsp:nvSpPr>
        <dsp:cNvPr id="0" name=""/>
        <dsp:cNvSpPr/>
      </dsp:nvSpPr>
      <dsp:spPr>
        <a:xfrm>
          <a:off x="1067714" y="1895855"/>
          <a:ext cx="1834365" cy="7782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a:t>Enhance Match APIs ability to subset and route holdings data to reduce false positives and improve overall match precision </a:t>
          </a:r>
        </a:p>
      </dsp:txBody>
      <dsp:txXfrm>
        <a:off x="1067714" y="1895855"/>
        <a:ext cx="1834365" cy="778215"/>
      </dsp:txXfrm>
    </dsp:sp>
    <dsp:sp modelId="{22ACDACC-7E77-4622-B063-B5E44FB0A328}">
      <dsp:nvSpPr>
        <dsp:cNvPr id="0" name=""/>
        <dsp:cNvSpPr/>
      </dsp:nvSpPr>
      <dsp:spPr>
        <a:xfrm>
          <a:off x="3221703" y="1895855"/>
          <a:ext cx="778215" cy="7782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BAAA6E-DE09-41CD-BD8A-3EC150045736}">
      <dsp:nvSpPr>
        <dsp:cNvPr id="0" name=""/>
        <dsp:cNvSpPr/>
      </dsp:nvSpPr>
      <dsp:spPr>
        <a:xfrm>
          <a:off x="3385128" y="2059281"/>
          <a:ext cx="451364" cy="45136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EC8B52F-65B8-4FB0-9FB7-FF481A1C0172}">
      <dsp:nvSpPr>
        <dsp:cNvPr id="0" name=""/>
        <dsp:cNvSpPr/>
      </dsp:nvSpPr>
      <dsp:spPr>
        <a:xfrm>
          <a:off x="4166679" y="1895855"/>
          <a:ext cx="1834365" cy="7782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a:t>Create a model which can be easily updated with new data</a:t>
          </a:r>
        </a:p>
      </dsp:txBody>
      <dsp:txXfrm>
        <a:off x="4166679" y="1895855"/>
        <a:ext cx="1834365" cy="778215"/>
      </dsp:txXfrm>
    </dsp:sp>
    <dsp:sp modelId="{EF190301-06CA-4997-887D-2D2E9CC92FC5}">
      <dsp:nvSpPr>
        <dsp:cNvPr id="0" name=""/>
        <dsp:cNvSpPr/>
      </dsp:nvSpPr>
      <dsp:spPr>
        <a:xfrm>
          <a:off x="122738" y="3450958"/>
          <a:ext cx="778215" cy="7782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E7F0B5-83C0-4052-9E42-0B26E26D619E}">
      <dsp:nvSpPr>
        <dsp:cNvPr id="0" name=""/>
        <dsp:cNvSpPr/>
      </dsp:nvSpPr>
      <dsp:spPr>
        <a:xfrm>
          <a:off x="286163" y="3614384"/>
          <a:ext cx="451364" cy="45136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AF80923-BF4F-4C1F-BEFC-03700E351E2B}">
      <dsp:nvSpPr>
        <dsp:cNvPr id="0" name=""/>
        <dsp:cNvSpPr/>
      </dsp:nvSpPr>
      <dsp:spPr>
        <a:xfrm>
          <a:off x="1067714" y="3450958"/>
          <a:ext cx="1834365" cy="7782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a:t>Deliver insights for further improvements</a:t>
          </a:r>
        </a:p>
      </dsp:txBody>
      <dsp:txXfrm>
        <a:off x="1067714" y="3450958"/>
        <a:ext cx="1834365" cy="77821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5BFD64-8234-4864-A386-E40982F3B04C}">
      <dsp:nvSpPr>
        <dsp:cNvPr id="0" name=""/>
        <dsp:cNvSpPr/>
      </dsp:nvSpPr>
      <dsp:spPr>
        <a:xfrm>
          <a:off x="3136135" y="777146"/>
          <a:ext cx="597588" cy="91440"/>
        </a:xfrm>
        <a:custGeom>
          <a:avLst/>
          <a:gdLst/>
          <a:ahLst/>
          <a:cxnLst/>
          <a:rect l="0" t="0" r="0" b="0"/>
          <a:pathLst>
            <a:path>
              <a:moveTo>
                <a:pt x="0" y="45720"/>
              </a:moveTo>
              <a:lnTo>
                <a:pt x="597588" y="45720"/>
              </a:lnTo>
            </a:path>
          </a:pathLst>
        </a:custGeom>
        <a:noFill/>
        <a:ln w="28575" cap="flat" cmpd="sng" algn="ctr">
          <a:solidFill>
            <a:srgbClr val="FF0000"/>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419225" y="819725"/>
        <a:ext cx="31409" cy="6281"/>
      </dsp:txXfrm>
    </dsp:sp>
    <dsp:sp modelId="{DF185DBF-7ABC-4B48-8081-2A9A23BF6628}">
      <dsp:nvSpPr>
        <dsp:cNvPr id="0" name=""/>
        <dsp:cNvSpPr/>
      </dsp:nvSpPr>
      <dsp:spPr>
        <a:xfrm>
          <a:off x="406681" y="3490"/>
          <a:ext cx="2731254" cy="1638752"/>
        </a:xfrm>
        <a:prstGeom prst="rect">
          <a:avLst/>
        </a:prstGeom>
        <a:solidFill>
          <a:schemeClr val="tx1">
            <a:lumMod val="95000"/>
            <a:lumOff val="500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33834" tIns="140482" rIns="133834" bIns="140482" numCol="1" spcCol="1270" anchor="ctr" anchorCtr="0">
          <a:noAutofit/>
        </a:bodyPr>
        <a:lstStyle/>
        <a:p>
          <a:pPr marL="0" lvl="0" indent="0" algn="ctr" defTabSz="800100">
            <a:lnSpc>
              <a:spcPct val="90000"/>
            </a:lnSpc>
            <a:spcBef>
              <a:spcPct val="0"/>
            </a:spcBef>
            <a:spcAft>
              <a:spcPct val="35000"/>
            </a:spcAft>
            <a:buNone/>
          </a:pPr>
          <a:r>
            <a:rPr lang="en-US" sz="1800" kern="1200"/>
            <a:t>Input: </a:t>
          </a:r>
          <a:r>
            <a:rPr lang="en-US" sz="1800" i="1" kern="1200"/>
            <a:t>ExternalName</a:t>
          </a:r>
          <a:r>
            <a:rPr lang="en-US" sz="1800" kern="1200"/>
            <a:t> converted into numeric TF-IDF features and removed rare BD external names</a:t>
          </a:r>
        </a:p>
      </dsp:txBody>
      <dsp:txXfrm>
        <a:off x="406681" y="3490"/>
        <a:ext cx="2731254" cy="1638752"/>
      </dsp:txXfrm>
    </dsp:sp>
    <dsp:sp modelId="{85EE5E1F-ABF1-4503-9079-F1DD2CDDA52F}">
      <dsp:nvSpPr>
        <dsp:cNvPr id="0" name=""/>
        <dsp:cNvSpPr/>
      </dsp:nvSpPr>
      <dsp:spPr>
        <a:xfrm>
          <a:off x="6495578" y="777146"/>
          <a:ext cx="597588" cy="91440"/>
        </a:xfrm>
        <a:custGeom>
          <a:avLst/>
          <a:gdLst/>
          <a:ahLst/>
          <a:cxnLst/>
          <a:rect l="0" t="0" r="0" b="0"/>
          <a:pathLst>
            <a:path>
              <a:moveTo>
                <a:pt x="0" y="45720"/>
              </a:moveTo>
              <a:lnTo>
                <a:pt x="597588" y="45720"/>
              </a:lnTo>
            </a:path>
          </a:pathLst>
        </a:custGeom>
        <a:noFill/>
        <a:ln w="28575" cap="flat" cmpd="sng" algn="ctr">
          <a:solidFill>
            <a:srgbClr val="FF0000"/>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778668" y="819725"/>
        <a:ext cx="31409" cy="6281"/>
      </dsp:txXfrm>
    </dsp:sp>
    <dsp:sp modelId="{087E1610-D5DA-4693-9A1B-7A30586BF4D3}">
      <dsp:nvSpPr>
        <dsp:cNvPr id="0" name=""/>
        <dsp:cNvSpPr/>
      </dsp:nvSpPr>
      <dsp:spPr>
        <a:xfrm>
          <a:off x="3766124" y="3490"/>
          <a:ext cx="2731254" cy="1638752"/>
        </a:xfrm>
        <a:prstGeom prst="rect">
          <a:avLst/>
        </a:prstGeom>
        <a:solidFill>
          <a:schemeClr val="tx1">
            <a:lumMod val="85000"/>
            <a:lumOff val="1500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33834" tIns="140482" rIns="133834" bIns="140482" numCol="1" spcCol="1270" anchor="ctr" anchorCtr="0">
          <a:noAutofit/>
        </a:bodyPr>
        <a:lstStyle/>
        <a:p>
          <a:pPr marL="0" lvl="0" indent="0" algn="ctr" defTabSz="800100">
            <a:lnSpc>
              <a:spcPct val="90000"/>
            </a:lnSpc>
            <a:spcBef>
              <a:spcPct val="0"/>
            </a:spcBef>
            <a:spcAft>
              <a:spcPct val="35000"/>
            </a:spcAft>
            <a:buNone/>
          </a:pPr>
          <a:r>
            <a:rPr lang="en-US" sz="1800" kern="1200"/>
            <a:t>Data Split: 70% training and 30% testing)</a:t>
          </a:r>
        </a:p>
      </dsp:txBody>
      <dsp:txXfrm>
        <a:off x="3766124" y="3490"/>
        <a:ext cx="2731254" cy="1638752"/>
      </dsp:txXfrm>
    </dsp:sp>
    <dsp:sp modelId="{9B656119-F8AC-40C5-B78F-3B2B9E2926E8}">
      <dsp:nvSpPr>
        <dsp:cNvPr id="0" name=""/>
        <dsp:cNvSpPr/>
      </dsp:nvSpPr>
      <dsp:spPr>
        <a:xfrm>
          <a:off x="1772308" y="1640442"/>
          <a:ext cx="6718885" cy="597588"/>
        </a:xfrm>
        <a:custGeom>
          <a:avLst/>
          <a:gdLst/>
          <a:ahLst/>
          <a:cxnLst/>
          <a:rect l="0" t="0" r="0" b="0"/>
          <a:pathLst>
            <a:path>
              <a:moveTo>
                <a:pt x="6718885" y="0"/>
              </a:moveTo>
              <a:lnTo>
                <a:pt x="6718885" y="315894"/>
              </a:lnTo>
              <a:lnTo>
                <a:pt x="0" y="315894"/>
              </a:lnTo>
              <a:lnTo>
                <a:pt x="0" y="597588"/>
              </a:lnTo>
            </a:path>
          </a:pathLst>
        </a:custGeom>
        <a:noFill/>
        <a:ln w="28575" cap="flat" cmpd="sng" algn="ctr">
          <a:solidFill>
            <a:srgbClr val="FF0000"/>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963046" y="1936096"/>
        <a:ext cx="337409" cy="6281"/>
      </dsp:txXfrm>
    </dsp:sp>
    <dsp:sp modelId="{53F53513-9C60-44BC-A3F8-96A23F50997F}">
      <dsp:nvSpPr>
        <dsp:cNvPr id="0" name=""/>
        <dsp:cNvSpPr/>
      </dsp:nvSpPr>
      <dsp:spPr>
        <a:xfrm>
          <a:off x="7125567" y="3490"/>
          <a:ext cx="2731254" cy="1638752"/>
        </a:xfrm>
        <a:prstGeom prst="rect">
          <a:avLst/>
        </a:prstGeom>
        <a:solidFill>
          <a:schemeClr val="bg2">
            <a:lumMod val="2500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33834" tIns="140482" rIns="133834" bIns="140482" numCol="1" spcCol="1270" anchor="ctr" anchorCtr="0">
          <a:noAutofit/>
        </a:bodyPr>
        <a:lstStyle/>
        <a:p>
          <a:pPr marL="0" lvl="0" indent="0" algn="ctr" defTabSz="800100">
            <a:lnSpc>
              <a:spcPct val="90000"/>
            </a:lnSpc>
            <a:spcBef>
              <a:spcPct val="0"/>
            </a:spcBef>
            <a:spcAft>
              <a:spcPct val="35000"/>
            </a:spcAft>
            <a:buNone/>
          </a:pPr>
          <a:r>
            <a:rPr lang="en-US" sz="1800" kern="1200"/>
            <a:t>Algorithm Used: </a:t>
          </a:r>
          <a:r>
            <a:rPr lang="en-US" sz="1800" kern="1200" err="1"/>
            <a:t>XGBoost</a:t>
          </a:r>
          <a:r>
            <a:rPr lang="en-US" sz="1800" kern="1200"/>
            <a:t> (Name-Only Classification)</a:t>
          </a:r>
        </a:p>
      </dsp:txBody>
      <dsp:txXfrm>
        <a:off x="7125567" y="3490"/>
        <a:ext cx="2731254" cy="1638752"/>
      </dsp:txXfrm>
    </dsp:sp>
    <dsp:sp modelId="{BA546090-49C2-49D6-AB33-31C5AA00819A}">
      <dsp:nvSpPr>
        <dsp:cNvPr id="0" name=""/>
        <dsp:cNvSpPr/>
      </dsp:nvSpPr>
      <dsp:spPr>
        <a:xfrm>
          <a:off x="3136135" y="3044087"/>
          <a:ext cx="597588" cy="91440"/>
        </a:xfrm>
        <a:custGeom>
          <a:avLst/>
          <a:gdLst/>
          <a:ahLst/>
          <a:cxnLst/>
          <a:rect l="0" t="0" r="0" b="0"/>
          <a:pathLst>
            <a:path>
              <a:moveTo>
                <a:pt x="0" y="45720"/>
              </a:moveTo>
              <a:lnTo>
                <a:pt x="597588" y="45720"/>
              </a:lnTo>
            </a:path>
          </a:pathLst>
        </a:custGeom>
        <a:noFill/>
        <a:ln w="28575" cap="flat" cmpd="sng" algn="ctr">
          <a:solidFill>
            <a:srgbClr val="FF0000"/>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419225" y="3086666"/>
        <a:ext cx="31409" cy="6281"/>
      </dsp:txXfrm>
    </dsp:sp>
    <dsp:sp modelId="{0E7D00BE-E444-482F-AB9B-9BBE37A9D9BF}">
      <dsp:nvSpPr>
        <dsp:cNvPr id="0" name=""/>
        <dsp:cNvSpPr/>
      </dsp:nvSpPr>
      <dsp:spPr>
        <a:xfrm>
          <a:off x="406681" y="2270431"/>
          <a:ext cx="2731254" cy="1638752"/>
        </a:xfrm>
        <a:prstGeom prst="rect">
          <a:avLst/>
        </a:prstGeom>
        <a:solidFill>
          <a:schemeClr val="tx1">
            <a:lumMod val="75000"/>
            <a:lumOff val="2500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33834" tIns="140482" rIns="133834" bIns="140482" numCol="1" spcCol="1270" anchor="ctr" anchorCtr="0">
          <a:noAutofit/>
        </a:bodyPr>
        <a:lstStyle/>
        <a:p>
          <a:pPr marL="0" lvl="0" indent="0" algn="ctr" defTabSz="800100">
            <a:lnSpc>
              <a:spcPct val="90000"/>
            </a:lnSpc>
            <a:spcBef>
              <a:spcPct val="0"/>
            </a:spcBef>
            <a:spcAft>
              <a:spcPct val="35000"/>
            </a:spcAft>
            <a:buNone/>
          </a:pPr>
          <a:r>
            <a:rPr lang="en-US" sz="1800" kern="1200"/>
            <a:t>Created both word-level (1–2 grams) and character-level (3–5 grams) features</a:t>
          </a:r>
        </a:p>
      </dsp:txBody>
      <dsp:txXfrm>
        <a:off x="406681" y="2270431"/>
        <a:ext cx="2731254" cy="1638752"/>
      </dsp:txXfrm>
    </dsp:sp>
    <dsp:sp modelId="{D7EDF552-D4DB-4FC9-BCDB-535E8DBAAE8E}">
      <dsp:nvSpPr>
        <dsp:cNvPr id="0" name=""/>
        <dsp:cNvSpPr/>
      </dsp:nvSpPr>
      <dsp:spPr>
        <a:xfrm>
          <a:off x="6495578" y="3044087"/>
          <a:ext cx="597588" cy="91440"/>
        </a:xfrm>
        <a:custGeom>
          <a:avLst/>
          <a:gdLst/>
          <a:ahLst/>
          <a:cxnLst/>
          <a:rect l="0" t="0" r="0" b="0"/>
          <a:pathLst>
            <a:path>
              <a:moveTo>
                <a:pt x="0" y="45720"/>
              </a:moveTo>
              <a:lnTo>
                <a:pt x="597588" y="45720"/>
              </a:lnTo>
            </a:path>
          </a:pathLst>
        </a:custGeom>
        <a:noFill/>
        <a:ln w="28575" cap="flat" cmpd="sng" algn="ctr">
          <a:solidFill>
            <a:srgbClr val="FF0000"/>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778668" y="3086666"/>
        <a:ext cx="31409" cy="6281"/>
      </dsp:txXfrm>
    </dsp:sp>
    <dsp:sp modelId="{EC589498-7FC2-4AB5-A38F-A0A9A448B506}">
      <dsp:nvSpPr>
        <dsp:cNvPr id="0" name=""/>
        <dsp:cNvSpPr/>
      </dsp:nvSpPr>
      <dsp:spPr>
        <a:xfrm>
          <a:off x="3766124" y="2270431"/>
          <a:ext cx="2731254" cy="1638752"/>
        </a:xfrm>
        <a:prstGeom prst="rect">
          <a:avLst/>
        </a:prstGeom>
        <a:solidFill>
          <a:schemeClr val="tx1">
            <a:lumMod val="65000"/>
            <a:lumOff val="3500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33834" tIns="140482" rIns="133834" bIns="140482" numCol="1" spcCol="1270" anchor="ctr" anchorCtr="0">
          <a:noAutofit/>
        </a:bodyPr>
        <a:lstStyle/>
        <a:p>
          <a:pPr marL="0" lvl="0" indent="0" algn="ctr" defTabSz="800100">
            <a:lnSpc>
              <a:spcPct val="90000"/>
            </a:lnSpc>
            <a:spcBef>
              <a:spcPct val="0"/>
            </a:spcBef>
            <a:spcAft>
              <a:spcPct val="35000"/>
            </a:spcAft>
            <a:buNone/>
          </a:pPr>
          <a:r>
            <a:rPr lang="en-US" sz="1800" kern="1200"/>
            <a:t>Applied TF-IDF to highlight important and meaningful terms</a:t>
          </a:r>
        </a:p>
      </dsp:txBody>
      <dsp:txXfrm>
        <a:off x="3766124" y="2270431"/>
        <a:ext cx="2731254" cy="1638752"/>
      </dsp:txXfrm>
    </dsp:sp>
    <dsp:sp modelId="{EFCD4AD4-08E2-4A1B-BB5C-58A6EAC9C72A}">
      <dsp:nvSpPr>
        <dsp:cNvPr id="0" name=""/>
        <dsp:cNvSpPr/>
      </dsp:nvSpPr>
      <dsp:spPr>
        <a:xfrm>
          <a:off x="7125567" y="2270431"/>
          <a:ext cx="2731254" cy="1638752"/>
        </a:xfrm>
        <a:prstGeom prst="rect">
          <a:avLst/>
        </a:prstGeom>
        <a:solidFill>
          <a:srgbClr val="777777"/>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33834" tIns="140482" rIns="133834" bIns="140482" numCol="1" spcCol="1270" anchor="ctr" anchorCtr="0">
          <a:noAutofit/>
        </a:bodyPr>
        <a:lstStyle/>
        <a:p>
          <a:pPr marL="0" lvl="0" indent="0" algn="ctr" defTabSz="800100">
            <a:lnSpc>
              <a:spcPct val="90000"/>
            </a:lnSpc>
            <a:spcBef>
              <a:spcPct val="0"/>
            </a:spcBef>
            <a:spcAft>
              <a:spcPct val="35000"/>
            </a:spcAft>
            <a:buNone/>
          </a:pPr>
          <a:r>
            <a:rPr lang="en-US" sz="1800" kern="1200"/>
            <a:t>Output: </a:t>
          </a:r>
          <a:r>
            <a:rPr lang="en-US" sz="1800" i="1" kern="1200"/>
            <a:t>DetailHoldingTypeId</a:t>
          </a:r>
          <a:r>
            <a:rPr lang="en-US" sz="1800" kern="1200"/>
            <a:t> (101 unique classes)</a:t>
          </a:r>
        </a:p>
      </dsp:txBody>
      <dsp:txXfrm>
        <a:off x="7125567" y="2270431"/>
        <a:ext cx="2731254" cy="163875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BE47A7-1984-4967-ACBB-59D031D99EDE}">
      <dsp:nvSpPr>
        <dsp:cNvPr id="0" name=""/>
        <dsp:cNvSpPr/>
      </dsp:nvSpPr>
      <dsp:spPr>
        <a:xfrm>
          <a:off x="0" y="1418"/>
          <a:ext cx="5198542" cy="842532"/>
        </a:xfrm>
        <a:prstGeom prst="roundRect">
          <a:avLst/>
        </a:prstGeom>
        <a:solidFill>
          <a:schemeClr val="bg1"/>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endParaRPr lang="en-US" sz="1800" u="none" kern="1200">
            <a:solidFill>
              <a:schemeClr val="tx1"/>
            </a:solidFill>
          </a:endParaRPr>
        </a:p>
        <a:p>
          <a:pPr marL="0" lvl="0" indent="0" algn="l" defTabSz="800100">
            <a:lnSpc>
              <a:spcPct val="90000"/>
            </a:lnSpc>
            <a:spcBef>
              <a:spcPct val="0"/>
            </a:spcBef>
            <a:spcAft>
              <a:spcPct val="35000"/>
            </a:spcAft>
            <a:buNone/>
          </a:pPr>
          <a:r>
            <a:rPr lang="en-US" sz="1800" u="none" kern="1200">
              <a:solidFill>
                <a:schemeClr val="tx1"/>
              </a:solidFill>
            </a:rPr>
            <a:t>Converted labels to numeric (factor) format</a:t>
          </a:r>
        </a:p>
      </dsp:txBody>
      <dsp:txXfrm>
        <a:off x="41129" y="42547"/>
        <a:ext cx="5116284" cy="760274"/>
      </dsp:txXfrm>
    </dsp:sp>
    <dsp:sp modelId="{2367971E-4942-4D82-BEF8-1B4E0E065E85}">
      <dsp:nvSpPr>
        <dsp:cNvPr id="0" name=""/>
        <dsp:cNvSpPr/>
      </dsp:nvSpPr>
      <dsp:spPr>
        <a:xfrm>
          <a:off x="0" y="854770"/>
          <a:ext cx="5198542" cy="842532"/>
        </a:xfrm>
        <a:prstGeom prst="roundRect">
          <a:avLst/>
        </a:prstGeom>
        <a:solidFill>
          <a:schemeClr val="bg1"/>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solidFill>
                <a:schemeClr val="tx1"/>
              </a:solidFill>
            </a:rPr>
            <a:t>Built </a:t>
          </a:r>
          <a:r>
            <a:rPr lang="en-US" sz="1800" kern="1200" err="1">
              <a:solidFill>
                <a:schemeClr val="tx1"/>
              </a:solidFill>
            </a:rPr>
            <a:t>DMatrix</a:t>
          </a:r>
          <a:r>
            <a:rPr lang="en-US" sz="1800" kern="1200">
              <a:solidFill>
                <a:schemeClr val="tx1"/>
              </a:solidFill>
            </a:rPr>
            <a:t> for faster </a:t>
          </a:r>
          <a:r>
            <a:rPr lang="en-US" sz="1800" kern="1200" err="1">
              <a:solidFill>
                <a:schemeClr val="tx1"/>
              </a:solidFill>
            </a:rPr>
            <a:t>XGBoost</a:t>
          </a:r>
          <a:r>
            <a:rPr lang="en-US" sz="1800" kern="1200">
              <a:solidFill>
                <a:schemeClr val="tx1"/>
              </a:solidFill>
            </a:rPr>
            <a:t> processing</a:t>
          </a:r>
        </a:p>
      </dsp:txBody>
      <dsp:txXfrm>
        <a:off x="41129" y="895899"/>
        <a:ext cx="5116284" cy="760274"/>
      </dsp:txXfrm>
    </dsp:sp>
    <dsp:sp modelId="{C0CE93A0-2D2C-4EE2-9CE5-963ABE5F5338}">
      <dsp:nvSpPr>
        <dsp:cNvPr id="0" name=""/>
        <dsp:cNvSpPr/>
      </dsp:nvSpPr>
      <dsp:spPr>
        <a:xfrm>
          <a:off x="0" y="1708652"/>
          <a:ext cx="5198542" cy="842532"/>
        </a:xfrm>
        <a:prstGeom prst="roundRect">
          <a:avLst/>
        </a:prstGeom>
        <a:solidFill>
          <a:schemeClr val="bg1"/>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solidFill>
                <a:schemeClr val="tx1"/>
              </a:solidFill>
            </a:rPr>
            <a:t>Objective: </a:t>
          </a:r>
          <a:r>
            <a:rPr lang="en-US" sz="1800" kern="1200" err="1">
              <a:solidFill>
                <a:schemeClr val="tx1"/>
              </a:solidFill>
            </a:rPr>
            <a:t>multi:softprob</a:t>
          </a:r>
          <a:r>
            <a:rPr lang="en-US" sz="1800" kern="1200">
              <a:solidFill>
                <a:schemeClr val="tx1"/>
              </a:solidFill>
            </a:rPr>
            <a:t> Metrics: </a:t>
          </a:r>
          <a:r>
            <a:rPr lang="en-US" sz="1800" kern="1200" err="1">
              <a:solidFill>
                <a:schemeClr val="tx1"/>
              </a:solidFill>
            </a:rPr>
            <a:t>mlogloss</a:t>
          </a:r>
          <a:r>
            <a:rPr lang="en-US" sz="1800" kern="1200">
              <a:solidFill>
                <a:schemeClr val="tx1"/>
              </a:solidFill>
            </a:rPr>
            <a:t>, </a:t>
          </a:r>
          <a:r>
            <a:rPr lang="en-US" sz="1800" kern="1200" err="1">
              <a:solidFill>
                <a:schemeClr val="tx1"/>
              </a:solidFill>
            </a:rPr>
            <a:t>merror</a:t>
          </a:r>
          <a:endParaRPr lang="en-US" sz="1800" kern="1200">
            <a:solidFill>
              <a:schemeClr val="tx1"/>
            </a:solidFill>
          </a:endParaRPr>
        </a:p>
      </dsp:txBody>
      <dsp:txXfrm>
        <a:off x="41129" y="1749781"/>
        <a:ext cx="5116284" cy="760274"/>
      </dsp:txXfrm>
    </dsp:sp>
    <dsp:sp modelId="{0DAA83C9-8A7B-41DF-8BC7-C98E8199D0A8}">
      <dsp:nvSpPr>
        <dsp:cNvPr id="0" name=""/>
        <dsp:cNvSpPr/>
      </dsp:nvSpPr>
      <dsp:spPr>
        <a:xfrm>
          <a:off x="0" y="2562533"/>
          <a:ext cx="5198542" cy="842532"/>
        </a:xfrm>
        <a:prstGeom prst="roundRect">
          <a:avLst/>
        </a:prstGeom>
        <a:solidFill>
          <a:schemeClr val="bg1"/>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endParaRPr lang="en-US" sz="1800" kern="1200">
            <a:solidFill>
              <a:schemeClr val="tx1"/>
            </a:solidFill>
          </a:endParaRPr>
        </a:p>
        <a:p>
          <a:pPr marL="0" lvl="0" indent="0" algn="l" defTabSz="800100">
            <a:lnSpc>
              <a:spcPct val="90000"/>
            </a:lnSpc>
            <a:spcBef>
              <a:spcPct val="0"/>
            </a:spcBef>
            <a:spcAft>
              <a:spcPct val="35000"/>
            </a:spcAft>
            <a:buNone/>
          </a:pPr>
          <a:r>
            <a:rPr lang="en-US" sz="1800" kern="1200">
              <a:solidFill>
                <a:schemeClr val="tx1"/>
              </a:solidFill>
            </a:rPr>
            <a:t>Used train + validation watchlist to monitor learning</a:t>
          </a:r>
        </a:p>
      </dsp:txBody>
      <dsp:txXfrm>
        <a:off x="41129" y="2603662"/>
        <a:ext cx="5116284" cy="760274"/>
      </dsp:txXfrm>
    </dsp:sp>
    <dsp:sp modelId="{D9267F9F-AFB7-415B-80C4-6973495FA6D7}">
      <dsp:nvSpPr>
        <dsp:cNvPr id="0" name=""/>
        <dsp:cNvSpPr/>
      </dsp:nvSpPr>
      <dsp:spPr>
        <a:xfrm>
          <a:off x="0" y="3416414"/>
          <a:ext cx="5198542" cy="842532"/>
        </a:xfrm>
        <a:prstGeom prst="roundRect">
          <a:avLst/>
        </a:prstGeom>
        <a:solidFill>
          <a:schemeClr val="bg1"/>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endParaRPr lang="en-US" sz="1800" kern="1200">
            <a:solidFill>
              <a:schemeClr val="tx1"/>
            </a:solidFill>
          </a:endParaRPr>
        </a:p>
        <a:p>
          <a:pPr marL="0" lvl="0" indent="0" algn="l" defTabSz="800100">
            <a:lnSpc>
              <a:spcPct val="90000"/>
            </a:lnSpc>
            <a:spcBef>
              <a:spcPct val="0"/>
            </a:spcBef>
            <a:spcAft>
              <a:spcPct val="35000"/>
            </a:spcAft>
            <a:buNone/>
          </a:pPr>
          <a:r>
            <a:rPr lang="en-US" sz="1800" kern="1200">
              <a:solidFill>
                <a:schemeClr val="tx1"/>
              </a:solidFill>
            </a:rPr>
            <a:t>Trained until performance became stable and accurate</a:t>
          </a:r>
        </a:p>
      </dsp:txBody>
      <dsp:txXfrm>
        <a:off x="41129" y="3457543"/>
        <a:ext cx="5116284" cy="76027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C2DF24-83AE-4D8A-8E8C-E73579DF68D3}">
      <dsp:nvSpPr>
        <dsp:cNvPr id="0" name=""/>
        <dsp:cNvSpPr/>
      </dsp:nvSpPr>
      <dsp:spPr>
        <a:xfrm>
          <a:off x="3098" y="1268531"/>
          <a:ext cx="2212401" cy="140487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584A672A-4BBF-4B3E-BEE2-FABAF1E0399C}">
      <dsp:nvSpPr>
        <dsp:cNvPr id="0" name=""/>
        <dsp:cNvSpPr/>
      </dsp:nvSpPr>
      <dsp:spPr>
        <a:xfrm>
          <a:off x="248920" y="1502062"/>
          <a:ext cx="2212401" cy="1404874"/>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Model shows strong performance (93% accuracy, 0.93 Macro F1 score)</a:t>
          </a:r>
        </a:p>
      </dsp:txBody>
      <dsp:txXfrm>
        <a:off x="290067" y="1543209"/>
        <a:ext cx="2130107" cy="1322580"/>
      </dsp:txXfrm>
    </dsp:sp>
    <dsp:sp modelId="{E9F9D0FC-86C9-438C-AE55-912DCC6E897E}">
      <dsp:nvSpPr>
        <dsp:cNvPr id="0" name=""/>
        <dsp:cNvSpPr/>
      </dsp:nvSpPr>
      <dsp:spPr>
        <a:xfrm>
          <a:off x="2707144" y="1268531"/>
          <a:ext cx="2212401" cy="140487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9BFF419D-6C9F-4D7C-864F-836007C45FB1}">
      <dsp:nvSpPr>
        <dsp:cNvPr id="0" name=""/>
        <dsp:cNvSpPr/>
      </dsp:nvSpPr>
      <dsp:spPr>
        <a:xfrm>
          <a:off x="2952966" y="1502062"/>
          <a:ext cx="2212401" cy="1404874"/>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Reliable classification</a:t>
          </a:r>
        </a:p>
      </dsp:txBody>
      <dsp:txXfrm>
        <a:off x="2994113" y="1543209"/>
        <a:ext cx="2130107" cy="1322580"/>
      </dsp:txXfrm>
    </dsp:sp>
    <dsp:sp modelId="{E4807461-91BB-4A60-8A86-330D18589743}">
      <dsp:nvSpPr>
        <dsp:cNvPr id="0" name=""/>
        <dsp:cNvSpPr/>
      </dsp:nvSpPr>
      <dsp:spPr>
        <a:xfrm>
          <a:off x="5411190" y="1268531"/>
          <a:ext cx="2212401" cy="140487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8EEAF8E0-6992-44BF-806E-68A0263BFB9B}">
      <dsp:nvSpPr>
        <dsp:cNvPr id="0" name=""/>
        <dsp:cNvSpPr/>
      </dsp:nvSpPr>
      <dsp:spPr>
        <a:xfrm>
          <a:off x="5657012" y="1502062"/>
          <a:ext cx="2212401" cy="1404874"/>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Can reduce false positives and manual review in the Match API workflow</a:t>
          </a:r>
        </a:p>
      </dsp:txBody>
      <dsp:txXfrm>
        <a:off x="5698159" y="1543209"/>
        <a:ext cx="2130107" cy="1322580"/>
      </dsp:txXfrm>
    </dsp:sp>
    <dsp:sp modelId="{FB6BCD73-AA5A-431A-844F-46BD424CF5EE}">
      <dsp:nvSpPr>
        <dsp:cNvPr id="0" name=""/>
        <dsp:cNvSpPr/>
      </dsp:nvSpPr>
      <dsp:spPr>
        <a:xfrm>
          <a:off x="8115235" y="1268531"/>
          <a:ext cx="2212401" cy="140487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1B0DD7F9-019B-4DB7-93AC-4FCF1C639D39}">
      <dsp:nvSpPr>
        <dsp:cNvPr id="0" name=""/>
        <dsp:cNvSpPr/>
      </dsp:nvSpPr>
      <dsp:spPr>
        <a:xfrm>
          <a:off x="8361058" y="1502062"/>
          <a:ext cx="2212401" cy="1404874"/>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Provides scalable value</a:t>
          </a:r>
        </a:p>
      </dsp:txBody>
      <dsp:txXfrm>
        <a:off x="8402205" y="1543209"/>
        <a:ext cx="2130107" cy="132258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F90B02-BC38-47FD-B776-7B154DD9D16D}">
      <dsp:nvSpPr>
        <dsp:cNvPr id="0" name=""/>
        <dsp:cNvSpPr/>
      </dsp:nvSpPr>
      <dsp:spPr>
        <a:xfrm>
          <a:off x="3098" y="1268531"/>
          <a:ext cx="2212401" cy="140487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BE0E9AEA-9D08-4286-99DD-330CF052119B}">
      <dsp:nvSpPr>
        <dsp:cNvPr id="0" name=""/>
        <dsp:cNvSpPr/>
      </dsp:nvSpPr>
      <dsp:spPr>
        <a:xfrm>
          <a:off x="248920" y="1502062"/>
          <a:ext cx="2212401" cy="1404874"/>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Use as a pre-matching filter to subset holdings before full match processing</a:t>
          </a:r>
        </a:p>
      </dsp:txBody>
      <dsp:txXfrm>
        <a:off x="290067" y="1543209"/>
        <a:ext cx="2130107" cy="1322580"/>
      </dsp:txXfrm>
    </dsp:sp>
    <dsp:sp modelId="{B15731DA-FEEB-46C7-A198-216961960708}">
      <dsp:nvSpPr>
        <dsp:cNvPr id="0" name=""/>
        <dsp:cNvSpPr/>
      </dsp:nvSpPr>
      <dsp:spPr>
        <a:xfrm>
          <a:off x="2707144" y="1268531"/>
          <a:ext cx="2212401" cy="140487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6CCBD72B-B9CF-4427-AF13-8FFA0C227E7D}">
      <dsp:nvSpPr>
        <dsp:cNvPr id="0" name=""/>
        <dsp:cNvSpPr/>
      </dsp:nvSpPr>
      <dsp:spPr>
        <a:xfrm>
          <a:off x="2952966" y="1502062"/>
          <a:ext cx="2212401" cy="1404874"/>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Incorporate confidence-based routing </a:t>
          </a:r>
        </a:p>
      </dsp:txBody>
      <dsp:txXfrm>
        <a:off x="2994113" y="1543209"/>
        <a:ext cx="2130107" cy="1322580"/>
      </dsp:txXfrm>
    </dsp:sp>
    <dsp:sp modelId="{64B1D4BD-D947-40D9-90A9-EDC76CB4DBD5}">
      <dsp:nvSpPr>
        <dsp:cNvPr id="0" name=""/>
        <dsp:cNvSpPr/>
      </dsp:nvSpPr>
      <dsp:spPr>
        <a:xfrm>
          <a:off x="5411190" y="1268531"/>
          <a:ext cx="2212401" cy="140487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BCA5C91D-CCB6-40E0-9398-C5435006E13A}">
      <dsp:nvSpPr>
        <dsp:cNvPr id="0" name=""/>
        <dsp:cNvSpPr/>
      </dsp:nvSpPr>
      <dsp:spPr>
        <a:xfrm>
          <a:off x="5657012" y="1502062"/>
          <a:ext cx="2212401" cy="1404874"/>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Expose prediction confidence within user interface</a:t>
          </a:r>
        </a:p>
      </dsp:txBody>
      <dsp:txXfrm>
        <a:off x="5698159" y="1543209"/>
        <a:ext cx="2130107" cy="1322580"/>
      </dsp:txXfrm>
    </dsp:sp>
    <dsp:sp modelId="{28E1983F-7825-436E-85AF-6AD2708954CE}">
      <dsp:nvSpPr>
        <dsp:cNvPr id="0" name=""/>
        <dsp:cNvSpPr/>
      </dsp:nvSpPr>
      <dsp:spPr>
        <a:xfrm>
          <a:off x="8115235" y="1268531"/>
          <a:ext cx="2212401" cy="140487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4F517CE9-3559-44A4-8B0E-94ADA86685D9}">
      <dsp:nvSpPr>
        <dsp:cNvPr id="0" name=""/>
        <dsp:cNvSpPr/>
      </dsp:nvSpPr>
      <dsp:spPr>
        <a:xfrm>
          <a:off x="8361058" y="1502062"/>
          <a:ext cx="2212401" cy="1404874"/>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Monitor business impact to measure ROI and guide scaling</a:t>
          </a:r>
        </a:p>
      </dsp:txBody>
      <dsp:txXfrm>
        <a:off x="8402205" y="1543209"/>
        <a:ext cx="2130107" cy="1322580"/>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41E873-10B0-4C8B-AD77-7E797DEC9469}" type="datetimeFigureOut">
              <a:rPr lang="en-US" smtClean="0"/>
              <a:t>11/16/25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D87694-ED81-49CD-99D7-FE1A0D90F984}" type="slidenum">
              <a:rPr lang="en-US" smtClean="0"/>
              <a:t>‹#›</a:t>
            </a:fld>
            <a:endParaRPr lang="en-US"/>
          </a:p>
        </p:txBody>
      </p:sp>
    </p:spTree>
    <p:extLst>
      <p:ext uri="{BB962C8B-B14F-4D97-AF65-F5344CB8AC3E}">
        <p14:creationId xmlns:p14="http://schemas.microsoft.com/office/powerpoint/2010/main" val="37391062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5D87694-ED81-49CD-99D7-FE1A0D90F984}" type="slidenum">
              <a:rPr lang="en-US" smtClean="0"/>
              <a:t>2</a:t>
            </a:fld>
            <a:endParaRPr lang="en-US"/>
          </a:p>
        </p:txBody>
      </p:sp>
    </p:spTree>
    <p:extLst>
      <p:ext uri="{BB962C8B-B14F-4D97-AF65-F5344CB8AC3E}">
        <p14:creationId xmlns:p14="http://schemas.microsoft.com/office/powerpoint/2010/main" val="26253233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Point 1 – Provide independent insights on securities, funds, and portfolios to empower investor success</a:t>
            </a:r>
          </a:p>
          <a:p>
            <a:r>
              <a:rPr lang="en-US"/>
              <a:t>Point 2 – Morningstar continuously leverages machine learning and automation to enhance data accuracy, classification, and matching processes.</a:t>
            </a:r>
          </a:p>
          <a:p>
            <a:r>
              <a:rPr lang="en-US"/>
              <a:t>Point 3 – Platf</a:t>
            </a:r>
            <a:r>
              <a:rPr lang="en-US" b="0"/>
              <a:t>orms like Illume and Portfolio </a:t>
            </a:r>
            <a:r>
              <a:rPr lang="en-US" b="0" err="1"/>
              <a:t>DataManager</a:t>
            </a:r>
            <a:r>
              <a:rPr lang="en-US" b="0"/>
              <a:t> leverage Morningstar’s data and APIs to deliver accurate, efficient, and scalable investment insights.</a:t>
            </a:r>
          </a:p>
          <a:p>
            <a:r>
              <a:rPr lang="en-US" b="0"/>
              <a:t>Point 4 – Their mission is all about empowering investor success. </a:t>
            </a:r>
            <a:r>
              <a:rPr lang="en-US"/>
              <a:t>Morningstar’s tools and technology </a:t>
            </a:r>
            <a:r>
              <a:rPr lang="en-US" b="0"/>
              <a:t>support transparency, efficiency, and better decision-making </a:t>
            </a:r>
            <a:r>
              <a:rPr lang="en-US"/>
              <a:t>for investors and financial professionals worldwide.</a:t>
            </a:r>
            <a:endParaRPr lang="en-US" b="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a:p>
        </p:txBody>
      </p:sp>
      <p:sp>
        <p:nvSpPr>
          <p:cNvPr id="4" name="Slide Number Placeholder 3"/>
          <p:cNvSpPr>
            <a:spLocks noGrp="1"/>
          </p:cNvSpPr>
          <p:nvPr>
            <p:ph type="sldNum" sz="quarter" idx="5"/>
          </p:nvPr>
        </p:nvSpPr>
        <p:spPr/>
        <p:txBody>
          <a:bodyPr/>
          <a:lstStyle/>
          <a:p>
            <a:fld id="{C5D87694-ED81-49CD-99D7-FE1A0D90F984}" type="slidenum">
              <a:rPr lang="en-US" smtClean="0"/>
              <a:t>3</a:t>
            </a:fld>
            <a:endParaRPr lang="en-US"/>
          </a:p>
        </p:txBody>
      </p:sp>
    </p:spTree>
    <p:extLst>
      <p:ext uri="{BB962C8B-B14F-4D97-AF65-F5344CB8AC3E}">
        <p14:creationId xmlns:p14="http://schemas.microsoft.com/office/powerpoint/2010/main" val="18632975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5D87694-ED81-49CD-99D7-FE1A0D90F984}" type="slidenum">
              <a:rPr lang="en-US" smtClean="0"/>
              <a:t>4</a:t>
            </a:fld>
            <a:endParaRPr lang="en-US"/>
          </a:p>
        </p:txBody>
      </p:sp>
    </p:spTree>
    <p:extLst>
      <p:ext uri="{BB962C8B-B14F-4D97-AF65-F5344CB8AC3E}">
        <p14:creationId xmlns:p14="http://schemas.microsoft.com/office/powerpoint/2010/main" val="39342828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5D87694-ED81-49CD-99D7-FE1A0D90F984}" type="slidenum">
              <a:rPr lang="en-US" smtClean="0"/>
              <a:t>6</a:t>
            </a:fld>
            <a:endParaRPr lang="en-US"/>
          </a:p>
        </p:txBody>
      </p:sp>
    </p:spTree>
    <p:extLst>
      <p:ext uri="{BB962C8B-B14F-4D97-AF65-F5344CB8AC3E}">
        <p14:creationId xmlns:p14="http://schemas.microsoft.com/office/powerpoint/2010/main" val="30190674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5D87694-ED81-49CD-99D7-FE1A0D90F984}" type="slidenum">
              <a:rPr lang="en-US" smtClean="0"/>
              <a:t>7</a:t>
            </a:fld>
            <a:endParaRPr lang="en-US"/>
          </a:p>
        </p:txBody>
      </p:sp>
    </p:spTree>
    <p:extLst>
      <p:ext uri="{BB962C8B-B14F-4D97-AF65-F5344CB8AC3E}">
        <p14:creationId xmlns:p14="http://schemas.microsoft.com/office/powerpoint/2010/main" val="36005638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A1DBC-12B5-B643-8F05-4EF78EB531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5C6498-35B0-A1E3-FA71-A38E82E217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D4FB7B-CD3D-2B62-052F-83F9526F2E1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3C1DD22-77F9-461E-B67E-BCA2BFC92E8D}"/>
              </a:ext>
            </a:extLst>
          </p:cNvPr>
          <p:cNvSpPr>
            <a:spLocks noGrp="1"/>
          </p:cNvSpPr>
          <p:nvPr>
            <p:ph type="sldNum" sz="quarter" idx="5"/>
          </p:nvPr>
        </p:nvSpPr>
        <p:spPr/>
        <p:txBody>
          <a:bodyPr/>
          <a:lstStyle/>
          <a:p>
            <a:fld id="{C5D87694-ED81-49CD-99D7-FE1A0D90F984}" type="slidenum">
              <a:rPr lang="en-US" smtClean="0"/>
              <a:t>8</a:t>
            </a:fld>
            <a:endParaRPr lang="en-US"/>
          </a:p>
        </p:txBody>
      </p:sp>
    </p:spTree>
    <p:extLst>
      <p:ext uri="{BB962C8B-B14F-4D97-AF65-F5344CB8AC3E}">
        <p14:creationId xmlns:p14="http://schemas.microsoft.com/office/powerpoint/2010/main" val="38744061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2FB82-029C-14E8-AE65-9A9D4E0DC4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ECABC1-F525-8CEC-D769-9C989E7204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CCA168-3615-F0C7-29C0-33E2FBB3A13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6FC1A51-E9EB-7B6D-C527-A34B8C482C02}"/>
              </a:ext>
            </a:extLst>
          </p:cNvPr>
          <p:cNvSpPr>
            <a:spLocks noGrp="1"/>
          </p:cNvSpPr>
          <p:nvPr>
            <p:ph type="sldNum" sz="quarter" idx="5"/>
          </p:nvPr>
        </p:nvSpPr>
        <p:spPr/>
        <p:txBody>
          <a:bodyPr/>
          <a:lstStyle/>
          <a:p>
            <a:fld id="{C5D87694-ED81-49CD-99D7-FE1A0D90F984}" type="slidenum">
              <a:rPr lang="en-US" smtClean="0"/>
              <a:t>9</a:t>
            </a:fld>
            <a:endParaRPr lang="en-US"/>
          </a:p>
        </p:txBody>
      </p:sp>
    </p:spTree>
    <p:extLst>
      <p:ext uri="{BB962C8B-B14F-4D97-AF65-F5344CB8AC3E}">
        <p14:creationId xmlns:p14="http://schemas.microsoft.com/office/powerpoint/2010/main" val="34943860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E2D3C-9039-51F3-A03E-99293396F4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FF6236-9723-F97D-AF01-32236D3DA9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A49389-EF48-0361-927B-67C8B5D71F8E}"/>
              </a:ext>
            </a:extLst>
          </p:cNvPr>
          <p:cNvSpPr>
            <a:spLocks noGrp="1"/>
          </p:cNvSpPr>
          <p:nvPr>
            <p:ph type="body" idx="1"/>
          </p:nvPr>
        </p:nvSpPr>
        <p:spPr/>
        <p:txBody>
          <a:bodyPr/>
          <a:lstStyle/>
          <a:p>
            <a:r>
              <a:rPr lang="en-US"/>
              <a:t>For Gini, we used this to maximize how cleanly the model separated holdings into their respective classification types</a:t>
            </a:r>
          </a:p>
          <a:p>
            <a:r>
              <a:rPr lang="en-US"/>
              <a:t>OOB=Out of Bag</a:t>
            </a:r>
          </a:p>
          <a:p>
            <a:endParaRPr lang="en-US"/>
          </a:p>
        </p:txBody>
      </p:sp>
      <p:sp>
        <p:nvSpPr>
          <p:cNvPr id="4" name="Slide Number Placeholder 3">
            <a:extLst>
              <a:ext uri="{FF2B5EF4-FFF2-40B4-BE49-F238E27FC236}">
                <a16:creationId xmlns:a16="http://schemas.microsoft.com/office/drawing/2014/main" id="{D613C2C7-15CD-3E73-E968-C67316036019}"/>
              </a:ext>
            </a:extLst>
          </p:cNvPr>
          <p:cNvSpPr>
            <a:spLocks noGrp="1"/>
          </p:cNvSpPr>
          <p:nvPr>
            <p:ph type="sldNum" sz="quarter" idx="5"/>
          </p:nvPr>
        </p:nvSpPr>
        <p:spPr/>
        <p:txBody>
          <a:bodyPr/>
          <a:lstStyle/>
          <a:p>
            <a:fld id="{C5D87694-ED81-49CD-99D7-FE1A0D90F984}" type="slidenum">
              <a:rPr lang="en-US" smtClean="0"/>
              <a:t>10</a:t>
            </a:fld>
            <a:endParaRPr lang="en-US"/>
          </a:p>
        </p:txBody>
      </p:sp>
    </p:spTree>
    <p:extLst>
      <p:ext uri="{BB962C8B-B14F-4D97-AF65-F5344CB8AC3E}">
        <p14:creationId xmlns:p14="http://schemas.microsoft.com/office/powerpoint/2010/main" val="27712729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5D87694-ED81-49CD-99D7-FE1A0D90F984}" type="slidenum">
              <a:rPr lang="en-US" smtClean="0"/>
              <a:t>11</a:t>
            </a:fld>
            <a:endParaRPr lang="en-US"/>
          </a:p>
        </p:txBody>
      </p:sp>
    </p:spTree>
    <p:extLst>
      <p:ext uri="{BB962C8B-B14F-4D97-AF65-F5344CB8AC3E}">
        <p14:creationId xmlns:p14="http://schemas.microsoft.com/office/powerpoint/2010/main" val="6414381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5D87694-ED81-49CD-99D7-FE1A0D90F984}" type="slidenum">
              <a:rPr lang="en-US" smtClean="0"/>
              <a:t>14</a:t>
            </a:fld>
            <a:endParaRPr lang="en-US"/>
          </a:p>
        </p:txBody>
      </p:sp>
    </p:spTree>
    <p:extLst>
      <p:ext uri="{BB962C8B-B14F-4D97-AF65-F5344CB8AC3E}">
        <p14:creationId xmlns:p14="http://schemas.microsoft.com/office/powerpoint/2010/main" val="34133234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5D87694-ED81-49CD-99D7-FE1A0D90F984}" type="slidenum">
              <a:rPr lang="en-US" smtClean="0"/>
              <a:t>15</a:t>
            </a:fld>
            <a:endParaRPr lang="en-US"/>
          </a:p>
        </p:txBody>
      </p:sp>
    </p:spTree>
    <p:extLst>
      <p:ext uri="{BB962C8B-B14F-4D97-AF65-F5344CB8AC3E}">
        <p14:creationId xmlns:p14="http://schemas.microsoft.com/office/powerpoint/2010/main" val="26300496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1FDFB-BD04-48CA-73DC-01C43C7A70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F33005-D50C-F4E0-800C-D01567F3EA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2424F0-FD3C-F423-B8D1-DBA96E82383C}"/>
              </a:ext>
            </a:extLst>
          </p:cNvPr>
          <p:cNvSpPr>
            <a:spLocks noGrp="1"/>
          </p:cNvSpPr>
          <p:nvPr>
            <p:ph type="body" idx="1"/>
          </p:nvPr>
        </p:nvSpPr>
        <p:spPr/>
        <p:txBody>
          <a:bodyPr/>
          <a:lstStyle/>
          <a:p>
            <a:r>
              <a:rPr lang="en-US"/>
              <a:t>This chart compares F1 score, precision, and recall across the top 10 most frequent classes so we can evaluate both the accuracy and balance of our model’s performance. There is high performance consistency across all top 10 categories (F1 score above 0.85). The precision and recall metrics are also closely aligned suggesting that the model is not overly biased towards false positives or false negatives. </a:t>
            </a:r>
          </a:p>
        </p:txBody>
      </p:sp>
      <p:sp>
        <p:nvSpPr>
          <p:cNvPr id="4" name="Slide Number Placeholder 3">
            <a:extLst>
              <a:ext uri="{FF2B5EF4-FFF2-40B4-BE49-F238E27FC236}">
                <a16:creationId xmlns:a16="http://schemas.microsoft.com/office/drawing/2014/main" id="{6D375FCE-06AA-1E35-6DC9-FE73E8DE3F0B}"/>
              </a:ext>
            </a:extLst>
          </p:cNvPr>
          <p:cNvSpPr>
            <a:spLocks noGrp="1"/>
          </p:cNvSpPr>
          <p:nvPr>
            <p:ph type="sldNum" sz="quarter" idx="5"/>
          </p:nvPr>
        </p:nvSpPr>
        <p:spPr/>
        <p:txBody>
          <a:bodyPr/>
          <a:lstStyle/>
          <a:p>
            <a:fld id="{C5D87694-ED81-49CD-99D7-FE1A0D90F984}" type="slidenum">
              <a:rPr lang="en-US" smtClean="0"/>
              <a:t>16</a:t>
            </a:fld>
            <a:endParaRPr lang="en-US"/>
          </a:p>
        </p:txBody>
      </p:sp>
    </p:spTree>
    <p:extLst>
      <p:ext uri="{BB962C8B-B14F-4D97-AF65-F5344CB8AC3E}">
        <p14:creationId xmlns:p14="http://schemas.microsoft.com/office/powerpoint/2010/main" val="3190391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Point 1 – Ready for production use</a:t>
            </a:r>
          </a:p>
          <a:p>
            <a:r>
              <a:rPr lang="en-US"/>
              <a:t>Point 2 – enables automated pre-matching</a:t>
            </a:r>
          </a:p>
          <a:p>
            <a:r>
              <a:rPr lang="en-US"/>
              <a:t>Point 4 – across products like Illume and Portfolio </a:t>
            </a:r>
            <a:r>
              <a:rPr lang="en-US" err="1"/>
              <a:t>DataManager</a:t>
            </a:r>
            <a:endParaRPr lang="en-US"/>
          </a:p>
          <a:p>
            <a:endParaRPr lang="en-US"/>
          </a:p>
        </p:txBody>
      </p:sp>
      <p:sp>
        <p:nvSpPr>
          <p:cNvPr id="4" name="Slide Number Placeholder 3"/>
          <p:cNvSpPr>
            <a:spLocks noGrp="1"/>
          </p:cNvSpPr>
          <p:nvPr>
            <p:ph type="sldNum" sz="quarter" idx="5"/>
          </p:nvPr>
        </p:nvSpPr>
        <p:spPr/>
        <p:txBody>
          <a:bodyPr/>
          <a:lstStyle/>
          <a:p>
            <a:fld id="{C5D87694-ED81-49CD-99D7-FE1A0D90F984}" type="slidenum">
              <a:rPr lang="en-US" smtClean="0"/>
              <a:t>17</a:t>
            </a:fld>
            <a:endParaRPr lang="en-US"/>
          </a:p>
        </p:txBody>
      </p:sp>
    </p:spTree>
    <p:extLst>
      <p:ext uri="{BB962C8B-B14F-4D97-AF65-F5344CB8AC3E}">
        <p14:creationId xmlns:p14="http://schemas.microsoft.com/office/powerpoint/2010/main" val="11369514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F6C11-AE50-D2EF-837A-E4DF17446B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9C3C85-047C-8EFE-5B64-898EB29F5B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FC9783-B96F-65AE-76F9-8CBFFC56B6D9}"/>
              </a:ext>
            </a:extLst>
          </p:cNvPr>
          <p:cNvSpPr>
            <a:spLocks noGrp="1"/>
          </p:cNvSpPr>
          <p:nvPr>
            <p:ph type="body" idx="1"/>
          </p:nvPr>
        </p:nvSpPr>
        <p:spPr/>
        <p:txBody>
          <a:bodyPr/>
          <a:lstStyle/>
          <a:p>
            <a:r>
              <a:rPr lang="en-US"/>
              <a:t>Point 2 – Which will prioritize high certainty to matches and flag uncertain ones</a:t>
            </a:r>
          </a:p>
          <a:p>
            <a:r>
              <a:rPr lang="en-US"/>
              <a:t>Point 3 – This can be used as a tool to establish trust in automated matching results</a:t>
            </a:r>
          </a:p>
          <a:p>
            <a:r>
              <a:rPr lang="en-US"/>
              <a:t>One last thing we’d like to note is that integrating this model into the match </a:t>
            </a:r>
            <a:r>
              <a:rPr lang="en-US" err="1"/>
              <a:t>api</a:t>
            </a:r>
            <a:r>
              <a:rPr lang="en-US"/>
              <a:t> workflow would not come at a huge cost </a:t>
            </a:r>
          </a:p>
        </p:txBody>
      </p:sp>
      <p:sp>
        <p:nvSpPr>
          <p:cNvPr id="4" name="Slide Number Placeholder 3">
            <a:extLst>
              <a:ext uri="{FF2B5EF4-FFF2-40B4-BE49-F238E27FC236}">
                <a16:creationId xmlns:a16="http://schemas.microsoft.com/office/drawing/2014/main" id="{23C515DE-4656-EE95-1D1D-88FF9E0742C8}"/>
              </a:ext>
            </a:extLst>
          </p:cNvPr>
          <p:cNvSpPr>
            <a:spLocks noGrp="1"/>
          </p:cNvSpPr>
          <p:nvPr>
            <p:ph type="sldNum" sz="quarter" idx="5"/>
          </p:nvPr>
        </p:nvSpPr>
        <p:spPr/>
        <p:txBody>
          <a:bodyPr/>
          <a:lstStyle/>
          <a:p>
            <a:fld id="{C5D87694-ED81-49CD-99D7-FE1A0D90F984}" type="slidenum">
              <a:rPr lang="en-US" smtClean="0"/>
              <a:t>18</a:t>
            </a:fld>
            <a:endParaRPr lang="en-US"/>
          </a:p>
        </p:txBody>
      </p:sp>
    </p:spTree>
    <p:extLst>
      <p:ext uri="{BB962C8B-B14F-4D97-AF65-F5344CB8AC3E}">
        <p14:creationId xmlns:p14="http://schemas.microsoft.com/office/powerpoint/2010/main" val="17421654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9" name="Group 8"/>
          <p:cNvGrpSpPr/>
          <p:nvPr/>
        </p:nvGrpSpPr>
        <p:grpSpPr>
          <a:xfrm>
            <a:off x="1669293" y="1186483"/>
            <a:ext cx="8848345" cy="4477933"/>
            <a:chOff x="1669293" y="1186483"/>
            <a:chExt cx="8848345" cy="4477933"/>
          </a:xfrm>
        </p:grpSpPr>
        <p:sp>
          <p:nvSpPr>
            <p:cNvPr id="39" name="Rectangle 38"/>
            <p:cNvSpPr/>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1" name="Rectangle 40"/>
            <p:cNvSpPr/>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33C168C4-B4EC-1E40-8FDC-D6647CF9E329}" type="datetimeFigureOut">
              <a:rPr lang="en-US" smtClean="0"/>
              <a:t>11/16/25</a:t>
            </a:fld>
            <a:endParaRPr lang="en-US"/>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a:p>
        </p:txBody>
      </p:sp>
      <p:sp>
        <p:nvSpPr>
          <p:cNvPr id="6" name="Slide Number Placeholder 5"/>
          <p:cNvSpPr>
            <a:spLocks noGrp="1"/>
          </p:cNvSpPr>
          <p:nvPr>
            <p:ph type="sldNum" sz="quarter" idx="12"/>
          </p:nvPr>
        </p:nvSpPr>
        <p:spPr>
          <a:xfrm>
            <a:off x="10469880" y="320040"/>
            <a:ext cx="914400" cy="320040"/>
          </a:xfrm>
        </p:spPr>
        <p:txBody>
          <a:bodyPr/>
          <a:lstStyle/>
          <a:p>
            <a:fld id="{56408152-9CB0-B94A-B660-016E19F35FAD}" type="slidenum">
              <a:rPr lang="en-US" smtClean="0"/>
              <a:t>‹#›</a:t>
            </a:fld>
            <a:endParaRPr lang="en-US"/>
          </a:p>
        </p:txBody>
      </p:sp>
    </p:spTree>
    <p:extLst>
      <p:ext uri="{BB962C8B-B14F-4D97-AF65-F5344CB8AC3E}">
        <p14:creationId xmlns:p14="http://schemas.microsoft.com/office/powerpoint/2010/main" val="36169855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7" name="Group 26"/>
          <p:cNvGrpSpPr/>
          <p:nvPr/>
        </p:nvGrpSpPr>
        <p:grpSpPr>
          <a:xfrm>
            <a:off x="800144" y="1699589"/>
            <a:ext cx="3674476" cy="3470421"/>
            <a:chOff x="697883" y="1816768"/>
            <a:chExt cx="3674476" cy="3470421"/>
          </a:xfrm>
        </p:grpSpPr>
        <p:sp>
          <p:nvSpPr>
            <p:cNvPr id="28" name="Rectangle 27"/>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9"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0" name="Rectangle 29"/>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2" name="Title 1"/>
          <p:cNvSpPr>
            <a:spLocks noGrp="1"/>
          </p:cNvSpPr>
          <p:nvPr>
            <p:ph type="title"/>
          </p:nvPr>
        </p:nvSpPr>
        <p:spPr>
          <a:xfrm>
            <a:off x="888631" y="2349925"/>
            <a:ext cx="3498979" cy="2456442"/>
          </a:xfrm>
        </p:spPr>
        <p:txBody>
          <a:bodyPr/>
          <a:lstStyle>
            <a:lvl1pPr>
              <a:defRPr>
                <a:solidFill>
                  <a:srgbClr val="FFFEFF"/>
                </a:solidFill>
              </a:defRPr>
            </a:lvl1pPr>
          </a:lstStyle>
          <a:p>
            <a:r>
              <a:rPr lang="en-US"/>
              <a:t>Click to edit Master title style</a:t>
            </a:r>
          </a:p>
        </p:txBody>
      </p:sp>
      <p:sp>
        <p:nvSpPr>
          <p:cNvPr id="3" name="Content Placeholder 2"/>
          <p:cNvSpPr>
            <a:spLocks noGrp="1"/>
          </p:cNvSpPr>
          <p:nvPr>
            <p:ph idx="1"/>
          </p:nvPr>
        </p:nvSpPr>
        <p:spPr>
          <a:xfrm>
            <a:off x="5118447" y="803186"/>
            <a:ext cx="6281873" cy="524862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3C168C4-B4EC-1E40-8FDC-D6647CF9E329}" type="datetimeFigureOut">
              <a:rPr lang="en-US" smtClean="0"/>
              <a:t>11/16/25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408152-9CB0-B94A-B660-016E19F35FAD}" type="slidenum">
              <a:rPr lang="en-US" smtClean="0"/>
              <a:t>‹#›</a:t>
            </a:fld>
            <a:endParaRPr lang="en-US"/>
          </a:p>
        </p:txBody>
      </p:sp>
    </p:spTree>
    <p:extLst>
      <p:ext uri="{BB962C8B-B14F-4D97-AF65-F5344CB8AC3E}">
        <p14:creationId xmlns:p14="http://schemas.microsoft.com/office/powerpoint/2010/main" val="4037453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77" name="Group 76"/>
          <p:cNvGrpSpPr/>
          <p:nvPr/>
        </p:nvGrpSpPr>
        <p:grpSpPr>
          <a:xfrm>
            <a:off x="-329674" y="-59376"/>
            <a:ext cx="12515851" cy="6923798"/>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3259545" y="1186483"/>
            <a:ext cx="5666145" cy="4477933"/>
            <a:chOff x="3259545" y="1186483"/>
            <a:chExt cx="5666145" cy="4477933"/>
          </a:xfrm>
        </p:grpSpPr>
        <p:sp>
          <p:nvSpPr>
            <p:cNvPr id="99" name="Rectangle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1" name="Rectangle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344216" y="2074730"/>
            <a:ext cx="5490224" cy="1689390"/>
          </a:xfrm>
        </p:spPr>
        <p:txBody>
          <a:bodyPr bIns="0" anchor="b">
            <a:normAutofit/>
          </a:bodyPr>
          <a:lstStyle>
            <a:lvl1pPr algn="ctr">
              <a:defRPr sz="4400">
                <a:solidFill>
                  <a:srgbClr val="FFFEFF"/>
                </a:solidFill>
              </a:defRPr>
            </a:lvl1pPr>
          </a:lstStyle>
          <a:p>
            <a:r>
              <a:rPr lang="en-US"/>
              <a:t>Click to edit Master title style</a:t>
            </a:r>
          </a:p>
        </p:txBody>
      </p:sp>
      <p:sp>
        <p:nvSpPr>
          <p:cNvPr id="3" name="Text Placeholder 2"/>
          <p:cNvSpPr>
            <a:spLocks noGrp="1"/>
          </p:cNvSpPr>
          <p:nvPr>
            <p:ph type="body" idx="1"/>
          </p:nvPr>
        </p:nvSpPr>
        <p:spPr>
          <a:xfrm>
            <a:off x="3344215" y="3846851"/>
            <a:ext cx="5490223" cy="1383770"/>
          </a:xfrm>
        </p:spPr>
        <p:txBody>
          <a:bodyPr tIns="0">
            <a:normAutofit/>
          </a:bodyPr>
          <a:lstStyle>
            <a:lvl1pPr marL="0" indent="0" algn="ctr">
              <a:buNone/>
              <a:defRPr sz="1800">
                <a:solidFill>
                  <a:srgbClr val="FFFEFF"/>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04672" y="320040"/>
            <a:ext cx="3657600" cy="320040"/>
          </a:xfrm>
        </p:spPr>
        <p:txBody>
          <a:bodyPr/>
          <a:lstStyle/>
          <a:p>
            <a:fld id="{33C168C4-B4EC-1E40-8FDC-D6647CF9E329}" type="datetimeFigureOut">
              <a:rPr lang="en-US" smtClean="0"/>
              <a:t>11/16/25</a:t>
            </a:fld>
            <a:endParaRPr lang="en-US"/>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a:p>
        </p:txBody>
      </p:sp>
      <p:sp>
        <p:nvSpPr>
          <p:cNvPr id="6" name="Slide Number Placeholder 5"/>
          <p:cNvSpPr>
            <a:spLocks noGrp="1"/>
          </p:cNvSpPr>
          <p:nvPr>
            <p:ph type="sldNum" sz="quarter" idx="12"/>
          </p:nvPr>
        </p:nvSpPr>
        <p:spPr>
          <a:xfrm>
            <a:off x="10469880" y="320040"/>
            <a:ext cx="914400" cy="320040"/>
          </a:xfrm>
        </p:spPr>
        <p:txBody>
          <a:bodyPr/>
          <a:lstStyle/>
          <a:p>
            <a:fld id="{56408152-9CB0-B94A-B660-016E19F35FAD}" type="slidenum">
              <a:rPr lang="en-US" smtClean="0"/>
              <a:t>‹#›</a:t>
            </a:fld>
            <a:endParaRPr lang="en-US"/>
          </a:p>
        </p:txBody>
      </p:sp>
    </p:spTree>
    <p:extLst>
      <p:ext uri="{BB962C8B-B14F-4D97-AF65-F5344CB8AC3E}">
        <p14:creationId xmlns:p14="http://schemas.microsoft.com/office/powerpoint/2010/main" val="1845289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37" name="Group 36"/>
          <p:cNvGrpSpPr/>
          <p:nvPr/>
        </p:nvGrpSpPr>
        <p:grpSpPr>
          <a:xfrm>
            <a:off x="-417513" y="0"/>
            <a:ext cx="12584114" cy="6853238"/>
            <a:chOff x="-417513" y="0"/>
            <a:chExt cx="12584114" cy="6853238"/>
          </a:xfrm>
        </p:grpSpPr>
        <p:sp>
          <p:nvSpPr>
            <p:cNvPr id="3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9" name="Group 58"/>
          <p:cNvGrpSpPr/>
          <p:nvPr/>
        </p:nvGrpSpPr>
        <p:grpSpPr>
          <a:xfrm>
            <a:off x="800144" y="1699589"/>
            <a:ext cx="3674476" cy="3470421"/>
            <a:chOff x="697883" y="1816768"/>
            <a:chExt cx="3674476" cy="3470421"/>
          </a:xfrm>
        </p:grpSpPr>
        <p:sp>
          <p:nvSpPr>
            <p:cNvPr id="60" name="Rectangle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Rectangle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0" y="2339669"/>
            <a:ext cx="3500828" cy="2470065"/>
          </a:xfrm>
        </p:spPr>
        <p:txBody>
          <a:bodyPr lIns="91440" tIns="91440" rIns="91440" bIns="91440"/>
          <a:lstStyle>
            <a:lvl1pPr>
              <a:defRPr>
                <a:solidFill>
                  <a:srgbClr val="FFFEFF"/>
                </a:solidFill>
              </a:defRPr>
            </a:lvl1pPr>
          </a:lstStyle>
          <a:p>
            <a:r>
              <a:rPr lang="en-US"/>
              <a:t>Click to edit Master title style</a:t>
            </a:r>
          </a:p>
        </p:txBody>
      </p:sp>
      <p:sp>
        <p:nvSpPr>
          <p:cNvPr id="3" name="Content Placeholder 2"/>
          <p:cNvSpPr>
            <a:spLocks noGrp="1"/>
          </p:cNvSpPr>
          <p:nvPr>
            <p:ph sz="half" idx="1"/>
          </p:nvPr>
        </p:nvSpPr>
        <p:spPr>
          <a:xfrm>
            <a:off x="5120878" y="803187"/>
            <a:ext cx="6269591" cy="23826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18447" y="3672162"/>
            <a:ext cx="6272022" cy="23835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04672" y="320040"/>
            <a:ext cx="3657600" cy="320040"/>
          </a:xfrm>
        </p:spPr>
        <p:txBody>
          <a:bodyPr/>
          <a:lstStyle/>
          <a:p>
            <a:fld id="{33C168C4-B4EC-1E40-8FDC-D6647CF9E329}" type="datetimeFigureOut">
              <a:rPr lang="en-US" smtClean="0"/>
              <a:t>11/16/25</a:t>
            </a:fld>
            <a:endParaRPr lang="en-US"/>
          </a:p>
        </p:txBody>
      </p:sp>
      <p:sp>
        <p:nvSpPr>
          <p:cNvPr id="6" name="Footer Placeholder 5"/>
          <p:cNvSpPr>
            <a:spLocks noGrp="1"/>
          </p:cNvSpPr>
          <p:nvPr>
            <p:ph type="ftr" sz="quarter" idx="11"/>
          </p:nvPr>
        </p:nvSpPr>
        <p:spPr>
          <a:xfrm>
            <a:off x="804672" y="6227064"/>
            <a:ext cx="10588752" cy="320040"/>
          </a:xfrm>
        </p:spPr>
        <p:txBody>
          <a:bodyPr/>
          <a:lstStyle/>
          <a:p>
            <a:endParaRPr lang="en-US"/>
          </a:p>
        </p:txBody>
      </p:sp>
      <p:sp>
        <p:nvSpPr>
          <p:cNvPr id="7" name="Slide Number Placeholder 6"/>
          <p:cNvSpPr>
            <a:spLocks noGrp="1"/>
          </p:cNvSpPr>
          <p:nvPr>
            <p:ph type="sldNum" sz="quarter" idx="12"/>
          </p:nvPr>
        </p:nvSpPr>
        <p:spPr>
          <a:xfrm>
            <a:off x="10469880" y="320040"/>
            <a:ext cx="914400" cy="320040"/>
          </a:xfrm>
        </p:spPr>
        <p:txBody>
          <a:bodyPr/>
          <a:lstStyle/>
          <a:p>
            <a:fld id="{56408152-9CB0-B94A-B660-016E19F35FAD}" type="slidenum">
              <a:rPr lang="en-US" smtClean="0"/>
              <a:t>‹#›</a:t>
            </a:fld>
            <a:endParaRPr lang="en-US"/>
          </a:p>
        </p:txBody>
      </p:sp>
    </p:spTree>
    <p:extLst>
      <p:ext uri="{BB962C8B-B14F-4D97-AF65-F5344CB8AC3E}">
        <p14:creationId xmlns:p14="http://schemas.microsoft.com/office/powerpoint/2010/main" val="23841091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39" name="Group 38"/>
          <p:cNvGrpSpPr/>
          <p:nvPr/>
        </p:nvGrpSpPr>
        <p:grpSpPr>
          <a:xfrm>
            <a:off x="-417513" y="0"/>
            <a:ext cx="12584114" cy="6853238"/>
            <a:chOff x="-417513" y="0"/>
            <a:chExt cx="12584114" cy="6853238"/>
          </a:xfrm>
        </p:grpSpPr>
        <p:sp>
          <p:nvSpPr>
            <p:cNvPr id="40"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6"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7"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1" name="Group 60"/>
          <p:cNvGrpSpPr/>
          <p:nvPr/>
        </p:nvGrpSpPr>
        <p:grpSpPr>
          <a:xfrm>
            <a:off x="800144" y="1699589"/>
            <a:ext cx="3674476" cy="3470421"/>
            <a:chOff x="697883" y="1816768"/>
            <a:chExt cx="3674476" cy="3470421"/>
          </a:xfrm>
        </p:grpSpPr>
        <p:sp>
          <p:nvSpPr>
            <p:cNvPr id="62" name="Rectangle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Rectangle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1" y="2363915"/>
            <a:ext cx="3500828" cy="2460497"/>
          </a:xfrm>
        </p:spPr>
        <p:txBody>
          <a:bodyPr lIns="91440" tIns="91440" rIns="91440" bIns="91440"/>
          <a:lstStyle>
            <a:lvl1pPr>
              <a:defRPr>
                <a:solidFill>
                  <a:srgbClr val="FFFEFF"/>
                </a:solidFill>
              </a:defRPr>
            </a:lvl1pPr>
          </a:lstStyle>
          <a:p>
            <a:r>
              <a:rPr lang="en-US"/>
              <a:t>Click to edit Master title style</a:t>
            </a:r>
          </a:p>
        </p:txBody>
      </p:sp>
      <p:sp>
        <p:nvSpPr>
          <p:cNvPr id="3" name="Text Placeholder 2"/>
          <p:cNvSpPr>
            <a:spLocks noGrp="1"/>
          </p:cNvSpPr>
          <p:nvPr>
            <p:ph type="body" idx="1"/>
          </p:nvPr>
        </p:nvSpPr>
        <p:spPr>
          <a:xfrm>
            <a:off x="5125137" y="803185"/>
            <a:ext cx="6265088"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125305" y="1488985"/>
            <a:ext cx="6264350" cy="16968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118653" y="3665887"/>
            <a:ext cx="6264414"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18447" y="4351687"/>
            <a:ext cx="6265588" cy="17040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04672" y="320040"/>
            <a:ext cx="3657600" cy="320040"/>
          </a:xfrm>
        </p:spPr>
        <p:txBody>
          <a:bodyPr/>
          <a:lstStyle/>
          <a:p>
            <a:fld id="{33C168C4-B4EC-1E40-8FDC-D6647CF9E329}" type="datetimeFigureOut">
              <a:rPr lang="en-US" smtClean="0"/>
              <a:t>11/16/25</a:t>
            </a:fld>
            <a:endParaRPr lang="en-US"/>
          </a:p>
        </p:txBody>
      </p:sp>
      <p:sp>
        <p:nvSpPr>
          <p:cNvPr id="8" name="Footer Placeholder 7"/>
          <p:cNvSpPr>
            <a:spLocks noGrp="1"/>
          </p:cNvSpPr>
          <p:nvPr>
            <p:ph type="ftr" sz="quarter" idx="11"/>
          </p:nvPr>
        </p:nvSpPr>
        <p:spPr>
          <a:xfrm>
            <a:off x="804672" y="6227064"/>
            <a:ext cx="10588752" cy="320040"/>
          </a:xfrm>
        </p:spPr>
        <p:txBody>
          <a:bodyPr/>
          <a:lstStyle/>
          <a:p>
            <a:endParaRPr lang="en-US"/>
          </a:p>
        </p:txBody>
      </p:sp>
      <p:sp>
        <p:nvSpPr>
          <p:cNvPr id="9" name="Slide Number Placeholder 8"/>
          <p:cNvSpPr>
            <a:spLocks noGrp="1"/>
          </p:cNvSpPr>
          <p:nvPr>
            <p:ph type="sldNum" sz="quarter" idx="12"/>
          </p:nvPr>
        </p:nvSpPr>
        <p:spPr>
          <a:xfrm>
            <a:off x="10469880" y="320040"/>
            <a:ext cx="914400" cy="320040"/>
          </a:xfrm>
        </p:spPr>
        <p:txBody>
          <a:bodyPr/>
          <a:lstStyle/>
          <a:p>
            <a:fld id="{56408152-9CB0-B94A-B660-016E19F35FAD}" type="slidenum">
              <a:rPr lang="en-US" smtClean="0"/>
              <a:t>‹#›</a:t>
            </a:fld>
            <a:endParaRPr lang="en-US"/>
          </a:p>
        </p:txBody>
      </p:sp>
    </p:spTree>
    <p:extLst>
      <p:ext uri="{BB962C8B-B14F-4D97-AF65-F5344CB8AC3E}">
        <p14:creationId xmlns:p14="http://schemas.microsoft.com/office/powerpoint/2010/main" val="30323809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77" name="Group 76"/>
          <p:cNvGrpSpPr/>
          <p:nvPr/>
        </p:nvGrpSpPr>
        <p:grpSpPr>
          <a:xfrm>
            <a:off x="-417513" y="0"/>
            <a:ext cx="12584114" cy="6853238"/>
            <a:chOff x="-417513" y="0"/>
            <a:chExt cx="12584114" cy="6853238"/>
          </a:xfrm>
        </p:grpSpPr>
        <p:sp>
          <p:nvSpPr>
            <p:cNvPr id="7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4" name="Group 23"/>
          <p:cNvGrpSpPr/>
          <p:nvPr/>
        </p:nvGrpSpPr>
        <p:grpSpPr>
          <a:xfrm>
            <a:off x="800144" y="1699589"/>
            <a:ext cx="3674476" cy="3470421"/>
            <a:chOff x="697883" y="1816768"/>
            <a:chExt cx="3674476" cy="3470421"/>
          </a:xfrm>
        </p:grpSpPr>
        <p:sp>
          <p:nvSpPr>
            <p:cNvPr id="25" name="Rectangle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2"/>
          </a:xfrm>
        </p:spPr>
        <p:txBody>
          <a:bodyPr/>
          <a:lstStyle>
            <a:lvl1pPr>
              <a:defRPr>
                <a:solidFill>
                  <a:srgbClr val="FFFEFF"/>
                </a:solidFill>
              </a:defRPr>
            </a:lvl1pPr>
          </a:lstStyle>
          <a:p>
            <a:r>
              <a:rPr lang="en-US"/>
              <a:t>Click to edit Master title style</a:t>
            </a:r>
          </a:p>
        </p:txBody>
      </p:sp>
      <p:sp>
        <p:nvSpPr>
          <p:cNvPr id="3" name="Date Placeholder 2"/>
          <p:cNvSpPr>
            <a:spLocks noGrp="1"/>
          </p:cNvSpPr>
          <p:nvPr>
            <p:ph type="dt" sz="half" idx="10"/>
          </p:nvPr>
        </p:nvSpPr>
        <p:spPr/>
        <p:txBody>
          <a:bodyPr/>
          <a:lstStyle/>
          <a:p>
            <a:fld id="{33C168C4-B4EC-1E40-8FDC-D6647CF9E329}" type="datetimeFigureOut">
              <a:rPr lang="en-US" smtClean="0"/>
              <a:t>11/16/25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6408152-9CB0-B94A-B660-016E19F35FAD}" type="slidenum">
              <a:rPr lang="en-US" smtClean="0"/>
              <a:t>‹#›</a:t>
            </a:fld>
            <a:endParaRPr lang="en-US"/>
          </a:p>
        </p:txBody>
      </p:sp>
    </p:spTree>
    <p:extLst>
      <p:ext uri="{BB962C8B-B14F-4D97-AF65-F5344CB8AC3E}">
        <p14:creationId xmlns:p14="http://schemas.microsoft.com/office/powerpoint/2010/main" val="19720919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04672" y="320040"/>
            <a:ext cx="3657600" cy="320040"/>
          </a:xfrm>
        </p:spPr>
        <p:txBody>
          <a:bodyPr/>
          <a:lstStyle/>
          <a:p>
            <a:fld id="{33C168C4-B4EC-1E40-8FDC-D6647CF9E329}" type="datetimeFigureOut">
              <a:rPr lang="en-US" smtClean="0"/>
              <a:t>11/16/25</a:t>
            </a:fld>
            <a:endParaRPr lang="en-US"/>
          </a:p>
        </p:txBody>
      </p:sp>
      <p:sp>
        <p:nvSpPr>
          <p:cNvPr id="3" name="Footer Placeholder 2"/>
          <p:cNvSpPr>
            <a:spLocks noGrp="1"/>
          </p:cNvSpPr>
          <p:nvPr>
            <p:ph type="ftr" sz="quarter" idx="11"/>
          </p:nvPr>
        </p:nvSpPr>
        <p:spPr>
          <a:xfrm>
            <a:off x="804672" y="6227064"/>
            <a:ext cx="10588752" cy="320040"/>
          </a:xfrm>
        </p:spPr>
        <p:txBody>
          <a:bodyPr/>
          <a:lstStyle/>
          <a:p>
            <a:endParaRPr lang="en-US"/>
          </a:p>
        </p:txBody>
      </p:sp>
      <p:sp>
        <p:nvSpPr>
          <p:cNvPr id="4" name="Slide Number Placeholder 3"/>
          <p:cNvSpPr>
            <a:spLocks noGrp="1"/>
          </p:cNvSpPr>
          <p:nvPr>
            <p:ph type="sldNum" sz="quarter" idx="12"/>
          </p:nvPr>
        </p:nvSpPr>
        <p:spPr>
          <a:xfrm>
            <a:off x="10469880" y="320040"/>
            <a:ext cx="914400" cy="320040"/>
          </a:xfrm>
        </p:spPr>
        <p:txBody>
          <a:bodyPr/>
          <a:lstStyle/>
          <a:p>
            <a:fld id="{56408152-9CB0-B94A-B660-016E19F35FAD}" type="slidenum">
              <a:rPr lang="en-US" smtClean="0"/>
              <a:t>‹#›</a:t>
            </a:fld>
            <a:endParaRPr lang="en-US"/>
          </a:p>
        </p:txBody>
      </p:sp>
    </p:spTree>
    <p:extLst>
      <p:ext uri="{BB962C8B-B14F-4D97-AF65-F5344CB8AC3E}">
        <p14:creationId xmlns:p14="http://schemas.microsoft.com/office/powerpoint/2010/main" val="35068582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74" name="Group 73"/>
          <p:cNvGrpSpPr/>
          <p:nvPr/>
        </p:nvGrpSpPr>
        <p:grpSpPr>
          <a:xfrm>
            <a:off x="-417513" y="0"/>
            <a:ext cx="12584114" cy="6853238"/>
            <a:chOff x="-417513" y="0"/>
            <a:chExt cx="12584114" cy="6853238"/>
          </a:xfrm>
        </p:grpSpPr>
        <p:sp>
          <p:nvSpPr>
            <p:cNvPr id="75"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1"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2"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1" name="Group 20"/>
          <p:cNvGrpSpPr/>
          <p:nvPr/>
        </p:nvGrpSpPr>
        <p:grpSpPr>
          <a:xfrm>
            <a:off x="800144" y="1699589"/>
            <a:ext cx="3674476" cy="3470421"/>
            <a:chOff x="697883" y="1816768"/>
            <a:chExt cx="3674476" cy="3470421"/>
          </a:xfrm>
        </p:grpSpPr>
        <p:sp>
          <p:nvSpPr>
            <p:cNvPr id="22" name="Rectangle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52026"/>
            <a:ext cx="3501197" cy="1223298"/>
          </a:xfrm>
        </p:spPr>
        <p:txBody>
          <a:bodyPr bIns="0" anchor="b">
            <a:noAutofit/>
          </a:bodyPr>
          <a:lstStyle>
            <a:lvl1pPr algn="ctr">
              <a:defRPr sz="3200">
                <a:solidFill>
                  <a:srgbClr val="FFFEFF"/>
                </a:solidFill>
              </a:defRPr>
            </a:lvl1pPr>
          </a:lstStyle>
          <a:p>
            <a:r>
              <a:rPr lang="en-US"/>
              <a:t>Click to edit Master title style</a:t>
            </a:r>
          </a:p>
        </p:txBody>
      </p:sp>
      <p:sp>
        <p:nvSpPr>
          <p:cNvPr id="3" name="Content Placeholder 2"/>
          <p:cNvSpPr>
            <a:spLocks noGrp="1"/>
          </p:cNvSpPr>
          <p:nvPr>
            <p:ph idx="1"/>
          </p:nvPr>
        </p:nvSpPr>
        <p:spPr>
          <a:xfrm>
            <a:off x="5109983" y="802809"/>
            <a:ext cx="6275035" cy="524994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88631" y="3580186"/>
            <a:ext cx="3501197" cy="1221164"/>
          </a:xfrm>
        </p:spPr>
        <p:txBody>
          <a:bodyPr/>
          <a:lstStyle>
            <a:lvl1pPr marL="0" indent="0" algn="ctr">
              <a:buNone/>
              <a:defRPr sz="16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3C168C4-B4EC-1E40-8FDC-D6647CF9E329}" type="datetimeFigureOut">
              <a:rPr lang="en-US" smtClean="0"/>
              <a:t>11/16/25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6408152-9CB0-B94A-B660-016E19F35FAD}" type="slidenum">
              <a:rPr lang="en-US" smtClean="0"/>
              <a:t>‹#›</a:t>
            </a:fld>
            <a:endParaRPr lang="en-US"/>
          </a:p>
        </p:txBody>
      </p:sp>
    </p:spTree>
    <p:extLst>
      <p:ext uri="{BB962C8B-B14F-4D97-AF65-F5344CB8AC3E}">
        <p14:creationId xmlns:p14="http://schemas.microsoft.com/office/powerpoint/2010/main" val="2300651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73" name="Group 72"/>
          <p:cNvGrpSpPr/>
          <p:nvPr/>
        </p:nvGrpSpPr>
        <p:grpSpPr>
          <a:xfrm>
            <a:off x="-329674" y="-59376"/>
            <a:ext cx="12515851" cy="6923798"/>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6" name="Group 75"/>
          <p:cNvGrpSpPr/>
          <p:nvPr/>
        </p:nvGrpSpPr>
        <p:grpSpPr>
          <a:xfrm>
            <a:off x="805336" y="1698331"/>
            <a:ext cx="5941540" cy="3470421"/>
            <a:chOff x="805336" y="1698331"/>
            <a:chExt cx="5941540" cy="3470421"/>
          </a:xfrm>
        </p:grpSpPr>
        <p:sp>
          <p:nvSpPr>
            <p:cNvPr id="77" name="Rectangle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Isosceles Triangle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Grp="1" noChangeAspect="1"/>
          </p:cNvSpPr>
          <p:nvPr>
            <p:ph type="pic" idx="1"/>
          </p:nvPr>
        </p:nvSpPr>
        <p:spPr>
          <a:xfrm>
            <a:off x="7543510" y="0"/>
            <a:ext cx="4648490" cy="6858000"/>
          </a:xfrm>
          <a:solidFill>
            <a:schemeClr val="bg1">
              <a:lumMod val="65000"/>
              <a:lumOff val="3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 name="Title 1"/>
          <p:cNvSpPr>
            <a:spLocks noGrp="1"/>
          </p:cNvSpPr>
          <p:nvPr>
            <p:ph type="title"/>
          </p:nvPr>
        </p:nvSpPr>
        <p:spPr>
          <a:xfrm>
            <a:off x="885443" y="2360255"/>
            <a:ext cx="5776646" cy="1178032"/>
          </a:xfrm>
        </p:spPr>
        <p:txBody>
          <a:bodyPr bIns="0" anchor="b">
            <a:normAutofit/>
          </a:bodyPr>
          <a:lstStyle>
            <a:lvl1pPr>
              <a:defRPr sz="3600">
                <a:solidFill>
                  <a:srgbClr val="FFFEFF"/>
                </a:solidFill>
              </a:defRPr>
            </a:lvl1pPr>
          </a:lstStyle>
          <a:p>
            <a:r>
              <a:rPr lang="en-US"/>
              <a:t>Click to edit Master title style</a:t>
            </a:r>
          </a:p>
        </p:txBody>
      </p:sp>
      <p:sp>
        <p:nvSpPr>
          <p:cNvPr id="4" name="Text Placeholder 3"/>
          <p:cNvSpPr>
            <a:spLocks noGrp="1"/>
          </p:cNvSpPr>
          <p:nvPr>
            <p:ph type="body" sz="half" idx="2"/>
          </p:nvPr>
        </p:nvSpPr>
        <p:spPr>
          <a:xfrm>
            <a:off x="885443" y="3545012"/>
            <a:ext cx="5776646" cy="1274198"/>
          </a:xfrm>
        </p:spPr>
        <p:txBody>
          <a:bodyPr>
            <a:normAutofit/>
          </a:bodyPr>
          <a:lstStyle>
            <a:lvl1pPr marL="0" indent="0" algn="ctr">
              <a:buNone/>
              <a:defRPr sz="18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04672" y="320040"/>
            <a:ext cx="3657600" cy="320040"/>
          </a:xfrm>
        </p:spPr>
        <p:txBody>
          <a:bodyPr/>
          <a:lstStyle/>
          <a:p>
            <a:fld id="{33C168C4-B4EC-1E40-8FDC-D6647CF9E329}" type="datetimeFigureOut">
              <a:rPr lang="en-US" smtClean="0"/>
              <a:t>11/16/25</a:t>
            </a:fld>
            <a:endParaRPr lang="en-US"/>
          </a:p>
        </p:txBody>
      </p:sp>
      <p:sp>
        <p:nvSpPr>
          <p:cNvPr id="6" name="Footer Placeholder 5"/>
          <p:cNvSpPr>
            <a:spLocks noGrp="1"/>
          </p:cNvSpPr>
          <p:nvPr>
            <p:ph type="ftr" sz="quarter" idx="11"/>
          </p:nvPr>
        </p:nvSpPr>
        <p:spPr>
          <a:xfrm>
            <a:off x="804672" y="6227064"/>
            <a:ext cx="5942203" cy="320040"/>
          </a:xfrm>
        </p:spPr>
        <p:txBody>
          <a:bodyPr/>
          <a:lstStyle/>
          <a:p>
            <a:endParaRPr lang="en-US"/>
          </a:p>
        </p:txBody>
      </p:sp>
      <p:sp>
        <p:nvSpPr>
          <p:cNvPr id="7" name="Slide Number Placeholder 6"/>
          <p:cNvSpPr>
            <a:spLocks noGrp="1"/>
          </p:cNvSpPr>
          <p:nvPr>
            <p:ph type="sldNum" sz="quarter" idx="12"/>
          </p:nvPr>
        </p:nvSpPr>
        <p:spPr>
          <a:xfrm>
            <a:off x="5828377" y="320040"/>
            <a:ext cx="914400" cy="320040"/>
          </a:xfrm>
        </p:spPr>
        <p:txBody>
          <a:bodyPr/>
          <a:lstStyle/>
          <a:p>
            <a:fld id="{56408152-9CB0-B94A-B660-016E19F35FAD}" type="slidenum">
              <a:rPr lang="en-US" smtClean="0"/>
              <a:t>‹#›</a:t>
            </a:fld>
            <a:endParaRPr lang="en-US"/>
          </a:p>
        </p:txBody>
      </p:sp>
    </p:spTree>
    <p:extLst>
      <p:ext uri="{BB962C8B-B14F-4D97-AF65-F5344CB8AC3E}">
        <p14:creationId xmlns:p14="http://schemas.microsoft.com/office/powerpoint/2010/main" val="2120035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5" name="Group 74"/>
          <p:cNvGrpSpPr/>
          <p:nvPr/>
        </p:nvGrpSpPr>
        <p:grpSpPr>
          <a:xfrm>
            <a:off x="-417513"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800144"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1"/>
          </a:xfrm>
        </p:spPr>
        <p:txBody>
          <a:bodyPr/>
          <a:lstStyle>
            <a:lvl1pPr>
              <a:defRPr>
                <a:solidFill>
                  <a:srgbClr val="FFFEFF"/>
                </a:solidFill>
              </a:defRPr>
            </a:lvl1pPr>
          </a:lstStyle>
          <a:p>
            <a:r>
              <a:rPr lang="en-US"/>
              <a:t>Click to edit Master title style</a:t>
            </a:r>
          </a:p>
        </p:txBody>
      </p:sp>
      <p:sp>
        <p:nvSpPr>
          <p:cNvPr id="3" name="Vertical Text Placeholder 2"/>
          <p:cNvSpPr>
            <a:spLocks noGrp="1"/>
          </p:cNvSpPr>
          <p:nvPr>
            <p:ph type="body" orient="vert" idx="1"/>
          </p:nvPr>
        </p:nvSpPr>
        <p:spPr>
          <a:xfrm>
            <a:off x="5109983" y="794719"/>
            <a:ext cx="6275035" cy="52570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3C168C4-B4EC-1E40-8FDC-D6647CF9E329}" type="datetimeFigureOut">
              <a:rPr lang="en-US" smtClean="0"/>
              <a:t>11/16/25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408152-9CB0-B94A-B660-016E19F35FAD}" type="slidenum">
              <a:rPr lang="en-US" smtClean="0"/>
              <a:t>‹#›</a:t>
            </a:fld>
            <a:endParaRPr lang="en-US"/>
          </a:p>
        </p:txBody>
      </p:sp>
    </p:spTree>
    <p:extLst>
      <p:ext uri="{BB962C8B-B14F-4D97-AF65-F5344CB8AC3E}">
        <p14:creationId xmlns:p14="http://schemas.microsoft.com/office/powerpoint/2010/main" val="20668147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5" name="Group 74"/>
          <p:cNvGrpSpPr/>
          <p:nvPr/>
        </p:nvGrpSpPr>
        <p:grpSpPr>
          <a:xfrm flipH="1">
            <a:off x="0"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7718948"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807437" y="2349925"/>
            <a:ext cx="3501195" cy="2456442"/>
          </a:xfrm>
        </p:spPr>
        <p:txBody>
          <a:bodyPr vert="eaVert"/>
          <a:lstStyle>
            <a:lvl1pPr algn="l">
              <a:lnSpc>
                <a:spcPct val="80000"/>
              </a:lnSpc>
              <a:defRPr>
                <a:solidFill>
                  <a:srgbClr val="FFFEFF"/>
                </a:solidFill>
              </a:defRPr>
            </a:lvl1pPr>
          </a:lstStyle>
          <a:p>
            <a:r>
              <a:rPr lang="en-US"/>
              <a:t>Click to edit Master title style</a:t>
            </a:r>
          </a:p>
        </p:txBody>
      </p:sp>
      <p:sp>
        <p:nvSpPr>
          <p:cNvPr id="3" name="Vertical Text Placeholder 2"/>
          <p:cNvSpPr>
            <a:spLocks noGrp="1"/>
          </p:cNvSpPr>
          <p:nvPr>
            <p:ph type="body" orient="vert" idx="1"/>
          </p:nvPr>
        </p:nvSpPr>
        <p:spPr>
          <a:xfrm>
            <a:off x="802747" y="798444"/>
            <a:ext cx="6268622" cy="525730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04672" y="320040"/>
            <a:ext cx="3657600" cy="320040"/>
          </a:xfrm>
        </p:spPr>
        <p:txBody>
          <a:bodyPr/>
          <a:lstStyle/>
          <a:p>
            <a:fld id="{33C168C4-B4EC-1E40-8FDC-D6647CF9E329}" type="datetimeFigureOut">
              <a:rPr lang="en-US" smtClean="0"/>
              <a:t>11/16/25</a:t>
            </a:fld>
            <a:endParaRPr lang="en-US"/>
          </a:p>
        </p:txBody>
      </p:sp>
      <p:sp>
        <p:nvSpPr>
          <p:cNvPr id="5" name="Footer Placeholder 4"/>
          <p:cNvSpPr>
            <a:spLocks noGrp="1"/>
          </p:cNvSpPr>
          <p:nvPr>
            <p:ph type="ftr" sz="quarter" idx="11"/>
          </p:nvPr>
        </p:nvSpPr>
        <p:spPr>
          <a:xfrm>
            <a:off x="804672" y="6227064"/>
            <a:ext cx="10588752" cy="320040"/>
          </a:xfrm>
        </p:spPr>
        <p:txBody>
          <a:bodyPr/>
          <a:lstStyle/>
          <a:p>
            <a:endParaRPr lang="en-US"/>
          </a:p>
        </p:txBody>
      </p:sp>
      <p:sp>
        <p:nvSpPr>
          <p:cNvPr id="6" name="Slide Number Placeholder 5"/>
          <p:cNvSpPr>
            <a:spLocks noGrp="1"/>
          </p:cNvSpPr>
          <p:nvPr>
            <p:ph type="sldNum" sz="quarter" idx="12"/>
          </p:nvPr>
        </p:nvSpPr>
        <p:spPr>
          <a:xfrm>
            <a:off x="10469880" y="320040"/>
            <a:ext cx="914400" cy="320040"/>
          </a:xfrm>
        </p:spPr>
        <p:txBody>
          <a:bodyPr/>
          <a:lstStyle/>
          <a:p>
            <a:fld id="{56408152-9CB0-B94A-B660-016E19F35FAD}" type="slidenum">
              <a:rPr lang="en-US" smtClean="0"/>
              <a:t>‹#›</a:t>
            </a:fld>
            <a:endParaRPr lang="en-US"/>
          </a:p>
        </p:txBody>
      </p:sp>
    </p:spTree>
    <p:extLst>
      <p:ext uri="{BB962C8B-B14F-4D97-AF65-F5344CB8AC3E}">
        <p14:creationId xmlns:p14="http://schemas.microsoft.com/office/powerpoint/2010/main" val="2561732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rmAutofit/>
          </a:bodyPr>
          <a:lstStyle/>
          <a:p>
            <a:r>
              <a:rPr lang="en-US"/>
              <a:t>Click to edit Master title style</a:t>
            </a:r>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33C168C4-B4EC-1E40-8FDC-D6647CF9E329}" type="datetimeFigureOut">
              <a:rPr lang="en-US" smtClean="0"/>
              <a:t>11/16/25</a:t>
            </a:fld>
            <a:endParaRPr lang="en-US"/>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56408152-9CB0-B94A-B660-016E19F35FAD}" type="slidenum">
              <a:rPr lang="en-US" smtClean="0"/>
              <a:t>‹#›</a:t>
            </a:fld>
            <a:endParaRPr lang="en-US"/>
          </a:p>
        </p:txBody>
      </p:sp>
    </p:spTree>
    <p:extLst>
      <p:ext uri="{BB962C8B-B14F-4D97-AF65-F5344CB8AC3E}">
        <p14:creationId xmlns:p14="http://schemas.microsoft.com/office/powerpoint/2010/main" val="459835803"/>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png"/><Relationship Id="rId7"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10" Type="http://schemas.openxmlformats.org/officeDocument/2006/relationships/image" Target="../media/image1.png"/><Relationship Id="rId4" Type="http://schemas.openxmlformats.org/officeDocument/2006/relationships/diagramData" Target="../diagrams/data1.xml"/><Relationship Id="rId9"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 Id="rId9" Type="http://schemas.openxmlformats.org/officeDocument/2006/relationships/image" Target="../media/image1.png"/></Relationships>
</file>

<file path=ppt/slides/_rels/slide15.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18.png"/><Relationship Id="rId7" Type="http://schemas.openxmlformats.org/officeDocument/2006/relationships/diagramQuickStyle" Target="../diagrams/quickStyle3.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Layout" Target="../diagrams/layout3.xml"/><Relationship Id="rId11" Type="http://schemas.openxmlformats.org/officeDocument/2006/relationships/image" Target="../media/image1.png"/><Relationship Id="rId5" Type="http://schemas.openxmlformats.org/officeDocument/2006/relationships/diagramData" Target="../diagrams/data3.xml"/><Relationship Id="rId10" Type="http://schemas.openxmlformats.org/officeDocument/2006/relationships/image" Target="../media/image2.png"/><Relationship Id="rId4" Type="http://schemas.microsoft.com/office/2007/relationships/hdphoto" Target="../media/hdphoto1.wdp"/><Relationship Id="rId9" Type="http://schemas.microsoft.com/office/2007/relationships/diagramDrawing" Target="../diagrams/drawing3.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chart" Target="../charts/chart1.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 Id="rId9" Type="http://schemas.openxmlformats.org/officeDocument/2006/relationships/image" Target="../media/image2.png"/></Relationships>
</file>

<file path=ppt/slides/_rels/slide18.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 Id="rId9"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9" name="Rectangle 88">
            <a:extLst>
              <a:ext uri="{FF2B5EF4-FFF2-40B4-BE49-F238E27FC236}">
                <a16:creationId xmlns:a16="http://schemas.microsoft.com/office/drawing/2014/main" id="{FD8F1113-2E3C-46E3-B54F-B7F421EEF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Freeform 5">
            <a:extLst>
              <a:ext uri="{FF2B5EF4-FFF2-40B4-BE49-F238E27FC236}">
                <a16:creationId xmlns:a16="http://schemas.microsoft.com/office/drawing/2014/main" id="{B54A4D14-513F-4121-92D3-5CCB468962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29674" y="1290909"/>
            <a:ext cx="9702800" cy="5573512"/>
          </a:xfrm>
          <a:custGeom>
            <a:avLst/>
            <a:gdLst>
              <a:gd name="T0" fmla="*/ 1752 w 2038"/>
              <a:gd name="T1" fmla="*/ 1169 h 1169"/>
              <a:gd name="T2" fmla="*/ 1487 w 2038"/>
              <a:gd name="T3" fmla="*/ 334 h 1169"/>
              <a:gd name="T4" fmla="*/ 860 w 2038"/>
              <a:gd name="T5" fmla="*/ 22 h 1169"/>
              <a:gd name="T6" fmla="*/ 199 w 2038"/>
              <a:gd name="T7" fmla="*/ 318 h 1169"/>
              <a:gd name="T8" fmla="*/ 399 w 2038"/>
              <a:gd name="T9" fmla="*/ 1165 h 1169"/>
            </a:gdLst>
            <a:ahLst/>
            <a:cxnLst>
              <a:cxn ang="0">
                <a:pos x="T0" y="T1"/>
              </a:cxn>
              <a:cxn ang="0">
                <a:pos x="T2" y="T3"/>
              </a:cxn>
              <a:cxn ang="0">
                <a:pos x="T4" y="T5"/>
              </a:cxn>
              <a:cxn ang="0">
                <a:pos x="T6" y="T7"/>
              </a:cxn>
              <a:cxn ang="0">
                <a:pos x="T8" y="T9"/>
              </a:cxn>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1" name="Freeform 6">
            <a:extLst>
              <a:ext uri="{FF2B5EF4-FFF2-40B4-BE49-F238E27FC236}">
                <a16:creationId xmlns:a16="http://schemas.microsoft.com/office/drawing/2014/main" id="{6C3411F1-AD17-499D-AFEF-2F300F6DF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70451" y="2010741"/>
            <a:ext cx="7373938" cy="4848892"/>
          </a:xfrm>
          <a:custGeom>
            <a:avLst/>
            <a:gdLst>
              <a:gd name="T0" fmla="*/ 1025 w 1549"/>
              <a:gd name="T1" fmla="*/ 1016 h 1017"/>
              <a:gd name="T2" fmla="*/ 1443 w 1549"/>
              <a:gd name="T3" fmla="*/ 592 h 1017"/>
              <a:gd name="T4" fmla="*/ 782 w 1549"/>
              <a:gd name="T5" fmla="*/ 53 h 1017"/>
              <a:gd name="T6" fmla="*/ 150 w 1549"/>
              <a:gd name="T7" fmla="*/ 329 h 1017"/>
              <a:gd name="T8" fmla="*/ 477 w 1549"/>
              <a:gd name="T9" fmla="*/ 1017 h 1017"/>
            </a:gdLst>
            <a:ahLst/>
            <a:cxnLst>
              <a:cxn ang="0">
                <a:pos x="T0" y="T1"/>
              </a:cxn>
              <a:cxn ang="0">
                <a:pos x="T2" y="T3"/>
              </a:cxn>
              <a:cxn ang="0">
                <a:pos x="T4" y="T5"/>
              </a:cxn>
              <a:cxn ang="0">
                <a:pos x="T6" y="T7"/>
              </a:cxn>
              <a:cxn ang="0">
                <a:pos x="T8" y="T9"/>
              </a:cxn>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2" name="Freeform 7">
            <a:extLst>
              <a:ext uri="{FF2B5EF4-FFF2-40B4-BE49-F238E27FC236}">
                <a16:creationId xmlns:a16="http://schemas.microsoft.com/office/drawing/2014/main" id="{60BF2CBE-B1E9-4C42-89DC-C35E4E651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51351" y="1780905"/>
            <a:ext cx="8035925" cy="5083516"/>
          </a:xfrm>
          <a:custGeom>
            <a:avLst/>
            <a:gdLst>
              <a:gd name="T0" fmla="*/ 1302 w 1688"/>
              <a:gd name="T1" fmla="*/ 1066 h 1066"/>
              <a:gd name="T2" fmla="*/ 1613 w 1688"/>
              <a:gd name="T3" fmla="*/ 850 h 1066"/>
              <a:gd name="T4" fmla="*/ 1517 w 1688"/>
              <a:gd name="T5" fmla="*/ 471 h 1066"/>
              <a:gd name="T6" fmla="*/ 798 w 1688"/>
              <a:gd name="T7" fmla="*/ 28 h 1066"/>
              <a:gd name="T8" fmla="*/ 181 w 1688"/>
              <a:gd name="T9" fmla="*/ 333 h 1066"/>
              <a:gd name="T10" fmla="*/ 420 w 1688"/>
              <a:gd name="T11" fmla="*/ 1066 h 1066"/>
            </a:gdLst>
            <a:ahLst/>
            <a:cxnLst>
              <a:cxn ang="0">
                <a:pos x="T0" y="T1"/>
              </a:cxn>
              <a:cxn ang="0">
                <a:pos x="T2" y="T3"/>
              </a:cxn>
              <a:cxn ang="0">
                <a:pos x="T4" y="T5"/>
              </a:cxn>
              <a:cxn ang="0">
                <a:pos x="T6" y="T7"/>
              </a:cxn>
              <a:cxn ang="0">
                <a:pos x="T8" y="T9"/>
              </a:cxn>
              <a:cxn ang="0">
                <a:pos x="T10" y="T11"/>
              </a:cxn>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3" name="Freeform 8">
            <a:extLst>
              <a:ext uri="{FF2B5EF4-FFF2-40B4-BE49-F238E27FC236}">
                <a16:creationId xmlns:a16="http://schemas.microsoft.com/office/drawing/2014/main" id="{72C95A87-DCDB-41C4-B774-744B3ECBE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542347"/>
            <a:ext cx="10334625" cy="6322075"/>
          </a:xfrm>
          <a:custGeom>
            <a:avLst/>
            <a:gdLst>
              <a:gd name="T0" fmla="*/ 1873 w 2171"/>
              <a:gd name="T1" fmla="*/ 1326 h 1326"/>
              <a:gd name="T2" fmla="*/ 1609 w 2171"/>
              <a:gd name="T3" fmla="*/ 473 h 1326"/>
              <a:gd name="T4" fmla="*/ 880 w 2171"/>
              <a:gd name="T5" fmla="*/ 63 h 1326"/>
              <a:gd name="T6" fmla="*/ 0 w 2171"/>
              <a:gd name="T7" fmla="*/ 423 h 1326"/>
            </a:gdLst>
            <a:ahLst/>
            <a:cxnLst>
              <a:cxn ang="0">
                <a:pos x="T0" y="T1"/>
              </a:cxn>
              <a:cxn ang="0">
                <a:pos x="T2" y="T3"/>
              </a:cxn>
              <a:cxn ang="0">
                <a:pos x="T4" y="T5"/>
              </a:cxn>
              <a:cxn ang="0">
                <a:pos x="T6" y="T7"/>
              </a:cxn>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4" name="Freeform 9">
            <a:extLst>
              <a:ext uri="{FF2B5EF4-FFF2-40B4-BE49-F238E27FC236}">
                <a16:creationId xmlns:a16="http://schemas.microsoft.com/office/drawing/2014/main" id="{BCB97515-32FF-43A6-A51C-B140193AB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701" y="6178751"/>
            <a:ext cx="504825" cy="681527"/>
          </a:xfrm>
          <a:custGeom>
            <a:avLst/>
            <a:gdLst>
              <a:gd name="T0" fmla="*/ 0 w 106"/>
              <a:gd name="T1" fmla="*/ 0 h 143"/>
              <a:gd name="T2" fmla="*/ 106 w 106"/>
              <a:gd name="T3" fmla="*/ 143 h 143"/>
            </a:gdLst>
            <a:ahLst/>
            <a:cxnLst>
              <a:cxn ang="0">
                <a:pos x="T0" y="T1"/>
              </a:cxn>
              <a:cxn ang="0">
                <a:pos x="T2" y="T3"/>
              </a:cxn>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5" name="Freeform 10">
            <a:extLst>
              <a:ext uri="{FF2B5EF4-FFF2-40B4-BE49-F238E27FC236}">
                <a16:creationId xmlns:a16="http://schemas.microsoft.com/office/drawing/2014/main" id="{9C6379D3-7045-4B76-9409-6D23D753D0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59376"/>
            <a:ext cx="11091863" cy="6923796"/>
          </a:xfrm>
          <a:custGeom>
            <a:avLst/>
            <a:gdLst>
              <a:gd name="T0" fmla="*/ 2046 w 2330"/>
              <a:gd name="T1" fmla="*/ 1452 h 1452"/>
              <a:gd name="T2" fmla="*/ 1813 w 2330"/>
              <a:gd name="T3" fmla="*/ 601 h 1452"/>
              <a:gd name="T4" fmla="*/ 956 w 2330"/>
              <a:gd name="T5" fmla="*/ 97 h 1452"/>
              <a:gd name="T6" fmla="*/ 0 w 2330"/>
              <a:gd name="T7" fmla="*/ 366 h 1452"/>
            </a:gdLst>
            <a:ahLst/>
            <a:cxnLst>
              <a:cxn ang="0">
                <a:pos x="T0" y="T1"/>
              </a:cxn>
              <a:cxn ang="0">
                <a:pos x="T2" y="T3"/>
              </a:cxn>
              <a:cxn ang="0">
                <a:pos x="T4" y="T5"/>
              </a:cxn>
              <a:cxn ang="0">
                <a:pos x="T6" y="T7"/>
              </a:cxn>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6" name="Freeform 12">
            <a:extLst>
              <a:ext uri="{FF2B5EF4-FFF2-40B4-BE49-F238E27FC236}">
                <a16:creationId xmlns:a16="http://schemas.microsoft.com/office/drawing/2014/main" id="{61B1C1DE-4201-4989-BE65-41ADC24725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1916"/>
            <a:ext cx="1057275" cy="614491"/>
          </a:xfrm>
          <a:custGeom>
            <a:avLst/>
            <a:gdLst>
              <a:gd name="T0" fmla="*/ 222 w 222"/>
              <a:gd name="T1" fmla="*/ 0 h 129"/>
              <a:gd name="T2" fmla="*/ 0 w 222"/>
              <a:gd name="T3" fmla="*/ 129 h 129"/>
            </a:gdLst>
            <a:ahLst/>
            <a:cxnLst>
              <a:cxn ang="0">
                <a:pos x="T0" y="T1"/>
              </a:cxn>
              <a:cxn ang="0">
                <a:pos x="T2" y="T3"/>
              </a:cxn>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7" name="Freeform 14">
            <a:extLst>
              <a:ext uri="{FF2B5EF4-FFF2-40B4-BE49-F238E27FC236}">
                <a16:creationId xmlns:a16="http://schemas.microsoft.com/office/drawing/2014/main" id="{806398CC-D327-4E06-838C-31119BD56F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701" y="-6705"/>
            <a:ext cx="595313" cy="352734"/>
          </a:xfrm>
          <a:custGeom>
            <a:avLst/>
            <a:gdLst>
              <a:gd name="T0" fmla="*/ 125 w 125"/>
              <a:gd name="T1" fmla="*/ 0 h 74"/>
              <a:gd name="T2" fmla="*/ 0 w 125"/>
              <a:gd name="T3" fmla="*/ 74 h 74"/>
            </a:gdLst>
            <a:ahLst/>
            <a:cxnLst>
              <a:cxn ang="0">
                <a:pos x="T0" y="T1"/>
              </a:cxn>
              <a:cxn ang="0">
                <a:pos x="T2" y="T3"/>
              </a:cxn>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8" name="Freeform 16">
            <a:extLst>
              <a:ext uri="{FF2B5EF4-FFF2-40B4-BE49-F238E27FC236}">
                <a16:creationId xmlns:a16="http://schemas.microsoft.com/office/drawing/2014/main" id="{70A741CC-E736-448A-A94E-5C8BB9711D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1916"/>
            <a:ext cx="357188" cy="213875"/>
          </a:xfrm>
          <a:custGeom>
            <a:avLst/>
            <a:gdLst>
              <a:gd name="T0" fmla="*/ 75 w 75"/>
              <a:gd name="T1" fmla="*/ 0 h 45"/>
              <a:gd name="T2" fmla="*/ 0 w 75"/>
              <a:gd name="T3" fmla="*/ 45 h 45"/>
            </a:gdLst>
            <a:ahLst/>
            <a:cxnLst>
              <a:cxn ang="0">
                <a:pos x="T0" y="T1"/>
              </a:cxn>
              <a:cxn ang="0">
                <a:pos x="T2" y="T3"/>
              </a:cxn>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9" name="Freeform 11">
            <a:extLst>
              <a:ext uri="{FF2B5EF4-FFF2-40B4-BE49-F238E27FC236}">
                <a16:creationId xmlns:a16="http://schemas.microsoft.com/office/drawing/2014/main" id="{7C324CDD-B30F-47DD-8627-E2171D5E83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426601" y="-1916"/>
            <a:ext cx="5788025" cy="6847184"/>
          </a:xfrm>
          <a:custGeom>
            <a:avLst/>
            <a:gdLst>
              <a:gd name="T0" fmla="*/ 1094 w 1216"/>
              <a:gd name="T1" fmla="*/ 1436 h 1436"/>
              <a:gd name="T2" fmla="*/ 709 w 1216"/>
              <a:gd name="T3" fmla="*/ 551 h 1436"/>
              <a:gd name="T4" fmla="*/ 0 w 1216"/>
              <a:gd name="T5" fmla="*/ 0 h 1436"/>
            </a:gdLst>
            <a:ahLst/>
            <a:cxnLst>
              <a:cxn ang="0">
                <a:pos x="T0" y="T1"/>
              </a:cxn>
              <a:cxn ang="0">
                <a:pos x="T2" y="T3"/>
              </a:cxn>
              <a:cxn ang="0">
                <a:pos x="T4" y="T5"/>
              </a:cxn>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0" name="Freeform 21">
            <a:extLst>
              <a:ext uri="{FF2B5EF4-FFF2-40B4-BE49-F238E27FC236}">
                <a16:creationId xmlns:a16="http://schemas.microsoft.com/office/drawing/2014/main" id="{79C8D19E-E3D6-45A6-BCA2-5918A37D7A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9235014" y="2872"/>
            <a:ext cx="2951163" cy="2555325"/>
          </a:xfrm>
          <a:custGeom>
            <a:avLst/>
            <a:gdLst>
              <a:gd name="T0" fmla="*/ 620 w 620"/>
              <a:gd name="T1" fmla="*/ 536 h 536"/>
              <a:gd name="T2" fmla="*/ 0 w 620"/>
              <a:gd name="T3" fmla="*/ 0 h 536"/>
            </a:gdLst>
            <a:ahLst/>
            <a:cxnLst>
              <a:cxn ang="0">
                <a:pos x="T0" y="T1"/>
              </a:cxn>
              <a:cxn ang="0">
                <a:pos x="T2" y="T3"/>
              </a:cxn>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B15156EE-C577-34F2-8C8B-606E766B61ED}"/>
              </a:ext>
            </a:extLst>
          </p:cNvPr>
          <p:cNvSpPr>
            <a:spLocks noGrp="1"/>
          </p:cNvSpPr>
          <p:nvPr>
            <p:ph type="ctrTitle"/>
          </p:nvPr>
        </p:nvSpPr>
        <p:spPr>
          <a:xfrm>
            <a:off x="8665754" y="1477651"/>
            <a:ext cx="3088924" cy="2555325"/>
          </a:xfrm>
        </p:spPr>
        <p:txBody>
          <a:bodyPr>
            <a:normAutofit/>
          </a:bodyPr>
          <a:lstStyle/>
          <a:p>
            <a:pPr algn="l"/>
            <a:r>
              <a:rPr lang="en-US" sz="4000" b="1">
                <a:solidFill>
                  <a:schemeClr val="tx1"/>
                </a:solidFill>
                <a:ea typeface="Calibri Light"/>
                <a:cs typeface="Calibri Light"/>
              </a:rPr>
              <a:t>Enhancing Morningstar’s Match API</a:t>
            </a:r>
            <a:endParaRPr lang="en-US" sz="4000" b="1">
              <a:solidFill>
                <a:schemeClr val="tx1"/>
              </a:solidFill>
            </a:endParaRPr>
          </a:p>
        </p:txBody>
      </p:sp>
      <p:sp>
        <p:nvSpPr>
          <p:cNvPr id="3" name="Subtitle 2">
            <a:extLst>
              <a:ext uri="{FF2B5EF4-FFF2-40B4-BE49-F238E27FC236}">
                <a16:creationId xmlns:a16="http://schemas.microsoft.com/office/drawing/2014/main" id="{1770D2EC-CC36-EBA8-1A62-6458E0AD9B1A}"/>
              </a:ext>
            </a:extLst>
          </p:cNvPr>
          <p:cNvSpPr>
            <a:spLocks noGrp="1"/>
          </p:cNvSpPr>
          <p:nvPr>
            <p:ph type="subTitle" idx="1"/>
          </p:nvPr>
        </p:nvSpPr>
        <p:spPr>
          <a:xfrm>
            <a:off x="8826473" y="4498029"/>
            <a:ext cx="2951163" cy="1306389"/>
          </a:xfrm>
        </p:spPr>
        <p:txBody>
          <a:bodyPr vert="horz" lIns="91440" tIns="0" rIns="91440" bIns="45720" rtlCol="0">
            <a:normAutofit/>
          </a:bodyPr>
          <a:lstStyle/>
          <a:p>
            <a:pPr algn="l"/>
            <a:r>
              <a:rPr lang="en-US" sz="1600">
                <a:solidFill>
                  <a:schemeClr val="tx1"/>
                </a:solidFill>
                <a:latin typeface="Rockwell"/>
              </a:rPr>
              <a:t>Yuva raj Balla, </a:t>
            </a:r>
            <a:r>
              <a:rPr lang="en-US" sz="1600" err="1">
                <a:solidFill>
                  <a:schemeClr val="tx1"/>
                </a:solidFill>
                <a:latin typeface="Rockwell"/>
              </a:rPr>
              <a:t>Qurrathul</a:t>
            </a:r>
            <a:r>
              <a:rPr lang="en-US" sz="1600">
                <a:solidFill>
                  <a:schemeClr val="tx1"/>
                </a:solidFill>
                <a:latin typeface="Rockwell"/>
              </a:rPr>
              <a:t> Ain Majid, Payton Malpeli, Bhumanyu Singh Ranawat, and Liana Cramb</a:t>
            </a:r>
          </a:p>
        </p:txBody>
      </p:sp>
      <p:sp>
        <p:nvSpPr>
          <p:cNvPr id="101" name="Freeform 22">
            <a:extLst>
              <a:ext uri="{FF2B5EF4-FFF2-40B4-BE49-F238E27FC236}">
                <a16:creationId xmlns:a16="http://schemas.microsoft.com/office/drawing/2014/main" id="{43280283-E04A-43CA-BFA1-F285486A2F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020826" y="-1916"/>
            <a:ext cx="2165350" cy="1358265"/>
          </a:xfrm>
          <a:custGeom>
            <a:avLst/>
            <a:gdLst>
              <a:gd name="T0" fmla="*/ 0 w 455"/>
              <a:gd name="T1" fmla="*/ 0 h 285"/>
              <a:gd name="T2" fmla="*/ 455 w 455"/>
              <a:gd name="T3" fmla="*/ 285 h 285"/>
            </a:gdLst>
            <a:ahLst/>
            <a:cxnLst>
              <a:cxn ang="0">
                <a:pos x="T0" y="T1"/>
              </a:cxn>
              <a:cxn ang="0">
                <a:pos x="T2" y="T3"/>
              </a:cxn>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2" name="Freeform 23">
            <a:extLst>
              <a:ext uri="{FF2B5EF4-FFF2-40B4-BE49-F238E27FC236}">
                <a16:creationId xmlns:a16="http://schemas.microsoft.com/office/drawing/2014/main" id="{38328CB6-0FC5-4AEA-BC7E-489267CB6F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90826" y="-1916"/>
            <a:ext cx="895350" cy="534687"/>
          </a:xfrm>
          <a:custGeom>
            <a:avLst/>
            <a:gdLst>
              <a:gd name="T0" fmla="*/ 0 w 188"/>
              <a:gd name="T1" fmla="*/ 0 h 112"/>
              <a:gd name="T2" fmla="*/ 188 w 188"/>
              <a:gd name="T3" fmla="*/ 112 h 112"/>
            </a:gdLst>
            <a:ahLst/>
            <a:cxnLst>
              <a:cxn ang="0">
                <a:pos x="T0" y="T1"/>
              </a:cxn>
              <a:cxn ang="0">
                <a:pos x="T2" y="T3"/>
              </a:cxn>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3" name="Freeform: Shape 102">
            <a:extLst>
              <a:ext uri="{FF2B5EF4-FFF2-40B4-BE49-F238E27FC236}">
                <a16:creationId xmlns:a16="http://schemas.microsoft.com/office/drawing/2014/main" id="{138AF5D2-3A9C-4E8F-B879-36865366A1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31529">
            <a:off x="752078" y="2218040"/>
            <a:ext cx="4418757" cy="4259609"/>
          </a:xfrm>
          <a:custGeom>
            <a:avLst/>
            <a:gdLst>
              <a:gd name="connsiteX0" fmla="*/ 404107 w 4507111"/>
              <a:gd name="connsiteY0" fmla="*/ 0 h 4344781"/>
              <a:gd name="connsiteX1" fmla="*/ 371857 w 4507111"/>
              <a:gd name="connsiteY1" fmla="*/ 117359 h 4344781"/>
              <a:gd name="connsiteX2" fmla="*/ 307833 w 4507111"/>
              <a:gd name="connsiteY2" fmla="*/ 632970 h 4344781"/>
              <a:gd name="connsiteX3" fmla="*/ 3569418 w 4507111"/>
              <a:gd name="connsiteY3" fmla="*/ 4141149 h 4344781"/>
              <a:gd name="connsiteX4" fmla="*/ 4440861 w 4507111"/>
              <a:gd name="connsiteY4" fmla="*/ 4332480 h 4344781"/>
              <a:gd name="connsiteX5" fmla="*/ 4507111 w 4507111"/>
              <a:gd name="connsiteY5" fmla="*/ 4341752 h 4344781"/>
              <a:gd name="connsiteX6" fmla="*/ 4296045 w 4507111"/>
              <a:gd name="connsiteY6" fmla="*/ 4344781 h 4344781"/>
              <a:gd name="connsiteX7" fmla="*/ 3749565 w 4507111"/>
              <a:gd name="connsiteY7" fmla="*/ 4321853 h 4344781"/>
              <a:gd name="connsiteX8" fmla="*/ 36764 w 4507111"/>
              <a:gd name="connsiteY8" fmla="*/ 1629794 h 4344781"/>
              <a:gd name="connsiteX9" fmla="*/ 300069 w 4507111"/>
              <a:gd name="connsiteY9" fmla="*/ 144750 h 4344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07111" h="4344781">
                <a:moveTo>
                  <a:pt x="404107" y="0"/>
                </a:moveTo>
                <a:lnTo>
                  <a:pt x="371857" y="117359"/>
                </a:lnTo>
                <a:cubicBezTo>
                  <a:pt x="333827" y="278567"/>
                  <a:pt x="311875" y="450459"/>
                  <a:pt x="307833" y="632970"/>
                </a:cubicBezTo>
                <a:cubicBezTo>
                  <a:pt x="264711" y="2579752"/>
                  <a:pt x="2253987" y="3769243"/>
                  <a:pt x="3569418" y="4141149"/>
                </a:cubicBezTo>
                <a:cubicBezTo>
                  <a:pt x="3816061" y="4210881"/>
                  <a:pt x="4114807" y="4279754"/>
                  <a:pt x="4440861" y="4332480"/>
                </a:cubicBezTo>
                <a:lnTo>
                  <a:pt x="4507111" y="4341752"/>
                </a:lnTo>
                <a:lnTo>
                  <a:pt x="4296045" y="4344781"/>
                </a:lnTo>
                <a:cubicBezTo>
                  <a:pt x="4097363" y="4343711"/>
                  <a:pt x="3912623" y="4335104"/>
                  <a:pt x="3749565" y="4321853"/>
                </a:cubicBezTo>
                <a:cubicBezTo>
                  <a:pt x="2445102" y="4215850"/>
                  <a:pt x="356405" y="3466499"/>
                  <a:pt x="36764" y="1629794"/>
                </a:cubicBezTo>
                <a:cubicBezTo>
                  <a:pt x="-63123" y="1055823"/>
                  <a:pt x="45741" y="555869"/>
                  <a:pt x="300069" y="144750"/>
                </a:cubicBezTo>
                <a:close/>
              </a:path>
            </a:pathLst>
          </a:cu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ckwell" panose="02060603020205020403"/>
              <a:ea typeface="+mn-ea"/>
              <a:cs typeface="+mn-cs"/>
            </a:endParaRPr>
          </a:p>
        </p:txBody>
      </p:sp>
      <p:pic>
        <p:nvPicPr>
          <p:cNvPr id="7" name="Content Placeholder 6" descr="A red text on a black background&#10;&#10;AI-generated content may be incorrect.">
            <a:extLst>
              <a:ext uri="{FF2B5EF4-FFF2-40B4-BE49-F238E27FC236}">
                <a16:creationId xmlns:a16="http://schemas.microsoft.com/office/drawing/2014/main" id="{9370C445-D23E-6E52-8A97-A4FCAD162680}"/>
              </a:ext>
            </a:extLst>
          </p:cNvPr>
          <p:cNvPicPr>
            <a:picLocks noChangeAspect="1"/>
          </p:cNvPicPr>
          <p:nvPr/>
        </p:nvPicPr>
        <p:blipFill>
          <a:blip r:embed="rId2"/>
          <a:srcRect l="33" r="3136" b="17"/>
          <a:stretch>
            <a:fillRect/>
          </a:stretch>
        </p:blipFill>
        <p:spPr>
          <a:xfrm>
            <a:off x="932740" y="461405"/>
            <a:ext cx="7761924" cy="5343065"/>
          </a:xfrm>
          <a:custGeom>
            <a:avLst/>
            <a:gdLst/>
            <a:ahLst/>
            <a:cxnLst/>
            <a:rect l="l" t="t" r="r" b="b"/>
            <a:pathLst>
              <a:path w="7761924" h="5343065">
                <a:moveTo>
                  <a:pt x="3025687" y="76"/>
                </a:moveTo>
                <a:cubicBezTo>
                  <a:pt x="3140786" y="756"/>
                  <a:pt x="3256631" y="6055"/>
                  <a:pt x="3372722" y="16088"/>
                </a:cubicBezTo>
                <a:cubicBezTo>
                  <a:pt x="5230178" y="176616"/>
                  <a:pt x="7761924" y="1424594"/>
                  <a:pt x="7761924" y="3316816"/>
                </a:cubicBezTo>
                <a:cubicBezTo>
                  <a:pt x="7646022" y="5237647"/>
                  <a:pt x="4988715" y="5423921"/>
                  <a:pt x="3701109" y="5320611"/>
                </a:cubicBezTo>
                <a:cubicBezTo>
                  <a:pt x="2413504" y="5217301"/>
                  <a:pt x="351800" y="4486992"/>
                  <a:pt x="36290" y="2696959"/>
                </a:cubicBezTo>
                <a:cubicBezTo>
                  <a:pt x="-259500" y="1018804"/>
                  <a:pt x="1299198" y="-10133"/>
                  <a:pt x="3025687" y="76"/>
                </a:cubicBezTo>
                <a:close/>
              </a:path>
            </a:pathLst>
          </a:custGeom>
        </p:spPr>
      </p:pic>
      <p:pic>
        <p:nvPicPr>
          <p:cNvPr id="1028" name="Picture 4">
            <a:extLst>
              <a:ext uri="{FF2B5EF4-FFF2-40B4-BE49-F238E27FC236}">
                <a16:creationId xmlns:a16="http://schemas.microsoft.com/office/drawing/2014/main" id="{272F81EC-CC0F-D91C-2378-730CC58467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597" y="-523693"/>
            <a:ext cx="2326245" cy="20837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73576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1"/>
            </a:gs>
            <a:gs pos="100000">
              <a:schemeClr val="tx1"/>
            </a:gs>
          </a:gsLst>
          <a:path path="circle">
            <a:fillToRect t="100000" r="100000"/>
          </a:path>
          <a:tileRect l="-100000" b="-100000"/>
        </a:gradFill>
        <a:effectLst/>
      </p:bgPr>
    </p:bg>
    <p:spTree>
      <p:nvGrpSpPr>
        <p:cNvPr id="1" name="">
          <a:extLst>
            <a:ext uri="{FF2B5EF4-FFF2-40B4-BE49-F238E27FC236}">
              <a16:creationId xmlns:a16="http://schemas.microsoft.com/office/drawing/2014/main" id="{36DA7F5C-4EF2-A798-1C50-E62EB1E73B70}"/>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15E1AC81-83F2-45A8-9054-15570F4E25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6" name="Freeform 5">
              <a:extLst>
                <a:ext uri="{FF2B5EF4-FFF2-40B4-BE49-F238E27FC236}">
                  <a16:creationId xmlns:a16="http://schemas.microsoft.com/office/drawing/2014/main" id="{B15AA7C5-9BFE-4B90-A119-467AFACE9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 name="Freeform 6">
              <a:extLst>
                <a:ext uri="{FF2B5EF4-FFF2-40B4-BE49-F238E27FC236}">
                  <a16:creationId xmlns:a16="http://schemas.microsoft.com/office/drawing/2014/main" id="{944AB87D-35AF-4719-9940-5822E77023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 name="Freeform 7">
              <a:extLst>
                <a:ext uri="{FF2B5EF4-FFF2-40B4-BE49-F238E27FC236}">
                  <a16:creationId xmlns:a16="http://schemas.microsoft.com/office/drawing/2014/main" id="{E8B33BE3-7890-4628-9322-7EFBA3375B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 name="Freeform 8">
              <a:extLst>
                <a:ext uri="{FF2B5EF4-FFF2-40B4-BE49-F238E27FC236}">
                  <a16:creationId xmlns:a16="http://schemas.microsoft.com/office/drawing/2014/main" id="{01AD3ECF-519E-45E2-99DA-F5C1B50715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 name="Freeform 9">
              <a:extLst>
                <a:ext uri="{FF2B5EF4-FFF2-40B4-BE49-F238E27FC236}">
                  <a16:creationId xmlns:a16="http://schemas.microsoft.com/office/drawing/2014/main" id="{C050E700-0FF1-4D25-B54C-84BA04FCDC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 name="Freeform 10">
              <a:extLst>
                <a:ext uri="{FF2B5EF4-FFF2-40B4-BE49-F238E27FC236}">
                  <a16:creationId xmlns:a16="http://schemas.microsoft.com/office/drawing/2014/main" id="{720D9C11-F5C9-41B0-B2F2-EE20BC3D0C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 name="Freeform 11">
              <a:extLst>
                <a:ext uri="{FF2B5EF4-FFF2-40B4-BE49-F238E27FC236}">
                  <a16:creationId xmlns:a16="http://schemas.microsoft.com/office/drawing/2014/main" id="{623A9DA0-857E-4CDE-80EA-F30F1CE55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 name="Freeform 12">
              <a:extLst>
                <a:ext uri="{FF2B5EF4-FFF2-40B4-BE49-F238E27FC236}">
                  <a16:creationId xmlns:a16="http://schemas.microsoft.com/office/drawing/2014/main" id="{C48B8F4C-2C83-46F6-AFCD-58166AEB18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 name="Freeform 13">
              <a:extLst>
                <a:ext uri="{FF2B5EF4-FFF2-40B4-BE49-F238E27FC236}">
                  <a16:creationId xmlns:a16="http://schemas.microsoft.com/office/drawing/2014/main" id="{234C3795-C44D-41A7-A8F6-891387A66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8" name="Freeform 14">
              <a:extLst>
                <a:ext uri="{FF2B5EF4-FFF2-40B4-BE49-F238E27FC236}">
                  <a16:creationId xmlns:a16="http://schemas.microsoft.com/office/drawing/2014/main" id="{91CC36F4-5DFA-4954-B354-97B180E98F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 name="Freeform 15">
              <a:extLst>
                <a:ext uri="{FF2B5EF4-FFF2-40B4-BE49-F238E27FC236}">
                  <a16:creationId xmlns:a16="http://schemas.microsoft.com/office/drawing/2014/main" id="{7087A08E-C024-457D-8F99-1F340CED61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 name="Freeform 16">
              <a:extLst>
                <a:ext uri="{FF2B5EF4-FFF2-40B4-BE49-F238E27FC236}">
                  <a16:creationId xmlns:a16="http://schemas.microsoft.com/office/drawing/2014/main" id="{61CFBC61-7F57-45D7-860E-BF51B0EDA5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1" name="Freeform 17">
              <a:extLst>
                <a:ext uri="{FF2B5EF4-FFF2-40B4-BE49-F238E27FC236}">
                  <a16:creationId xmlns:a16="http://schemas.microsoft.com/office/drawing/2014/main" id="{2591C3DB-4880-431E-BC3D-37F1378AC5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 name="Freeform 18">
              <a:extLst>
                <a:ext uri="{FF2B5EF4-FFF2-40B4-BE49-F238E27FC236}">
                  <a16:creationId xmlns:a16="http://schemas.microsoft.com/office/drawing/2014/main" id="{79557EFE-4199-4E24-8A13-1B9CC1715A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 name="Freeform 19">
              <a:extLst>
                <a:ext uri="{FF2B5EF4-FFF2-40B4-BE49-F238E27FC236}">
                  <a16:creationId xmlns:a16="http://schemas.microsoft.com/office/drawing/2014/main" id="{0B965615-6052-4907-A136-9CAD14604C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 name="Freeform 20">
              <a:extLst>
                <a:ext uri="{FF2B5EF4-FFF2-40B4-BE49-F238E27FC236}">
                  <a16:creationId xmlns:a16="http://schemas.microsoft.com/office/drawing/2014/main" id="{F788FFC4-205D-47C1-91E7-DD1A52E0A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 name="Freeform 21">
              <a:extLst>
                <a:ext uri="{FF2B5EF4-FFF2-40B4-BE49-F238E27FC236}">
                  <a16:creationId xmlns:a16="http://schemas.microsoft.com/office/drawing/2014/main" id="{462FADD6-C927-46ED-A6E6-273B35C2F1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 name="Freeform 22">
              <a:extLst>
                <a:ext uri="{FF2B5EF4-FFF2-40B4-BE49-F238E27FC236}">
                  <a16:creationId xmlns:a16="http://schemas.microsoft.com/office/drawing/2014/main" id="{AF64005E-134D-4444-9425-FB1C188985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 name="Freeform 23">
              <a:extLst>
                <a:ext uri="{FF2B5EF4-FFF2-40B4-BE49-F238E27FC236}">
                  <a16:creationId xmlns:a16="http://schemas.microsoft.com/office/drawing/2014/main" id="{E2565CA7-A8CB-463D-8D25-4F41235BC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 name="Freeform 24">
              <a:extLst>
                <a:ext uri="{FF2B5EF4-FFF2-40B4-BE49-F238E27FC236}">
                  <a16:creationId xmlns:a16="http://schemas.microsoft.com/office/drawing/2014/main" id="{41ABBFC0-4EEA-4634-A73B-945729D6BA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 name="Freeform 25">
              <a:extLst>
                <a:ext uri="{FF2B5EF4-FFF2-40B4-BE49-F238E27FC236}">
                  <a16:creationId xmlns:a16="http://schemas.microsoft.com/office/drawing/2014/main" id="{E422F11F-726A-4A93-9D1B-B1400B061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31" name="Group 30">
            <a:extLst>
              <a:ext uri="{FF2B5EF4-FFF2-40B4-BE49-F238E27FC236}">
                <a16:creationId xmlns:a16="http://schemas.microsoft.com/office/drawing/2014/main" id="{FBF129BC-EA9E-4D20-898B-399F7727DFB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30" name="Rectangle 29">
              <a:extLst>
                <a:ext uri="{FF2B5EF4-FFF2-40B4-BE49-F238E27FC236}">
                  <a16:creationId xmlns:a16="http://schemas.microsoft.com/office/drawing/2014/main" id="{CFF42BAE-3249-46C8-9108-A83C87206B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3" name="Isosceles Triangle 22">
              <a:extLst>
                <a:ext uri="{FF2B5EF4-FFF2-40B4-BE49-F238E27FC236}">
                  <a16:creationId xmlns:a16="http://schemas.microsoft.com/office/drawing/2014/main" id="{4DDE2BA8-4174-4A99-BB09-0BA28F2685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4" name="Rectangle 33">
              <a:extLst>
                <a:ext uri="{FF2B5EF4-FFF2-40B4-BE49-F238E27FC236}">
                  <a16:creationId xmlns:a16="http://schemas.microsoft.com/office/drawing/2014/main" id="{4A893933-F7DD-4DA6-85C7-4CFF58741E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useBgFill="1">
        <p:nvSpPr>
          <p:cNvPr id="36" name="Rectangle 35">
            <a:extLst>
              <a:ext uri="{FF2B5EF4-FFF2-40B4-BE49-F238E27FC236}">
                <a16:creationId xmlns:a16="http://schemas.microsoft.com/office/drawing/2014/main" id="{90F08744-9D7B-4693-B8D6-2A5210AE96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2">
            <a:extLst>
              <a:ext uri="{FF2B5EF4-FFF2-40B4-BE49-F238E27FC236}">
                <a16:creationId xmlns:a16="http://schemas.microsoft.com/office/drawing/2014/main" id="{5B2E630F-F386-44FA-B1A1-C10A9BF434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336127">
            <a:off x="296272" y="1026251"/>
            <a:ext cx="7298578" cy="5088488"/>
          </a:xfrm>
          <a:custGeom>
            <a:avLst/>
            <a:gdLst>
              <a:gd name="connsiteX0" fmla="*/ 0 w 6428838"/>
              <a:gd name="connsiteY0" fmla="*/ 2579031 h 5158062"/>
              <a:gd name="connsiteX1" fmla="*/ 3214419 w 6428838"/>
              <a:gd name="connsiteY1" fmla="*/ 0 h 5158062"/>
              <a:gd name="connsiteX2" fmla="*/ 6428838 w 6428838"/>
              <a:gd name="connsiteY2" fmla="*/ 2579031 h 5158062"/>
              <a:gd name="connsiteX3" fmla="*/ 3214419 w 6428838"/>
              <a:gd name="connsiteY3" fmla="*/ 5158062 h 5158062"/>
              <a:gd name="connsiteX4" fmla="*/ 0 w 6428838"/>
              <a:gd name="connsiteY4" fmla="*/ 2579031 h 5158062"/>
              <a:gd name="connsiteX0" fmla="*/ 3321 w 6432159"/>
              <a:gd name="connsiteY0" fmla="*/ 2647125 h 5226156"/>
              <a:gd name="connsiteX1" fmla="*/ 2789723 w 6432159"/>
              <a:gd name="connsiteY1" fmla="*/ 0 h 5226156"/>
              <a:gd name="connsiteX2" fmla="*/ 6432159 w 6432159"/>
              <a:gd name="connsiteY2" fmla="*/ 2647125 h 5226156"/>
              <a:gd name="connsiteX3" fmla="*/ 3217740 w 6432159"/>
              <a:gd name="connsiteY3" fmla="*/ 5226156 h 5226156"/>
              <a:gd name="connsiteX4" fmla="*/ 3321 w 6432159"/>
              <a:gd name="connsiteY4" fmla="*/ 2647125 h 5226156"/>
              <a:gd name="connsiteX0" fmla="*/ 1953 w 6566979"/>
              <a:gd name="connsiteY0" fmla="*/ 2695803 h 5226224"/>
              <a:gd name="connsiteX1" fmla="*/ 2924543 w 6566979"/>
              <a:gd name="connsiteY1" fmla="*/ 39 h 5226224"/>
              <a:gd name="connsiteX2" fmla="*/ 6566979 w 6566979"/>
              <a:gd name="connsiteY2" fmla="*/ 2647164 h 5226224"/>
              <a:gd name="connsiteX3" fmla="*/ 3352560 w 6566979"/>
              <a:gd name="connsiteY3" fmla="*/ 5226195 h 5226224"/>
              <a:gd name="connsiteX4" fmla="*/ 1953 w 6566979"/>
              <a:gd name="connsiteY4" fmla="*/ 2695803 h 5226224"/>
              <a:gd name="connsiteX0" fmla="*/ 8982 w 6574008"/>
              <a:gd name="connsiteY0" fmla="*/ 2695803 h 5226313"/>
              <a:gd name="connsiteX1" fmla="*/ 2931572 w 6574008"/>
              <a:gd name="connsiteY1" fmla="*/ 39 h 5226313"/>
              <a:gd name="connsiteX2" fmla="*/ 6574008 w 6574008"/>
              <a:gd name="connsiteY2" fmla="*/ 2647164 h 5226313"/>
              <a:gd name="connsiteX3" fmla="*/ 3359589 w 6574008"/>
              <a:gd name="connsiteY3" fmla="*/ 5226195 h 5226313"/>
              <a:gd name="connsiteX4" fmla="*/ 8982 w 6574008"/>
              <a:gd name="connsiteY4" fmla="*/ 2695803 h 5226313"/>
              <a:gd name="connsiteX0" fmla="*/ 11929 w 6576955"/>
              <a:gd name="connsiteY0" fmla="*/ 2695953 h 5226463"/>
              <a:gd name="connsiteX1" fmla="*/ 2934519 w 6576955"/>
              <a:gd name="connsiteY1" fmla="*/ 189 h 5226463"/>
              <a:gd name="connsiteX2" fmla="*/ 6576955 w 6576955"/>
              <a:gd name="connsiteY2" fmla="*/ 2647314 h 5226463"/>
              <a:gd name="connsiteX3" fmla="*/ 3362536 w 6576955"/>
              <a:gd name="connsiteY3" fmla="*/ 5226345 h 5226463"/>
              <a:gd name="connsiteX4" fmla="*/ 11929 w 6576955"/>
              <a:gd name="connsiteY4" fmla="*/ 2695953 h 5226463"/>
              <a:gd name="connsiteX0" fmla="*/ 9262 w 6963394"/>
              <a:gd name="connsiteY0" fmla="*/ 2705797 h 5247356"/>
              <a:gd name="connsiteX1" fmla="*/ 2931852 w 6963394"/>
              <a:gd name="connsiteY1" fmla="*/ 10033 h 5247356"/>
              <a:gd name="connsiteX2" fmla="*/ 6963394 w 6963394"/>
              <a:gd name="connsiteY2" fmla="*/ 3318639 h 5247356"/>
              <a:gd name="connsiteX3" fmla="*/ 3359869 w 6963394"/>
              <a:gd name="connsiteY3" fmla="*/ 5236189 h 5247356"/>
              <a:gd name="connsiteX4" fmla="*/ 9262 w 6963394"/>
              <a:gd name="connsiteY4" fmla="*/ 2705797 h 5247356"/>
              <a:gd name="connsiteX0" fmla="*/ 9262 w 6963394"/>
              <a:gd name="connsiteY0" fmla="*/ 2705797 h 5247356"/>
              <a:gd name="connsiteX1" fmla="*/ 2931852 w 6963394"/>
              <a:gd name="connsiteY1" fmla="*/ 10033 h 5247356"/>
              <a:gd name="connsiteX2" fmla="*/ 6963394 w 6963394"/>
              <a:gd name="connsiteY2" fmla="*/ 3318639 h 5247356"/>
              <a:gd name="connsiteX3" fmla="*/ 3359869 w 6963394"/>
              <a:gd name="connsiteY3" fmla="*/ 5236189 h 5247356"/>
              <a:gd name="connsiteX4" fmla="*/ 9262 w 6963394"/>
              <a:gd name="connsiteY4" fmla="*/ 2705797 h 5247356"/>
              <a:gd name="connsiteX0" fmla="*/ 9262 w 6963394"/>
              <a:gd name="connsiteY0" fmla="*/ 2705797 h 5292159"/>
              <a:gd name="connsiteX1" fmla="*/ 2931852 w 6963394"/>
              <a:gd name="connsiteY1" fmla="*/ 10033 h 5292159"/>
              <a:gd name="connsiteX2" fmla="*/ 6963394 w 6963394"/>
              <a:gd name="connsiteY2" fmla="*/ 3318639 h 5292159"/>
              <a:gd name="connsiteX3" fmla="*/ 3359869 w 6963394"/>
              <a:gd name="connsiteY3" fmla="*/ 5236189 h 5292159"/>
              <a:gd name="connsiteX4" fmla="*/ 9262 w 6963394"/>
              <a:gd name="connsiteY4" fmla="*/ 2705797 h 5292159"/>
              <a:gd name="connsiteX0" fmla="*/ 9262 w 6963394"/>
              <a:gd name="connsiteY0" fmla="*/ 2705797 h 5259961"/>
              <a:gd name="connsiteX1" fmla="*/ 2931852 w 6963394"/>
              <a:gd name="connsiteY1" fmla="*/ 10033 h 5259961"/>
              <a:gd name="connsiteX2" fmla="*/ 6963394 w 6963394"/>
              <a:gd name="connsiteY2" fmla="*/ 3318639 h 5259961"/>
              <a:gd name="connsiteX3" fmla="*/ 3359869 w 6963394"/>
              <a:gd name="connsiteY3" fmla="*/ 5236189 h 5259961"/>
              <a:gd name="connsiteX4" fmla="*/ 9262 w 6963394"/>
              <a:gd name="connsiteY4" fmla="*/ 2705797 h 5259961"/>
              <a:gd name="connsiteX0" fmla="*/ 9557 w 7352795"/>
              <a:gd name="connsiteY0" fmla="*/ 2707501 h 5252013"/>
              <a:gd name="connsiteX1" fmla="*/ 2932147 w 7352795"/>
              <a:gd name="connsiteY1" fmla="*/ 11737 h 5252013"/>
              <a:gd name="connsiteX2" fmla="*/ 7352795 w 7352795"/>
              <a:gd name="connsiteY2" fmla="*/ 3378709 h 5252013"/>
              <a:gd name="connsiteX3" fmla="*/ 3360164 w 7352795"/>
              <a:gd name="connsiteY3" fmla="*/ 5237893 h 5252013"/>
              <a:gd name="connsiteX4" fmla="*/ 9557 w 7352795"/>
              <a:gd name="connsiteY4" fmla="*/ 2707501 h 5252013"/>
              <a:gd name="connsiteX0" fmla="*/ 8078 w 7789061"/>
              <a:gd name="connsiteY0" fmla="*/ 2744796 h 5249051"/>
              <a:gd name="connsiteX1" fmla="*/ 3368413 w 7789061"/>
              <a:gd name="connsiteY1" fmla="*/ 10121 h 5249051"/>
              <a:gd name="connsiteX2" fmla="*/ 7789061 w 7789061"/>
              <a:gd name="connsiteY2" fmla="*/ 3377093 h 5249051"/>
              <a:gd name="connsiteX3" fmla="*/ 3796430 w 7789061"/>
              <a:gd name="connsiteY3" fmla="*/ 5236277 h 5249051"/>
              <a:gd name="connsiteX4" fmla="*/ 8078 w 7789061"/>
              <a:gd name="connsiteY4" fmla="*/ 2744796 h 5249051"/>
              <a:gd name="connsiteX0" fmla="*/ 8078 w 7789061"/>
              <a:gd name="connsiteY0" fmla="*/ 2744796 h 5271741"/>
              <a:gd name="connsiteX1" fmla="*/ 3368413 w 7789061"/>
              <a:gd name="connsiteY1" fmla="*/ 10121 h 5271741"/>
              <a:gd name="connsiteX2" fmla="*/ 7789061 w 7789061"/>
              <a:gd name="connsiteY2" fmla="*/ 3377093 h 5271741"/>
              <a:gd name="connsiteX3" fmla="*/ 3796430 w 7789061"/>
              <a:gd name="connsiteY3" fmla="*/ 5236277 h 5271741"/>
              <a:gd name="connsiteX4" fmla="*/ 8078 w 7789061"/>
              <a:gd name="connsiteY4" fmla="*/ 2744796 h 5271741"/>
              <a:gd name="connsiteX0" fmla="*/ 1055 w 7782038"/>
              <a:gd name="connsiteY0" fmla="*/ 2738806 h 5438018"/>
              <a:gd name="connsiteX1" fmla="*/ 3361390 w 7782038"/>
              <a:gd name="connsiteY1" fmla="*/ 4131 h 5438018"/>
              <a:gd name="connsiteX2" fmla="*/ 7782038 w 7782038"/>
              <a:gd name="connsiteY2" fmla="*/ 3371103 h 5438018"/>
              <a:gd name="connsiteX3" fmla="*/ 3692130 w 7782038"/>
              <a:gd name="connsiteY3" fmla="*/ 5415113 h 5438018"/>
              <a:gd name="connsiteX4" fmla="*/ 1055 w 7782038"/>
              <a:gd name="connsiteY4" fmla="*/ 2738806 h 5438018"/>
              <a:gd name="connsiteX0" fmla="*/ 28883 w 7809866"/>
              <a:gd name="connsiteY0" fmla="*/ 2742147 h 5441359"/>
              <a:gd name="connsiteX1" fmla="*/ 3389218 w 7809866"/>
              <a:gd name="connsiteY1" fmla="*/ 7472 h 5441359"/>
              <a:gd name="connsiteX2" fmla="*/ 7809866 w 7809866"/>
              <a:gd name="connsiteY2" fmla="*/ 3374444 h 5441359"/>
              <a:gd name="connsiteX3" fmla="*/ 3719958 w 7809866"/>
              <a:gd name="connsiteY3" fmla="*/ 5418454 h 5441359"/>
              <a:gd name="connsiteX4" fmla="*/ 28883 w 7809866"/>
              <a:gd name="connsiteY4" fmla="*/ 2742147 h 5441359"/>
              <a:gd name="connsiteX0" fmla="*/ 36549 w 7817532"/>
              <a:gd name="connsiteY0" fmla="*/ 2751085 h 5450297"/>
              <a:gd name="connsiteX1" fmla="*/ 3396884 w 7817532"/>
              <a:gd name="connsiteY1" fmla="*/ 16410 h 5450297"/>
              <a:gd name="connsiteX2" fmla="*/ 7817532 w 7817532"/>
              <a:gd name="connsiteY2" fmla="*/ 3383382 h 5450297"/>
              <a:gd name="connsiteX3" fmla="*/ 3727624 w 7817532"/>
              <a:gd name="connsiteY3" fmla="*/ 5427392 h 5450297"/>
              <a:gd name="connsiteX4" fmla="*/ 36549 w 7817532"/>
              <a:gd name="connsiteY4" fmla="*/ 2751085 h 54502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532" h="5450297">
                <a:moveTo>
                  <a:pt x="36549" y="2751085"/>
                </a:moveTo>
                <a:cubicBezTo>
                  <a:pt x="-281221" y="925127"/>
                  <a:pt x="1526121" y="-147339"/>
                  <a:pt x="3396884" y="16410"/>
                </a:cubicBezTo>
                <a:cubicBezTo>
                  <a:pt x="5267647" y="180159"/>
                  <a:pt x="7817532" y="1453184"/>
                  <a:pt x="7817532" y="3383382"/>
                </a:cubicBezTo>
                <a:cubicBezTo>
                  <a:pt x="7700800" y="5342763"/>
                  <a:pt x="5024455" y="5532775"/>
                  <a:pt x="3727624" y="5427392"/>
                </a:cubicBezTo>
                <a:cubicBezTo>
                  <a:pt x="2430794" y="5322009"/>
                  <a:pt x="354319" y="4577043"/>
                  <a:pt x="36549" y="2751085"/>
                </a:cubicBezTo>
                <a:close/>
              </a:path>
            </a:pathLst>
          </a:cu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73567C09-8B4D-49A6-A711-C44C5807D8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3554541" y="-619573"/>
            <a:ext cx="9016699" cy="8033868"/>
          </a:xfrm>
          <a:custGeom>
            <a:avLst/>
            <a:gdLst>
              <a:gd name="connsiteX0" fmla="*/ 6078066 w 9016699"/>
              <a:gd name="connsiteY0" fmla="*/ 782055 h 8033868"/>
              <a:gd name="connsiteX1" fmla="*/ 8705208 w 9016699"/>
              <a:gd name="connsiteY1" fmla="*/ 3409197 h 8033868"/>
              <a:gd name="connsiteX2" fmla="*/ 8793057 w 9016699"/>
              <a:gd name="connsiteY2" fmla="*/ 3617452 h 8033868"/>
              <a:gd name="connsiteX3" fmla="*/ 9016699 w 9016699"/>
              <a:gd name="connsiteY3" fmla="*/ 4793120 h 8033868"/>
              <a:gd name="connsiteX4" fmla="*/ 8960084 w 9016699"/>
              <a:gd name="connsiteY4" fmla="*/ 5272709 h 8033868"/>
              <a:gd name="connsiteX5" fmla="*/ 8920563 w 9016699"/>
              <a:gd name="connsiteY5" fmla="*/ 5444162 h 8033868"/>
              <a:gd name="connsiteX6" fmla="*/ 6620466 w 9016699"/>
              <a:gd name="connsiteY6" fmla="*/ 7744259 h 8033868"/>
              <a:gd name="connsiteX7" fmla="*/ 6480006 w 9016699"/>
              <a:gd name="connsiteY7" fmla="*/ 7795347 h 8033868"/>
              <a:gd name="connsiteX8" fmla="*/ 4389696 w 9016699"/>
              <a:gd name="connsiteY8" fmla="*/ 7987178 h 8033868"/>
              <a:gd name="connsiteX9" fmla="*/ 3086984 w 9016699"/>
              <a:gd name="connsiteY9" fmla="*/ 7466023 h 8033868"/>
              <a:gd name="connsiteX10" fmla="*/ 3024300 w 9016699"/>
              <a:gd name="connsiteY10" fmla="*/ 7426965 h 8033868"/>
              <a:gd name="connsiteX11" fmla="*/ 519567 w 9016699"/>
              <a:gd name="connsiteY11" fmla="*/ 4922232 h 8033868"/>
              <a:gd name="connsiteX12" fmla="*/ 419495 w 9016699"/>
              <a:gd name="connsiteY12" fmla="*/ 4733719 h 8033868"/>
              <a:gd name="connsiteX13" fmla="*/ 3514 w 9016699"/>
              <a:gd name="connsiteY13" fmla="*/ 3245168 h 8033868"/>
              <a:gd name="connsiteX14" fmla="*/ 4193329 w 9016699"/>
              <a:gd name="connsiteY14" fmla="*/ 36108 h 8033868"/>
              <a:gd name="connsiteX15" fmla="*/ 5977677 w 9016699"/>
              <a:gd name="connsiteY15" fmla="*/ 722908 h 8033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016699" h="8033868">
                <a:moveTo>
                  <a:pt x="6078066" y="782055"/>
                </a:moveTo>
                <a:lnTo>
                  <a:pt x="8705208" y="3409197"/>
                </a:lnTo>
                <a:lnTo>
                  <a:pt x="8793057" y="3617452"/>
                </a:lnTo>
                <a:cubicBezTo>
                  <a:pt x="8935615" y="3988374"/>
                  <a:pt x="9016699" y="4381324"/>
                  <a:pt x="9016699" y="4793120"/>
                </a:cubicBezTo>
                <a:cubicBezTo>
                  <a:pt x="9008675" y="4960329"/>
                  <a:pt x="8989449" y="5120121"/>
                  <a:pt x="8960084" y="5272709"/>
                </a:cubicBezTo>
                <a:lnTo>
                  <a:pt x="8920563" y="5444162"/>
                </a:lnTo>
                <a:lnTo>
                  <a:pt x="6620466" y="7744259"/>
                </a:lnTo>
                <a:lnTo>
                  <a:pt x="6480006" y="7795347"/>
                </a:lnTo>
                <a:cubicBezTo>
                  <a:pt x="5726471" y="8035167"/>
                  <a:pt x="4953020" y="8083925"/>
                  <a:pt x="4389696" y="7987178"/>
                </a:cubicBezTo>
                <a:cubicBezTo>
                  <a:pt x="4014146" y="7922680"/>
                  <a:pt x="3559510" y="7740111"/>
                  <a:pt x="3086984" y="7466023"/>
                </a:cubicBezTo>
                <a:lnTo>
                  <a:pt x="3024300" y="7426965"/>
                </a:lnTo>
                <a:lnTo>
                  <a:pt x="519567" y="4922232"/>
                </a:lnTo>
                <a:lnTo>
                  <a:pt x="419495" y="4733719"/>
                </a:lnTo>
                <a:cubicBezTo>
                  <a:pt x="181303" y="4258474"/>
                  <a:pt x="28977" y="3756361"/>
                  <a:pt x="3514" y="3245168"/>
                </a:cubicBezTo>
                <a:cubicBezTo>
                  <a:pt x="-112889" y="908287"/>
                  <a:pt x="2691131" y="-221884"/>
                  <a:pt x="4193329" y="36108"/>
                </a:cubicBezTo>
                <a:cubicBezTo>
                  <a:pt x="4662766" y="116730"/>
                  <a:pt x="5309837" y="354143"/>
                  <a:pt x="5977677" y="722908"/>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C4AD2E3C-648E-5283-14F1-2BCFBDA59B46}"/>
              </a:ext>
            </a:extLst>
          </p:cNvPr>
          <p:cNvSpPr txBox="1"/>
          <p:nvPr/>
        </p:nvSpPr>
        <p:spPr>
          <a:xfrm>
            <a:off x="4964105" y="731838"/>
            <a:ext cx="6570670" cy="5405594"/>
          </a:xfrm>
          <a:prstGeom prst="rect">
            <a:avLst/>
          </a:prstGeom>
        </p:spPr>
        <p:txBody>
          <a:bodyPr vert="horz" lIns="91440" tIns="45720" rIns="91440" bIns="45720" rtlCol="0" anchor="ctr">
            <a:normAutofit fontScale="92500" lnSpcReduction="10000"/>
          </a:bodyPr>
          <a:lstStyle/>
          <a:p>
            <a:pPr indent="-228600" defTabSz="914400">
              <a:lnSpc>
                <a:spcPct val="120000"/>
              </a:lnSpc>
              <a:spcAft>
                <a:spcPts val="600"/>
              </a:spcAft>
              <a:buClr>
                <a:schemeClr val="accent1"/>
              </a:buClr>
              <a:buSzPct val="110000"/>
              <a:buFont typeface="Wingdings" panose="05000000000000000000" pitchFamily="2" charset="2"/>
              <a:buChar char="§"/>
            </a:pPr>
            <a:endParaRPr lang="en-US" sz="2400"/>
          </a:p>
          <a:p>
            <a:pPr indent="-228600" defTabSz="914400">
              <a:lnSpc>
                <a:spcPct val="120000"/>
              </a:lnSpc>
              <a:spcAft>
                <a:spcPts val="600"/>
              </a:spcAft>
              <a:buClr>
                <a:schemeClr val="accent1"/>
              </a:buClr>
              <a:buSzPct val="110000"/>
              <a:buFont typeface="Wingdings" panose="05000000000000000000" pitchFamily="2" charset="2"/>
              <a:buChar char="§"/>
            </a:pPr>
            <a:r>
              <a:rPr lang="en-US" sz="2400"/>
              <a:t>Introduction</a:t>
            </a:r>
          </a:p>
          <a:p>
            <a:pPr indent="-228600" defTabSz="914400">
              <a:lnSpc>
                <a:spcPct val="120000"/>
              </a:lnSpc>
              <a:spcAft>
                <a:spcPts val="600"/>
              </a:spcAft>
              <a:buClr>
                <a:schemeClr val="accent1"/>
              </a:buClr>
              <a:buSzPct val="110000"/>
              <a:buFont typeface="Wingdings" panose="05000000000000000000" pitchFamily="2" charset="2"/>
              <a:buChar char="§"/>
            </a:pPr>
            <a:endParaRPr lang="en-US" sz="2400"/>
          </a:p>
          <a:p>
            <a:pPr indent="-228600" defTabSz="914400">
              <a:lnSpc>
                <a:spcPct val="120000"/>
              </a:lnSpc>
              <a:spcAft>
                <a:spcPts val="600"/>
              </a:spcAft>
              <a:buClr>
                <a:schemeClr val="accent1"/>
              </a:buClr>
              <a:buSzPct val="110000"/>
              <a:buFont typeface="Wingdings" panose="05000000000000000000" pitchFamily="2" charset="2"/>
              <a:buChar char="§"/>
            </a:pPr>
            <a:r>
              <a:rPr lang="en-US" sz="2400"/>
              <a:t>Objective &amp; Purpose</a:t>
            </a:r>
          </a:p>
          <a:p>
            <a:pPr indent="-228600" defTabSz="914400">
              <a:lnSpc>
                <a:spcPct val="120000"/>
              </a:lnSpc>
              <a:spcAft>
                <a:spcPts val="600"/>
              </a:spcAft>
              <a:buClr>
                <a:srgbClr val="F81B02"/>
              </a:buClr>
              <a:buSzPct val="110000"/>
              <a:buFont typeface="Wingdings" panose="05000000000000000000" pitchFamily="2" charset="2"/>
              <a:buChar char="§"/>
            </a:pPr>
            <a:endParaRPr lang="en-US" sz="2400"/>
          </a:p>
          <a:p>
            <a:pPr indent="-228600" defTabSz="914400">
              <a:lnSpc>
                <a:spcPct val="120000"/>
              </a:lnSpc>
              <a:spcAft>
                <a:spcPts val="600"/>
              </a:spcAft>
              <a:buClr>
                <a:schemeClr val="accent1"/>
              </a:buClr>
              <a:buSzPct val="110000"/>
              <a:buFont typeface="Wingdings" panose="05000000000000000000" pitchFamily="2" charset="2"/>
              <a:buChar char="§"/>
            </a:pPr>
            <a:r>
              <a:rPr lang="en-US" sz="2400"/>
              <a:t>Descriptive Analysis</a:t>
            </a:r>
          </a:p>
          <a:p>
            <a:pPr indent="-228600" defTabSz="914400">
              <a:lnSpc>
                <a:spcPct val="120000"/>
              </a:lnSpc>
              <a:spcAft>
                <a:spcPts val="600"/>
              </a:spcAft>
              <a:buClr>
                <a:schemeClr val="accent1"/>
              </a:buClr>
              <a:buSzPct val="110000"/>
              <a:buFont typeface="Wingdings" panose="05000000000000000000" pitchFamily="2" charset="2"/>
              <a:buChar char="§"/>
            </a:pPr>
            <a:endParaRPr lang="en-US" sz="2400"/>
          </a:p>
          <a:p>
            <a:pPr indent="-228600" defTabSz="914400">
              <a:lnSpc>
                <a:spcPct val="120000"/>
              </a:lnSpc>
              <a:spcAft>
                <a:spcPts val="600"/>
              </a:spcAft>
              <a:buClr>
                <a:schemeClr val="accent1"/>
              </a:buClr>
              <a:buSzPct val="110000"/>
              <a:buFont typeface="Wingdings" panose="05000000000000000000" pitchFamily="2" charset="2"/>
              <a:buChar char="§"/>
            </a:pPr>
            <a:r>
              <a:rPr lang="en-US" sz="2400"/>
              <a:t>Predictive Analysis</a:t>
            </a:r>
          </a:p>
          <a:p>
            <a:pPr indent="-228600" defTabSz="914400">
              <a:lnSpc>
                <a:spcPct val="120000"/>
              </a:lnSpc>
              <a:spcAft>
                <a:spcPts val="600"/>
              </a:spcAft>
              <a:buClr>
                <a:schemeClr val="accent1"/>
              </a:buClr>
              <a:buSzPct val="110000"/>
              <a:buFont typeface="Wingdings" panose="05000000000000000000" pitchFamily="2" charset="2"/>
              <a:buChar char="§"/>
            </a:pPr>
            <a:endParaRPr lang="en-US" sz="2400"/>
          </a:p>
          <a:p>
            <a:pPr indent="-228600" defTabSz="914400">
              <a:lnSpc>
                <a:spcPct val="120000"/>
              </a:lnSpc>
              <a:spcAft>
                <a:spcPts val="600"/>
              </a:spcAft>
              <a:buClr>
                <a:schemeClr val="accent1"/>
              </a:buClr>
              <a:buSzPct val="110000"/>
              <a:buFont typeface="Wingdings" panose="05000000000000000000" pitchFamily="2" charset="2"/>
              <a:buChar char="§"/>
            </a:pPr>
            <a:r>
              <a:rPr lang="en-US" sz="2400"/>
              <a:t>Key Takeaways</a:t>
            </a:r>
          </a:p>
          <a:p>
            <a:pPr indent="-228600" defTabSz="914400">
              <a:lnSpc>
                <a:spcPct val="120000"/>
              </a:lnSpc>
              <a:spcAft>
                <a:spcPts val="600"/>
              </a:spcAft>
              <a:buClr>
                <a:schemeClr val="accent1"/>
              </a:buClr>
              <a:buSzPct val="110000"/>
              <a:buFont typeface="Wingdings" panose="05000000000000000000" pitchFamily="2" charset="2"/>
              <a:buChar char="§"/>
            </a:pPr>
            <a:endParaRPr lang="en-US" sz="2400"/>
          </a:p>
          <a:p>
            <a:pPr indent="-228600" defTabSz="914400">
              <a:lnSpc>
                <a:spcPct val="120000"/>
              </a:lnSpc>
              <a:spcAft>
                <a:spcPts val="600"/>
              </a:spcAft>
              <a:buClr>
                <a:schemeClr val="accent1"/>
              </a:buClr>
              <a:buSzPct val="110000"/>
              <a:buFont typeface="Wingdings" panose="05000000000000000000" pitchFamily="2" charset="2"/>
              <a:buChar char="§"/>
            </a:pPr>
            <a:r>
              <a:rPr lang="en-US" sz="2400"/>
              <a:t>Recommendations</a:t>
            </a:r>
          </a:p>
        </p:txBody>
      </p:sp>
      <p:cxnSp>
        <p:nvCxnSpPr>
          <p:cNvPr id="7" name="Straight Connector 6">
            <a:extLst>
              <a:ext uri="{FF2B5EF4-FFF2-40B4-BE49-F238E27FC236}">
                <a16:creationId xmlns:a16="http://schemas.microsoft.com/office/drawing/2014/main" id="{59AB5B1B-4B81-AF65-781A-84AC7E2E9809}"/>
              </a:ext>
            </a:extLst>
          </p:cNvPr>
          <p:cNvCxnSpPr>
            <a:cxnSpLocks/>
          </p:cNvCxnSpPr>
          <p:nvPr/>
        </p:nvCxnSpPr>
        <p:spPr>
          <a:xfrm>
            <a:off x="5212254" y="2785725"/>
            <a:ext cx="46037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A67250F5-3684-5A28-AB49-6D34596091CA}"/>
              </a:ext>
            </a:extLst>
          </p:cNvPr>
          <p:cNvCxnSpPr>
            <a:cxnSpLocks/>
          </p:cNvCxnSpPr>
          <p:nvPr/>
        </p:nvCxnSpPr>
        <p:spPr>
          <a:xfrm>
            <a:off x="5168901" y="3607799"/>
            <a:ext cx="4690459" cy="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188" name="Straight Connector 187">
            <a:extLst>
              <a:ext uri="{FF2B5EF4-FFF2-40B4-BE49-F238E27FC236}">
                <a16:creationId xmlns:a16="http://schemas.microsoft.com/office/drawing/2014/main" id="{17826BA0-5651-ADED-9501-D12B021D3402}"/>
              </a:ext>
            </a:extLst>
          </p:cNvPr>
          <p:cNvCxnSpPr>
            <a:cxnSpLocks/>
          </p:cNvCxnSpPr>
          <p:nvPr/>
        </p:nvCxnSpPr>
        <p:spPr>
          <a:xfrm>
            <a:off x="5212253" y="4529138"/>
            <a:ext cx="46037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A128CAC1-E275-6EE5-47B2-3815B24726F9}"/>
              </a:ext>
            </a:extLst>
          </p:cNvPr>
          <p:cNvCxnSpPr>
            <a:cxnSpLocks/>
          </p:cNvCxnSpPr>
          <p:nvPr/>
        </p:nvCxnSpPr>
        <p:spPr>
          <a:xfrm>
            <a:off x="5168901" y="5508965"/>
            <a:ext cx="469045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4" name="TextBox 243">
            <a:extLst>
              <a:ext uri="{FF2B5EF4-FFF2-40B4-BE49-F238E27FC236}">
                <a16:creationId xmlns:a16="http://schemas.microsoft.com/office/drawing/2014/main" id="{892FAD3C-BE2D-9F29-14BA-E9DE1214BB8E}"/>
              </a:ext>
            </a:extLst>
          </p:cNvPr>
          <p:cNvSpPr txBox="1"/>
          <p:nvPr/>
        </p:nvSpPr>
        <p:spPr>
          <a:xfrm>
            <a:off x="857834" y="3049755"/>
            <a:ext cx="2301303" cy="769441"/>
          </a:xfrm>
          <a:prstGeom prst="rect">
            <a:avLst/>
          </a:prstGeom>
          <a:noFill/>
        </p:spPr>
        <p:txBody>
          <a:bodyPr wrap="square" rtlCol="0">
            <a:spAutoFit/>
          </a:bodyPr>
          <a:lstStyle/>
          <a:p>
            <a:pPr algn="ctr"/>
            <a:r>
              <a:rPr lang="en-US" sz="4400"/>
              <a:t>Agenda</a:t>
            </a:r>
            <a:endParaRPr lang="en-US"/>
          </a:p>
        </p:txBody>
      </p:sp>
      <p:cxnSp>
        <p:nvCxnSpPr>
          <p:cNvPr id="41" name="Straight Connector 40">
            <a:extLst>
              <a:ext uri="{FF2B5EF4-FFF2-40B4-BE49-F238E27FC236}">
                <a16:creationId xmlns:a16="http://schemas.microsoft.com/office/drawing/2014/main" id="{5D5BDC50-2E8D-A0EE-2D62-66FDEEF6DD06}"/>
              </a:ext>
            </a:extLst>
          </p:cNvPr>
          <p:cNvCxnSpPr/>
          <p:nvPr/>
        </p:nvCxnSpPr>
        <p:spPr>
          <a:xfrm>
            <a:off x="5212255" y="1940309"/>
            <a:ext cx="46037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Content Placeholder 6" descr="A red text on a black background&#10;&#10;AI-generated content may be incorrect.">
            <a:extLst>
              <a:ext uri="{FF2B5EF4-FFF2-40B4-BE49-F238E27FC236}">
                <a16:creationId xmlns:a16="http://schemas.microsoft.com/office/drawing/2014/main" id="{83B6A27E-D83F-5565-397D-B0CC40DE7BD4}"/>
              </a:ext>
            </a:extLst>
          </p:cNvPr>
          <p:cNvPicPr>
            <a:picLocks noChangeAspect="1"/>
          </p:cNvPicPr>
          <p:nvPr/>
        </p:nvPicPr>
        <p:blipFill>
          <a:blip r:embed="rId3"/>
          <a:stretch>
            <a:fillRect/>
          </a:stretch>
        </p:blipFill>
        <p:spPr>
          <a:xfrm>
            <a:off x="102098" y="-169011"/>
            <a:ext cx="1708149" cy="1138767"/>
          </a:xfrm>
          <a:prstGeom prst="rect">
            <a:avLst/>
          </a:prstGeom>
        </p:spPr>
      </p:pic>
      <p:pic>
        <p:nvPicPr>
          <p:cNvPr id="9" name="Picture 4">
            <a:extLst>
              <a:ext uri="{FF2B5EF4-FFF2-40B4-BE49-F238E27FC236}">
                <a16:creationId xmlns:a16="http://schemas.microsoft.com/office/drawing/2014/main" id="{DEA0251F-030C-207F-C8CF-2A59C6D4F4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4018" y="-663307"/>
            <a:ext cx="2397913" cy="21273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4769195"/>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C2067DC-0655-35A7-2978-6E37E77E125F}"/>
            </a:ext>
          </a:extLst>
        </p:cNvPr>
        <p:cNvGrpSpPr/>
        <p:nvPr/>
      </p:nvGrpSpPr>
      <p:grpSpPr>
        <a:xfrm>
          <a:off x="0" y="0"/>
          <a:ext cx="0" cy="0"/>
          <a:chOff x="0" y="0"/>
          <a:chExt cx="0" cy="0"/>
        </a:xfrm>
      </p:grpSpPr>
      <p:sp>
        <p:nvSpPr>
          <p:cNvPr id="68" name="Rectangle 67">
            <a:extLst>
              <a:ext uri="{FF2B5EF4-FFF2-40B4-BE49-F238E27FC236}">
                <a16:creationId xmlns:a16="http://schemas.microsoft.com/office/drawing/2014/main" id="{D75627FE-0AC5-4349-AC08-45A58BEC9B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0" name="Group 69">
            <a:extLst>
              <a:ext uri="{FF2B5EF4-FFF2-40B4-BE49-F238E27FC236}">
                <a16:creationId xmlns:a16="http://schemas.microsoft.com/office/drawing/2014/main" id="{F87AAF7B-2090-475D-9C3E-FDC03DD87A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71" name="Freeform 5">
              <a:extLst>
                <a:ext uri="{FF2B5EF4-FFF2-40B4-BE49-F238E27FC236}">
                  <a16:creationId xmlns:a16="http://schemas.microsoft.com/office/drawing/2014/main" id="{F2DCEC33-4B31-44BC-99CB-9E4845DC4C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2" name="Freeform 6">
              <a:extLst>
                <a:ext uri="{FF2B5EF4-FFF2-40B4-BE49-F238E27FC236}">
                  <a16:creationId xmlns:a16="http://schemas.microsoft.com/office/drawing/2014/main" id="{204E0A10-D288-4B22-87A1-737B0A37D1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3" name="Freeform 7">
              <a:extLst>
                <a:ext uri="{FF2B5EF4-FFF2-40B4-BE49-F238E27FC236}">
                  <a16:creationId xmlns:a16="http://schemas.microsoft.com/office/drawing/2014/main" id="{9A3E042E-4911-425A-84BB-04BF90D077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4" name="Freeform 8">
              <a:extLst>
                <a:ext uri="{FF2B5EF4-FFF2-40B4-BE49-F238E27FC236}">
                  <a16:creationId xmlns:a16="http://schemas.microsoft.com/office/drawing/2014/main" id="{3A49226D-3129-4C5A-9641-3D03BEEA79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5" name="Freeform 9">
              <a:extLst>
                <a:ext uri="{FF2B5EF4-FFF2-40B4-BE49-F238E27FC236}">
                  <a16:creationId xmlns:a16="http://schemas.microsoft.com/office/drawing/2014/main" id="{9CC3C315-B515-4DD8-AC22-9D8417B37F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6" name="Freeform 10">
              <a:extLst>
                <a:ext uri="{FF2B5EF4-FFF2-40B4-BE49-F238E27FC236}">
                  <a16:creationId xmlns:a16="http://schemas.microsoft.com/office/drawing/2014/main" id="{1A961828-F78F-4D56-A98E-037806C637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7" name="Freeform 11">
              <a:extLst>
                <a:ext uri="{FF2B5EF4-FFF2-40B4-BE49-F238E27FC236}">
                  <a16:creationId xmlns:a16="http://schemas.microsoft.com/office/drawing/2014/main" id="{739D4F9D-3728-42C1-8302-452D51321C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8" name="Freeform 12">
              <a:extLst>
                <a:ext uri="{FF2B5EF4-FFF2-40B4-BE49-F238E27FC236}">
                  <a16:creationId xmlns:a16="http://schemas.microsoft.com/office/drawing/2014/main" id="{B4D9647E-354D-4CA8-B4A7-39172E5EAC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9" name="Freeform 13">
              <a:extLst>
                <a:ext uri="{FF2B5EF4-FFF2-40B4-BE49-F238E27FC236}">
                  <a16:creationId xmlns:a16="http://schemas.microsoft.com/office/drawing/2014/main" id="{A3EC74E0-5222-4ACC-BCEC-1AA189D3BC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0" name="Freeform 14">
              <a:extLst>
                <a:ext uri="{FF2B5EF4-FFF2-40B4-BE49-F238E27FC236}">
                  <a16:creationId xmlns:a16="http://schemas.microsoft.com/office/drawing/2014/main" id="{C0AE72B4-084D-42E6-ABED-5FD4650D4B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1" name="Freeform 15">
              <a:extLst>
                <a:ext uri="{FF2B5EF4-FFF2-40B4-BE49-F238E27FC236}">
                  <a16:creationId xmlns:a16="http://schemas.microsoft.com/office/drawing/2014/main" id="{C9D1F5DD-8D50-4098-8D2B-10E2847527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 name="Freeform 16">
              <a:extLst>
                <a:ext uri="{FF2B5EF4-FFF2-40B4-BE49-F238E27FC236}">
                  <a16:creationId xmlns:a16="http://schemas.microsoft.com/office/drawing/2014/main" id="{D48F3941-C3C7-4589-AA46-067F6BB2D0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Freeform 17">
              <a:extLst>
                <a:ext uri="{FF2B5EF4-FFF2-40B4-BE49-F238E27FC236}">
                  <a16:creationId xmlns:a16="http://schemas.microsoft.com/office/drawing/2014/main" id="{C16BBE9A-4BE3-4401-82C5-8041DB14E5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4" name="Freeform 18">
              <a:extLst>
                <a:ext uri="{FF2B5EF4-FFF2-40B4-BE49-F238E27FC236}">
                  <a16:creationId xmlns:a16="http://schemas.microsoft.com/office/drawing/2014/main" id="{06180330-CCD3-4D14-A652-D60C28252D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 name="Freeform 19">
              <a:extLst>
                <a:ext uri="{FF2B5EF4-FFF2-40B4-BE49-F238E27FC236}">
                  <a16:creationId xmlns:a16="http://schemas.microsoft.com/office/drawing/2014/main" id="{616C90F6-4133-43A5-B47C-7750FE2819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20">
              <a:extLst>
                <a:ext uri="{FF2B5EF4-FFF2-40B4-BE49-F238E27FC236}">
                  <a16:creationId xmlns:a16="http://schemas.microsoft.com/office/drawing/2014/main" id="{D7C03F90-E828-4414-8A53-92069FFB68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 name="Freeform 21">
              <a:extLst>
                <a:ext uri="{FF2B5EF4-FFF2-40B4-BE49-F238E27FC236}">
                  <a16:creationId xmlns:a16="http://schemas.microsoft.com/office/drawing/2014/main" id="{6ADDE443-75AA-4F32-A2EE-272C4347CE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 name="Freeform 22">
              <a:extLst>
                <a:ext uri="{FF2B5EF4-FFF2-40B4-BE49-F238E27FC236}">
                  <a16:creationId xmlns:a16="http://schemas.microsoft.com/office/drawing/2014/main" id="{ACD281C1-1D59-453F-A33A-D83E39EB06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 name="Freeform 23">
              <a:extLst>
                <a:ext uri="{FF2B5EF4-FFF2-40B4-BE49-F238E27FC236}">
                  <a16:creationId xmlns:a16="http://schemas.microsoft.com/office/drawing/2014/main" id="{60217FAC-29FE-4D6B-9BB4-FF41AA756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 name="Freeform 24">
              <a:extLst>
                <a:ext uri="{FF2B5EF4-FFF2-40B4-BE49-F238E27FC236}">
                  <a16:creationId xmlns:a16="http://schemas.microsoft.com/office/drawing/2014/main" id="{0D3CC33A-6E36-4A72-9965-8E20FB05D1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25">
              <a:extLst>
                <a:ext uri="{FF2B5EF4-FFF2-40B4-BE49-F238E27FC236}">
                  <a16:creationId xmlns:a16="http://schemas.microsoft.com/office/drawing/2014/main" id="{F128F04E-05CD-4035-A32B-6E9ABAB9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93" name="Rectangle 92">
            <a:extLst>
              <a:ext uri="{FF2B5EF4-FFF2-40B4-BE49-F238E27FC236}">
                <a16:creationId xmlns:a16="http://schemas.microsoft.com/office/drawing/2014/main" id="{BC2574CF-1D35-4994-87BD-5A3378E1AB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57883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496BAB-A5A4-489E-2317-A98F94E48906}"/>
              </a:ext>
            </a:extLst>
          </p:cNvPr>
          <p:cNvSpPr>
            <a:spLocks noGrp="1"/>
          </p:cNvSpPr>
          <p:nvPr>
            <p:ph type="title"/>
          </p:nvPr>
        </p:nvSpPr>
        <p:spPr>
          <a:xfrm>
            <a:off x="645459" y="960120"/>
            <a:ext cx="3865695" cy="4171278"/>
          </a:xfrm>
        </p:spPr>
        <p:txBody>
          <a:bodyPr vert="horz" lIns="228600" tIns="228600" rIns="228600" bIns="228600" rtlCol="0" anchor="ctr">
            <a:normAutofit/>
          </a:bodyPr>
          <a:lstStyle/>
          <a:p>
            <a:pPr algn="r"/>
            <a:r>
              <a:rPr lang="en-US" sz="4400">
                <a:solidFill>
                  <a:schemeClr val="tx1"/>
                </a:solidFill>
                <a:latin typeface="+mn-lt"/>
              </a:rPr>
              <a:t>About Morningstar</a:t>
            </a:r>
          </a:p>
        </p:txBody>
      </p:sp>
      <p:cxnSp>
        <p:nvCxnSpPr>
          <p:cNvPr id="95" name="Straight Connector 94">
            <a:extLst>
              <a:ext uri="{FF2B5EF4-FFF2-40B4-BE49-F238E27FC236}">
                <a16:creationId xmlns:a16="http://schemas.microsoft.com/office/drawing/2014/main" id="{68B6AB33-DFE6-4FE4-94FE-C9E25424AD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52263" y="1200150"/>
            <a:ext cx="0" cy="3543972"/>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D3C9C9D2-8159-7D6F-2557-A82A57EC1592}"/>
              </a:ext>
            </a:extLst>
          </p:cNvPr>
          <p:cNvSpPr txBox="1"/>
          <p:nvPr/>
        </p:nvSpPr>
        <p:spPr>
          <a:xfrm>
            <a:off x="4983164" y="960120"/>
            <a:ext cx="5511800" cy="4171278"/>
          </a:xfrm>
          <a:prstGeom prst="rect">
            <a:avLst/>
          </a:prstGeom>
        </p:spPr>
        <p:txBody>
          <a:bodyPr vert="horz" lIns="91440" tIns="45720" rIns="91440" bIns="45720" rtlCol="0" anchor="ctr">
            <a:normAutofit/>
          </a:bodyPr>
          <a:lstStyle/>
          <a:p>
            <a:pPr marL="285750" indent="-228600" defTabSz="914400">
              <a:lnSpc>
                <a:spcPct val="120000"/>
              </a:lnSpc>
              <a:spcAft>
                <a:spcPts val="600"/>
              </a:spcAft>
              <a:buClr>
                <a:schemeClr val="accent1"/>
              </a:buClr>
              <a:buSzPct val="110000"/>
              <a:buFont typeface="Wingdings" panose="05000000000000000000" pitchFamily="2" charset="2"/>
              <a:buChar char="§"/>
            </a:pPr>
            <a:r>
              <a:rPr lang="en-US"/>
              <a:t>Global leader in investment research and data analytics</a:t>
            </a:r>
          </a:p>
          <a:p>
            <a:pPr marL="285750" indent="-228600" defTabSz="914400">
              <a:lnSpc>
                <a:spcPct val="120000"/>
              </a:lnSpc>
              <a:spcAft>
                <a:spcPts val="600"/>
              </a:spcAft>
              <a:buClr>
                <a:schemeClr val="accent1"/>
              </a:buClr>
              <a:buSzPct val="110000"/>
              <a:buFont typeface="Wingdings" panose="05000000000000000000" pitchFamily="2" charset="2"/>
              <a:buChar char="§"/>
            </a:pPr>
            <a:r>
              <a:rPr lang="en-US"/>
              <a:t>Focus on data driven innovation</a:t>
            </a:r>
          </a:p>
          <a:p>
            <a:pPr marL="285750" indent="-228600" defTabSz="914400">
              <a:lnSpc>
                <a:spcPct val="120000"/>
              </a:lnSpc>
              <a:spcAft>
                <a:spcPts val="600"/>
              </a:spcAft>
              <a:buClr>
                <a:schemeClr val="accent1"/>
              </a:buClr>
              <a:buSzPct val="110000"/>
              <a:buFont typeface="Wingdings" panose="05000000000000000000" pitchFamily="2" charset="2"/>
              <a:buChar char="§"/>
            </a:pPr>
            <a:r>
              <a:rPr lang="en-US"/>
              <a:t>Extensive product ecosystem </a:t>
            </a:r>
          </a:p>
          <a:p>
            <a:pPr marL="285750" indent="-228600" defTabSz="914400">
              <a:lnSpc>
                <a:spcPct val="120000"/>
              </a:lnSpc>
              <a:spcAft>
                <a:spcPts val="600"/>
              </a:spcAft>
              <a:buClr>
                <a:schemeClr val="accent1"/>
              </a:buClr>
              <a:buSzPct val="110000"/>
              <a:buFont typeface="Wingdings" panose="05000000000000000000" pitchFamily="2" charset="2"/>
              <a:buChar char="§"/>
            </a:pPr>
            <a:r>
              <a:rPr lang="en-US"/>
              <a:t>Empowering investor success by delivering transparent and reliable financial information</a:t>
            </a:r>
          </a:p>
        </p:txBody>
      </p:sp>
      <p:pic>
        <p:nvPicPr>
          <p:cNvPr id="6" name="Content Placeholder 6" descr="A red text on a black background&#10;&#10;AI-generated content may be incorrect.">
            <a:extLst>
              <a:ext uri="{FF2B5EF4-FFF2-40B4-BE49-F238E27FC236}">
                <a16:creationId xmlns:a16="http://schemas.microsoft.com/office/drawing/2014/main" id="{CA1E447F-BBDE-DFCA-E575-9235C9500AF6}"/>
              </a:ext>
            </a:extLst>
          </p:cNvPr>
          <p:cNvPicPr>
            <a:picLocks noChangeAspect="1"/>
          </p:cNvPicPr>
          <p:nvPr/>
        </p:nvPicPr>
        <p:blipFill>
          <a:blip r:embed="rId3"/>
          <a:stretch>
            <a:fillRect/>
          </a:stretch>
        </p:blipFill>
        <p:spPr>
          <a:xfrm>
            <a:off x="10221914" y="5609506"/>
            <a:ext cx="1708149" cy="1138767"/>
          </a:xfrm>
          <a:prstGeom prst="rect">
            <a:avLst/>
          </a:prstGeom>
        </p:spPr>
      </p:pic>
      <p:pic>
        <p:nvPicPr>
          <p:cNvPr id="5" name="Content Placeholder 6" descr="A red text on a black background&#10;&#10;AI-generated content may be incorrect.">
            <a:extLst>
              <a:ext uri="{FF2B5EF4-FFF2-40B4-BE49-F238E27FC236}">
                <a16:creationId xmlns:a16="http://schemas.microsoft.com/office/drawing/2014/main" id="{CA463FC6-4AD7-3267-468B-AD4883ABCF0B}"/>
              </a:ext>
            </a:extLst>
          </p:cNvPr>
          <p:cNvPicPr>
            <a:picLocks noChangeAspect="1"/>
          </p:cNvPicPr>
          <p:nvPr/>
        </p:nvPicPr>
        <p:blipFill>
          <a:blip r:embed="rId3"/>
          <a:stretch>
            <a:fillRect/>
          </a:stretch>
        </p:blipFill>
        <p:spPr>
          <a:xfrm>
            <a:off x="102098" y="-169011"/>
            <a:ext cx="1708149" cy="1138767"/>
          </a:xfrm>
          <a:prstGeom prst="rect">
            <a:avLst/>
          </a:prstGeom>
        </p:spPr>
      </p:pic>
      <p:pic>
        <p:nvPicPr>
          <p:cNvPr id="7" name="Picture 4">
            <a:extLst>
              <a:ext uri="{FF2B5EF4-FFF2-40B4-BE49-F238E27FC236}">
                <a16:creationId xmlns:a16="http://schemas.microsoft.com/office/drawing/2014/main" id="{251A790D-1A3E-EF82-07EC-4CF7B7C68B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26408" y="-663307"/>
            <a:ext cx="2326245" cy="21273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4136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75C9AEE-B71D-241B-D465-7756CD5E0C02}"/>
            </a:ext>
          </a:extLst>
        </p:cNvPr>
        <p:cNvGrpSpPr/>
        <p:nvPr/>
      </p:nvGrpSpPr>
      <p:grpSpPr>
        <a:xfrm>
          <a:off x="0" y="0"/>
          <a:ext cx="0" cy="0"/>
          <a:chOff x="0" y="0"/>
          <a:chExt cx="0" cy="0"/>
        </a:xfrm>
      </p:grpSpPr>
      <p:sp>
        <p:nvSpPr>
          <p:cNvPr id="68" name="Rectangle 67">
            <a:extLst>
              <a:ext uri="{FF2B5EF4-FFF2-40B4-BE49-F238E27FC236}">
                <a16:creationId xmlns:a16="http://schemas.microsoft.com/office/drawing/2014/main" id="{E2366EBA-92FD-44AE-87A9-25E5135EB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692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0" name="Group 69">
            <a:extLst>
              <a:ext uri="{FF2B5EF4-FFF2-40B4-BE49-F238E27FC236}">
                <a16:creationId xmlns:a16="http://schemas.microsoft.com/office/drawing/2014/main" id="{B437F5FC-01F7-4EB4-81E7-C27D917E95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71" name="Freeform 5">
              <a:extLst>
                <a:ext uri="{FF2B5EF4-FFF2-40B4-BE49-F238E27FC236}">
                  <a16:creationId xmlns:a16="http://schemas.microsoft.com/office/drawing/2014/main" id="{4B0CFF10-4805-4BFA-961B-1F60DAEB9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2" name="Freeform 6">
              <a:extLst>
                <a:ext uri="{FF2B5EF4-FFF2-40B4-BE49-F238E27FC236}">
                  <a16:creationId xmlns:a16="http://schemas.microsoft.com/office/drawing/2014/main" id="{BE054536-C03E-4857-B4AE-D687A58F9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3" name="Freeform 7">
              <a:extLst>
                <a:ext uri="{FF2B5EF4-FFF2-40B4-BE49-F238E27FC236}">
                  <a16:creationId xmlns:a16="http://schemas.microsoft.com/office/drawing/2014/main" id="{FE33E51C-23D8-43F5-98C4-A2ED2C4C99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4" name="Freeform 8">
              <a:extLst>
                <a:ext uri="{FF2B5EF4-FFF2-40B4-BE49-F238E27FC236}">
                  <a16:creationId xmlns:a16="http://schemas.microsoft.com/office/drawing/2014/main" id="{89E18891-DEB2-4CFD-A907-2868B2A910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5" name="Freeform 9">
              <a:extLst>
                <a:ext uri="{FF2B5EF4-FFF2-40B4-BE49-F238E27FC236}">
                  <a16:creationId xmlns:a16="http://schemas.microsoft.com/office/drawing/2014/main" id="{0002C1BB-DB60-4314-A2FC-203E54D94C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6" name="Freeform 10">
              <a:extLst>
                <a:ext uri="{FF2B5EF4-FFF2-40B4-BE49-F238E27FC236}">
                  <a16:creationId xmlns:a16="http://schemas.microsoft.com/office/drawing/2014/main" id="{9B75BDFA-6D78-4FB1-9F21-5280855C49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7" name="Freeform 11">
              <a:extLst>
                <a:ext uri="{FF2B5EF4-FFF2-40B4-BE49-F238E27FC236}">
                  <a16:creationId xmlns:a16="http://schemas.microsoft.com/office/drawing/2014/main" id="{0B632D6B-A327-41AB-BBCF-9A03AD2AB7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8" name="Freeform 12">
              <a:extLst>
                <a:ext uri="{FF2B5EF4-FFF2-40B4-BE49-F238E27FC236}">
                  <a16:creationId xmlns:a16="http://schemas.microsoft.com/office/drawing/2014/main" id="{F514BBC5-1736-4813-BECB-5A6B6738E5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9" name="Freeform 13">
              <a:extLst>
                <a:ext uri="{FF2B5EF4-FFF2-40B4-BE49-F238E27FC236}">
                  <a16:creationId xmlns:a16="http://schemas.microsoft.com/office/drawing/2014/main" id="{94A2C868-7AEC-4209-BFA3-7185B11D3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0" name="Freeform 14">
              <a:extLst>
                <a:ext uri="{FF2B5EF4-FFF2-40B4-BE49-F238E27FC236}">
                  <a16:creationId xmlns:a16="http://schemas.microsoft.com/office/drawing/2014/main" id="{FF56CB70-2B25-4695-ADC8-6092D0D112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1" name="Freeform 15">
              <a:extLst>
                <a:ext uri="{FF2B5EF4-FFF2-40B4-BE49-F238E27FC236}">
                  <a16:creationId xmlns:a16="http://schemas.microsoft.com/office/drawing/2014/main" id="{BA411BEF-2182-4458-B9AF-1634B5C2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 name="Freeform 16">
              <a:extLst>
                <a:ext uri="{FF2B5EF4-FFF2-40B4-BE49-F238E27FC236}">
                  <a16:creationId xmlns:a16="http://schemas.microsoft.com/office/drawing/2014/main" id="{53F27E63-3F11-4C85-AC72-1EE8508C4C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Freeform 17">
              <a:extLst>
                <a:ext uri="{FF2B5EF4-FFF2-40B4-BE49-F238E27FC236}">
                  <a16:creationId xmlns:a16="http://schemas.microsoft.com/office/drawing/2014/main" id="{68B589BA-F70F-4E0B-94B9-EEB83EDF3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4" name="Freeform 18">
              <a:extLst>
                <a:ext uri="{FF2B5EF4-FFF2-40B4-BE49-F238E27FC236}">
                  <a16:creationId xmlns:a16="http://schemas.microsoft.com/office/drawing/2014/main" id="{9D0B991D-CB0A-415F-8D77-A5565F66F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 name="Freeform 19">
              <a:extLst>
                <a:ext uri="{FF2B5EF4-FFF2-40B4-BE49-F238E27FC236}">
                  <a16:creationId xmlns:a16="http://schemas.microsoft.com/office/drawing/2014/main" id="{701E99DE-74F0-41D1-BBF4-5A57053BB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20">
              <a:extLst>
                <a:ext uri="{FF2B5EF4-FFF2-40B4-BE49-F238E27FC236}">
                  <a16:creationId xmlns:a16="http://schemas.microsoft.com/office/drawing/2014/main" id="{C02EE40A-8F17-4182-9495-9506463B79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 name="Freeform 21">
              <a:extLst>
                <a:ext uri="{FF2B5EF4-FFF2-40B4-BE49-F238E27FC236}">
                  <a16:creationId xmlns:a16="http://schemas.microsoft.com/office/drawing/2014/main" id="{924210CA-0A35-4127-925F-D4084B7DC3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 name="Freeform 22">
              <a:extLst>
                <a:ext uri="{FF2B5EF4-FFF2-40B4-BE49-F238E27FC236}">
                  <a16:creationId xmlns:a16="http://schemas.microsoft.com/office/drawing/2014/main" id="{DC13CEF1-DD2D-474C-B81C-820CEF3D9C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 name="Freeform 23">
              <a:extLst>
                <a:ext uri="{FF2B5EF4-FFF2-40B4-BE49-F238E27FC236}">
                  <a16:creationId xmlns:a16="http://schemas.microsoft.com/office/drawing/2014/main" id="{F889481A-8038-43E6-8EF1-A5F802CEDF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 name="Freeform 24">
              <a:extLst>
                <a:ext uri="{FF2B5EF4-FFF2-40B4-BE49-F238E27FC236}">
                  <a16:creationId xmlns:a16="http://schemas.microsoft.com/office/drawing/2014/main" id="{128BD14A-9093-4854-A73A-F666B2ED2D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25">
              <a:extLst>
                <a:ext uri="{FF2B5EF4-FFF2-40B4-BE49-F238E27FC236}">
                  <a16:creationId xmlns:a16="http://schemas.microsoft.com/office/drawing/2014/main" id="{22D884F4-76EC-4371-B903-E79CF191E3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useBgFill="1">
        <p:nvSpPr>
          <p:cNvPr id="93" name="Rectangle 92">
            <a:extLst>
              <a:ext uri="{FF2B5EF4-FFF2-40B4-BE49-F238E27FC236}">
                <a16:creationId xmlns:a16="http://schemas.microsoft.com/office/drawing/2014/main" id="{7C462C46-EFB7-4580-9921-DFC346FCC3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23665" y="0"/>
            <a:ext cx="10268336" cy="68692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367E77-F9B3-A976-37D3-DF6BA8768683}"/>
              </a:ext>
            </a:extLst>
          </p:cNvPr>
          <p:cNvSpPr>
            <a:spLocks noGrp="1"/>
          </p:cNvSpPr>
          <p:nvPr>
            <p:ph type="title"/>
          </p:nvPr>
        </p:nvSpPr>
        <p:spPr>
          <a:xfrm>
            <a:off x="4345804" y="653002"/>
            <a:ext cx="5415947" cy="922845"/>
          </a:xfrm>
        </p:spPr>
        <p:txBody>
          <a:bodyPr vert="horz" lIns="228600" tIns="228600" rIns="228600" bIns="228600" rtlCol="0" anchor="t">
            <a:noAutofit/>
          </a:bodyPr>
          <a:lstStyle/>
          <a:p>
            <a:r>
              <a:rPr lang="en-US" sz="4400">
                <a:solidFill>
                  <a:schemeClr val="accent1"/>
                </a:solidFill>
                <a:latin typeface="+mn-lt"/>
              </a:rPr>
              <a:t>Objective &amp; Purpose</a:t>
            </a:r>
          </a:p>
        </p:txBody>
      </p:sp>
      <p:sp>
        <p:nvSpPr>
          <p:cNvPr id="95" name="Isosceles Triangle 94">
            <a:extLst>
              <a:ext uri="{FF2B5EF4-FFF2-40B4-BE49-F238E27FC236}">
                <a16:creationId xmlns:a16="http://schemas.microsoft.com/office/drawing/2014/main" id="{B8B918B4-AB10-4E3A-916E-A9625586E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97903" y="954813"/>
            <a:ext cx="300774" cy="2592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8" name="Picture 7" descr="A building with a sign on the wall&#10;&#10;AI-generated content may be incorrect.">
            <a:extLst>
              <a:ext uri="{FF2B5EF4-FFF2-40B4-BE49-F238E27FC236}">
                <a16:creationId xmlns:a16="http://schemas.microsoft.com/office/drawing/2014/main" id="{333A4E54-092E-93F0-4DDD-5403DD289CF3}"/>
              </a:ext>
            </a:extLst>
          </p:cNvPr>
          <p:cNvPicPr>
            <a:picLocks noChangeAspect="1"/>
          </p:cNvPicPr>
          <p:nvPr/>
        </p:nvPicPr>
        <p:blipFill>
          <a:blip r:embed="rId3"/>
          <a:stretch>
            <a:fillRect/>
          </a:stretch>
        </p:blipFill>
        <p:spPr>
          <a:xfrm>
            <a:off x="-7141" y="-14288"/>
            <a:ext cx="3027768" cy="6883495"/>
          </a:xfrm>
          <a:prstGeom prst="rect">
            <a:avLst/>
          </a:prstGeom>
          <a:effectLst>
            <a:outerShdw blurRad="50800" dist="38100" algn="l" rotWithShape="0">
              <a:prstClr val="black">
                <a:alpha val="40000"/>
              </a:prstClr>
            </a:outerShdw>
          </a:effectLst>
        </p:spPr>
      </p:pic>
      <p:graphicFrame>
        <p:nvGraphicFramePr>
          <p:cNvPr id="97" name="TextBox 5">
            <a:extLst>
              <a:ext uri="{FF2B5EF4-FFF2-40B4-BE49-F238E27FC236}">
                <a16:creationId xmlns:a16="http://schemas.microsoft.com/office/drawing/2014/main" id="{5B4187F5-6384-05A3-B469-C8AD7486AA8A}"/>
              </a:ext>
            </a:extLst>
          </p:cNvPr>
          <p:cNvGraphicFramePr/>
          <p:nvPr>
            <p:extLst>
              <p:ext uri="{D42A27DB-BD31-4B8C-83A1-F6EECF244321}">
                <p14:modId xmlns:p14="http://schemas.microsoft.com/office/powerpoint/2010/main" val="3472964721"/>
              </p:ext>
            </p:extLst>
          </p:nvPr>
        </p:nvGraphicFramePr>
        <p:xfrm>
          <a:off x="3994942" y="1556236"/>
          <a:ext cx="6123783" cy="456992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4" name="Picture 4">
            <a:extLst>
              <a:ext uri="{FF2B5EF4-FFF2-40B4-BE49-F238E27FC236}">
                <a16:creationId xmlns:a16="http://schemas.microsoft.com/office/drawing/2014/main" id="{6F7A188D-E347-569D-C5E7-56879B87524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141692" y="-692057"/>
            <a:ext cx="2397913" cy="2127358"/>
          </a:xfrm>
          <a:prstGeom prst="rect">
            <a:avLst/>
          </a:prstGeom>
          <a:noFill/>
          <a:extLst>
            <a:ext uri="{909E8E84-426E-40DD-AFC4-6F175D3DCCD1}">
              <a14:hiddenFill xmlns:a14="http://schemas.microsoft.com/office/drawing/2010/main">
                <a:solidFill>
                  <a:srgbClr val="FFFFFF"/>
                </a:solidFill>
              </a14:hiddenFill>
            </a:ext>
          </a:extLst>
        </p:spPr>
      </p:pic>
      <p:pic>
        <p:nvPicPr>
          <p:cNvPr id="5" name="Content Placeholder 6" descr="A red text on a black background&#10;&#10;AI-generated content may be incorrect.">
            <a:extLst>
              <a:ext uri="{FF2B5EF4-FFF2-40B4-BE49-F238E27FC236}">
                <a16:creationId xmlns:a16="http://schemas.microsoft.com/office/drawing/2014/main" id="{AD770361-2DCB-A9E8-DB16-E34247604E74}"/>
              </a:ext>
            </a:extLst>
          </p:cNvPr>
          <p:cNvPicPr>
            <a:picLocks noChangeAspect="1"/>
          </p:cNvPicPr>
          <p:nvPr/>
        </p:nvPicPr>
        <p:blipFill>
          <a:blip r:embed="rId10"/>
          <a:stretch>
            <a:fillRect/>
          </a:stretch>
        </p:blipFill>
        <p:spPr>
          <a:xfrm>
            <a:off x="10447827" y="-197762"/>
            <a:ext cx="1708149" cy="1138767"/>
          </a:xfrm>
          <a:prstGeom prst="rect">
            <a:avLst/>
          </a:prstGeom>
        </p:spPr>
      </p:pic>
    </p:spTree>
    <p:extLst>
      <p:ext uri="{BB962C8B-B14F-4D97-AF65-F5344CB8AC3E}">
        <p14:creationId xmlns:p14="http://schemas.microsoft.com/office/powerpoint/2010/main" val="7026021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607D593-C065-F488-0293-FDD4D88D6F95}"/>
            </a:ext>
          </a:extLst>
        </p:cNvPr>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6FA0A6DB-60C8-5E86-2770-5FBDA9A9E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2" name="Group 41">
            <a:extLst>
              <a:ext uri="{FF2B5EF4-FFF2-40B4-BE49-F238E27FC236}">
                <a16:creationId xmlns:a16="http://schemas.microsoft.com/office/drawing/2014/main" id="{63EB1853-9AC9-5C73-6FBA-CD504F989DD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43" name="Freeform 5">
              <a:extLst>
                <a:ext uri="{FF2B5EF4-FFF2-40B4-BE49-F238E27FC236}">
                  <a16:creationId xmlns:a16="http://schemas.microsoft.com/office/drawing/2014/main" id="{2E0BCF57-8E5C-DEF2-D65C-6F3DB31E6F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accent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4" name="Freeform 6">
              <a:extLst>
                <a:ext uri="{FF2B5EF4-FFF2-40B4-BE49-F238E27FC236}">
                  <a16:creationId xmlns:a16="http://schemas.microsoft.com/office/drawing/2014/main" id="{83FD6C9A-D923-E264-8255-1231602FB5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accent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 name="Freeform 7">
              <a:extLst>
                <a:ext uri="{FF2B5EF4-FFF2-40B4-BE49-F238E27FC236}">
                  <a16:creationId xmlns:a16="http://schemas.microsoft.com/office/drawing/2014/main" id="{DE865B50-127A-97F0-8B30-818911A4B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accent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 name="Freeform 8">
              <a:extLst>
                <a:ext uri="{FF2B5EF4-FFF2-40B4-BE49-F238E27FC236}">
                  <a16:creationId xmlns:a16="http://schemas.microsoft.com/office/drawing/2014/main" id="{39A5F6CD-1F8A-20F5-1DE8-5603553E3F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accent1">
                  <a:alpha val="18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 name="Freeform 9">
              <a:extLst>
                <a:ext uri="{FF2B5EF4-FFF2-40B4-BE49-F238E27FC236}">
                  <a16:creationId xmlns:a16="http://schemas.microsoft.com/office/drawing/2014/main" id="{98F8D474-8DDC-1E66-F1A3-72CBC28304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accent1">
                  <a:alpha val="18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 name="Freeform 10">
              <a:extLst>
                <a:ext uri="{FF2B5EF4-FFF2-40B4-BE49-F238E27FC236}">
                  <a16:creationId xmlns:a16="http://schemas.microsoft.com/office/drawing/2014/main" id="{54B63239-F486-6CF2-C124-6E004AABAB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accent1">
                  <a:alpha val="18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 name="Freeform 11">
              <a:extLst>
                <a:ext uri="{FF2B5EF4-FFF2-40B4-BE49-F238E27FC236}">
                  <a16:creationId xmlns:a16="http://schemas.microsoft.com/office/drawing/2014/main" id="{9EABCD35-BABA-C9F5-3CC6-1793A2217F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accent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 name="Freeform 12">
              <a:extLst>
                <a:ext uri="{FF2B5EF4-FFF2-40B4-BE49-F238E27FC236}">
                  <a16:creationId xmlns:a16="http://schemas.microsoft.com/office/drawing/2014/main" id="{210DEBFE-5147-8A4A-8481-CE441D62E2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accent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1" name="Freeform 13">
              <a:extLst>
                <a:ext uri="{FF2B5EF4-FFF2-40B4-BE49-F238E27FC236}">
                  <a16:creationId xmlns:a16="http://schemas.microsoft.com/office/drawing/2014/main" id="{D8D24BFD-2FF8-99D0-4F27-F03431152F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accent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 name="Freeform 14">
              <a:extLst>
                <a:ext uri="{FF2B5EF4-FFF2-40B4-BE49-F238E27FC236}">
                  <a16:creationId xmlns:a16="http://schemas.microsoft.com/office/drawing/2014/main" id="{7D767C43-788E-B94B-8676-D84D724679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accent1">
                  <a:alpha val="13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 name="Freeform 15">
              <a:extLst>
                <a:ext uri="{FF2B5EF4-FFF2-40B4-BE49-F238E27FC236}">
                  <a16:creationId xmlns:a16="http://schemas.microsoft.com/office/drawing/2014/main" id="{7186A015-E2A0-F935-3B95-5A45BC6280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accent1">
                  <a:alpha val="12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 name="Freeform 16">
              <a:extLst>
                <a:ext uri="{FF2B5EF4-FFF2-40B4-BE49-F238E27FC236}">
                  <a16:creationId xmlns:a16="http://schemas.microsoft.com/office/drawing/2014/main" id="{CF4D392B-20FC-4F02-4068-6267AC4A06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accent1">
                  <a:alpha val="13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 name="Freeform 17">
              <a:extLst>
                <a:ext uri="{FF2B5EF4-FFF2-40B4-BE49-F238E27FC236}">
                  <a16:creationId xmlns:a16="http://schemas.microsoft.com/office/drawing/2014/main" id="{6FC331D8-FDAD-B907-080E-9CC3F6AAC5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accent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 name="Freeform 18">
              <a:extLst>
                <a:ext uri="{FF2B5EF4-FFF2-40B4-BE49-F238E27FC236}">
                  <a16:creationId xmlns:a16="http://schemas.microsoft.com/office/drawing/2014/main" id="{5A0A9237-C7D9-21B7-5BE2-1D307A09FE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accent1">
                  <a:alpha val="12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 name="Freeform 19">
              <a:extLst>
                <a:ext uri="{FF2B5EF4-FFF2-40B4-BE49-F238E27FC236}">
                  <a16:creationId xmlns:a16="http://schemas.microsoft.com/office/drawing/2014/main" id="{426EB258-0766-C273-DDA4-C4FF972200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accent1">
                  <a:alpha val="8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 name="Freeform 20">
              <a:extLst>
                <a:ext uri="{FF2B5EF4-FFF2-40B4-BE49-F238E27FC236}">
                  <a16:creationId xmlns:a16="http://schemas.microsoft.com/office/drawing/2014/main" id="{DB28D6B4-EEF9-F7CA-E4A2-9F133AFB9A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accent1">
                  <a:alpha val="12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 name="Freeform 21">
              <a:extLst>
                <a:ext uri="{FF2B5EF4-FFF2-40B4-BE49-F238E27FC236}">
                  <a16:creationId xmlns:a16="http://schemas.microsoft.com/office/drawing/2014/main" id="{A2B878DD-6FD5-3EB5-7B1E-2DA4684F6A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accent1">
                  <a:alpha val="12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 name="Freeform 22">
              <a:extLst>
                <a:ext uri="{FF2B5EF4-FFF2-40B4-BE49-F238E27FC236}">
                  <a16:creationId xmlns:a16="http://schemas.microsoft.com/office/drawing/2014/main" id="{4E062964-8550-D298-7277-50E97993E0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accent1">
                  <a:alpha val="11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1" name="Freeform 23">
              <a:extLst>
                <a:ext uri="{FF2B5EF4-FFF2-40B4-BE49-F238E27FC236}">
                  <a16:creationId xmlns:a16="http://schemas.microsoft.com/office/drawing/2014/main" id="{19872A75-E4C7-6526-C871-2E812CA868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accent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2" name="Freeform 24">
              <a:extLst>
                <a:ext uri="{FF2B5EF4-FFF2-40B4-BE49-F238E27FC236}">
                  <a16:creationId xmlns:a16="http://schemas.microsoft.com/office/drawing/2014/main" id="{DC7AE2EA-D27B-1001-ED4B-5399772723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accent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3" name="Freeform 25">
              <a:extLst>
                <a:ext uri="{FF2B5EF4-FFF2-40B4-BE49-F238E27FC236}">
                  <a16:creationId xmlns:a16="http://schemas.microsoft.com/office/drawing/2014/main" id="{EAA5C50E-5CC6-73B7-4240-CA22AEF9AB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accent1">
                  <a:alpha val="8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 name="Title 1">
            <a:extLst>
              <a:ext uri="{FF2B5EF4-FFF2-40B4-BE49-F238E27FC236}">
                <a16:creationId xmlns:a16="http://schemas.microsoft.com/office/drawing/2014/main" id="{E546C755-0891-FB62-FD6D-9177A0B723A4}"/>
              </a:ext>
            </a:extLst>
          </p:cNvPr>
          <p:cNvSpPr>
            <a:spLocks noGrp="1"/>
          </p:cNvSpPr>
          <p:nvPr>
            <p:ph type="title"/>
          </p:nvPr>
        </p:nvSpPr>
        <p:spPr>
          <a:xfrm>
            <a:off x="2757223" y="376238"/>
            <a:ext cx="6677553" cy="1353310"/>
          </a:xfrm>
        </p:spPr>
        <p:txBody>
          <a:bodyPr anchor="b">
            <a:normAutofit/>
          </a:bodyPr>
          <a:lstStyle/>
          <a:p>
            <a:r>
              <a:rPr lang="en-US" sz="4400">
                <a:solidFill>
                  <a:schemeClr val="tx1"/>
                </a:solidFill>
                <a:latin typeface="+mn-lt"/>
              </a:rPr>
              <a:t>Descriptive Analysis</a:t>
            </a:r>
          </a:p>
        </p:txBody>
      </p:sp>
      <p:graphicFrame>
        <p:nvGraphicFramePr>
          <p:cNvPr id="5" name="Table 4">
            <a:extLst>
              <a:ext uri="{FF2B5EF4-FFF2-40B4-BE49-F238E27FC236}">
                <a16:creationId xmlns:a16="http://schemas.microsoft.com/office/drawing/2014/main" id="{7F099EED-12DE-EE26-6699-475D8682A0F7}"/>
              </a:ext>
            </a:extLst>
          </p:cNvPr>
          <p:cNvGraphicFramePr>
            <a:graphicFrameLocks noGrp="1"/>
          </p:cNvGraphicFramePr>
          <p:nvPr>
            <p:extLst>
              <p:ext uri="{D42A27DB-BD31-4B8C-83A1-F6EECF244321}">
                <p14:modId xmlns:p14="http://schemas.microsoft.com/office/powerpoint/2010/main" val="2077302961"/>
              </p:ext>
            </p:extLst>
          </p:nvPr>
        </p:nvGraphicFramePr>
        <p:xfrm>
          <a:off x="2647950" y="2059798"/>
          <a:ext cx="6896100" cy="2995994"/>
        </p:xfrm>
        <a:graphic>
          <a:graphicData uri="http://schemas.openxmlformats.org/drawingml/2006/table">
            <a:tbl>
              <a:tblPr bandRow="1">
                <a:tableStyleId>{5C22544A-7EE6-4342-B048-85BDC9FD1C3A}</a:tableStyleId>
              </a:tblPr>
              <a:tblGrid>
                <a:gridCol w="3448050">
                  <a:extLst>
                    <a:ext uri="{9D8B030D-6E8A-4147-A177-3AD203B41FA5}">
                      <a16:colId xmlns:a16="http://schemas.microsoft.com/office/drawing/2014/main" val="4265532899"/>
                    </a:ext>
                  </a:extLst>
                </a:gridCol>
                <a:gridCol w="3448050">
                  <a:extLst>
                    <a:ext uri="{9D8B030D-6E8A-4147-A177-3AD203B41FA5}">
                      <a16:colId xmlns:a16="http://schemas.microsoft.com/office/drawing/2014/main" val="2992163874"/>
                    </a:ext>
                  </a:extLst>
                </a:gridCol>
              </a:tblGrid>
              <a:tr h="590550">
                <a:tc>
                  <a:txBody>
                    <a:bodyPr/>
                    <a:lstStyle/>
                    <a:p>
                      <a:pPr algn="ctr" fontAlgn="base">
                        <a:lnSpc>
                          <a:spcPts val="2175"/>
                        </a:lnSpc>
                        <a:buNone/>
                      </a:pPr>
                      <a:endParaRPr lang="en-US" sz="1800" b="1" i="0">
                        <a:solidFill>
                          <a:schemeClr val="bg1"/>
                        </a:solidFill>
                        <a:effectLst/>
                        <a:latin typeface="Rockwell"/>
                      </a:endParaRPr>
                    </a:p>
                    <a:p>
                      <a:pPr lvl="0" algn="ctr">
                        <a:lnSpc>
                          <a:spcPts val="2175"/>
                        </a:lnSpc>
                        <a:buNone/>
                      </a:pPr>
                      <a:r>
                        <a:rPr lang="en-US" sz="1800" b="1" i="0">
                          <a:solidFill>
                            <a:schemeClr val="bg1"/>
                          </a:solidFill>
                          <a:effectLst/>
                          <a:latin typeface="Rockwell"/>
                        </a:rPr>
                        <a:t>Variable</a:t>
                      </a:r>
                      <a:endParaRPr lang="en-US" b="1" i="0">
                        <a:solidFill>
                          <a:schemeClr val="bg1"/>
                        </a:solidFill>
                        <a:effectLst/>
                        <a:latin typeface="Rockwell"/>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7384" cap="flat" cmpd="sng" algn="ctr">
                      <a:solidFill>
                        <a:srgbClr val="FFFFFF"/>
                      </a:solidFill>
                      <a:prstDash val="solid"/>
                      <a:round/>
                      <a:headEnd type="none" w="med" len="med"/>
                      <a:tailEnd type="none" w="med" len="med"/>
                    </a:lnB>
                    <a:solidFill>
                      <a:srgbClr val="F81B02"/>
                    </a:solidFill>
                  </a:tcPr>
                </a:tc>
                <a:tc>
                  <a:txBody>
                    <a:bodyPr/>
                    <a:lstStyle/>
                    <a:p>
                      <a:pPr algn="ctr" fontAlgn="base">
                        <a:lnSpc>
                          <a:spcPts val="2175"/>
                        </a:lnSpc>
                        <a:buNone/>
                      </a:pPr>
                      <a:r>
                        <a:rPr lang="en-US" sz="1800" b="1" i="0">
                          <a:solidFill>
                            <a:schemeClr val="bg1"/>
                          </a:solidFill>
                          <a:effectLst/>
                          <a:latin typeface="Rockwell"/>
                        </a:rPr>
                        <a:t>Number of Unique Observations</a:t>
                      </a:r>
                      <a:endParaRPr lang="en-US" b="1" i="0">
                        <a:solidFill>
                          <a:schemeClr val="bg1"/>
                        </a:solidFill>
                        <a:effectLst/>
                        <a:latin typeface="Rockwell"/>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7384" cap="flat" cmpd="sng" algn="ctr">
                      <a:solidFill>
                        <a:srgbClr val="FFFFFF"/>
                      </a:solidFill>
                      <a:prstDash val="solid"/>
                      <a:round/>
                      <a:headEnd type="none" w="med" len="med"/>
                      <a:tailEnd type="none" w="med" len="med"/>
                    </a:lnB>
                    <a:solidFill>
                      <a:srgbClr val="F81B02"/>
                    </a:solidFill>
                  </a:tcPr>
                </a:tc>
                <a:extLst>
                  <a:ext uri="{0D108BD9-81ED-4DB2-BD59-A6C34878D82A}">
                    <a16:rowId xmlns:a16="http://schemas.microsoft.com/office/drawing/2014/main" val="2101912407"/>
                  </a:ext>
                </a:extLst>
              </a:tr>
              <a:tr h="590550">
                <a:tc>
                  <a:txBody>
                    <a:bodyPr/>
                    <a:lstStyle/>
                    <a:p>
                      <a:pPr algn="ctr" fontAlgn="base">
                        <a:lnSpc>
                          <a:spcPts val="2175"/>
                        </a:lnSpc>
                        <a:buNone/>
                      </a:pPr>
                      <a:r>
                        <a:rPr lang="en-US" sz="1800" b="0" i="0">
                          <a:solidFill>
                            <a:srgbClr val="000000"/>
                          </a:solidFill>
                          <a:effectLst/>
                          <a:latin typeface="Rockwell"/>
                        </a:rPr>
                        <a:t>Morningstar Dataset</a:t>
                      </a:r>
                      <a:endParaRPr lang="en-US" b="0" i="0">
                        <a:solidFill>
                          <a:srgbClr val="000000"/>
                        </a:solidFill>
                        <a:effectLst/>
                        <a:latin typeface="Rockwell"/>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7384"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CCCCB"/>
                    </a:solidFill>
                  </a:tcPr>
                </a:tc>
                <a:tc>
                  <a:txBody>
                    <a:bodyPr/>
                    <a:lstStyle/>
                    <a:p>
                      <a:pPr algn="ctr" fontAlgn="base">
                        <a:lnSpc>
                          <a:spcPts val="2175"/>
                        </a:lnSpc>
                        <a:buNone/>
                      </a:pPr>
                      <a:r>
                        <a:rPr lang="en-US" sz="1800" b="0" i="0">
                          <a:solidFill>
                            <a:srgbClr val="000000"/>
                          </a:solidFill>
                          <a:effectLst/>
                          <a:latin typeface="Rockwell"/>
                        </a:rPr>
                        <a:t>398,343</a:t>
                      </a:r>
                      <a:endParaRPr lang="en-US" b="0" i="0">
                        <a:solidFill>
                          <a:srgbClr val="000000"/>
                        </a:solidFill>
                        <a:effectLst/>
                        <a:latin typeface="Rockwell"/>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7384"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CCCCB"/>
                    </a:solidFill>
                  </a:tcPr>
                </a:tc>
                <a:extLst>
                  <a:ext uri="{0D108BD9-81ED-4DB2-BD59-A6C34878D82A}">
                    <a16:rowId xmlns:a16="http://schemas.microsoft.com/office/drawing/2014/main" val="2489432652"/>
                  </a:ext>
                </a:extLst>
              </a:tr>
              <a:tr h="590550">
                <a:tc>
                  <a:txBody>
                    <a:bodyPr/>
                    <a:lstStyle/>
                    <a:p>
                      <a:pPr algn="ctr" fontAlgn="base">
                        <a:lnSpc>
                          <a:spcPts val="2175"/>
                        </a:lnSpc>
                        <a:buNone/>
                      </a:pPr>
                      <a:r>
                        <a:rPr lang="en-US" sz="1800" b="0" i="0">
                          <a:solidFill>
                            <a:srgbClr val="000000"/>
                          </a:solidFill>
                          <a:effectLst/>
                          <a:latin typeface="Rockwell"/>
                        </a:rPr>
                        <a:t>Date Range</a:t>
                      </a:r>
                      <a:endParaRPr lang="en-US" b="0" i="0">
                        <a:solidFill>
                          <a:srgbClr val="000000"/>
                        </a:solidFill>
                        <a:effectLst/>
                        <a:latin typeface="Rockwell"/>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EE7E7"/>
                    </a:solidFill>
                  </a:tcPr>
                </a:tc>
                <a:tc>
                  <a:txBody>
                    <a:bodyPr/>
                    <a:lstStyle/>
                    <a:p>
                      <a:pPr algn="ctr" fontAlgn="base">
                        <a:lnSpc>
                          <a:spcPts val="2175"/>
                        </a:lnSpc>
                        <a:buNone/>
                      </a:pPr>
                      <a:r>
                        <a:rPr lang="en-US" sz="1800" b="0" i="0">
                          <a:solidFill>
                            <a:srgbClr val="000000"/>
                          </a:solidFill>
                          <a:effectLst/>
                          <a:latin typeface="Rockwell"/>
                        </a:rPr>
                        <a:t>June 2019– June 2024</a:t>
                      </a:r>
                      <a:endParaRPr lang="en-US" b="0" i="0">
                        <a:solidFill>
                          <a:srgbClr val="000000"/>
                        </a:solidFill>
                        <a:effectLst/>
                        <a:latin typeface="Rockwell"/>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EE7E7"/>
                    </a:solidFill>
                  </a:tcPr>
                </a:tc>
                <a:extLst>
                  <a:ext uri="{0D108BD9-81ED-4DB2-BD59-A6C34878D82A}">
                    <a16:rowId xmlns:a16="http://schemas.microsoft.com/office/drawing/2014/main" val="3771535317"/>
                  </a:ext>
                </a:extLst>
              </a:tr>
              <a:tr h="590550">
                <a:tc>
                  <a:txBody>
                    <a:bodyPr/>
                    <a:lstStyle/>
                    <a:p>
                      <a:pPr algn="ctr" fontAlgn="base">
                        <a:lnSpc>
                          <a:spcPts val="2175"/>
                        </a:lnSpc>
                        <a:buNone/>
                      </a:pPr>
                      <a:r>
                        <a:rPr lang="en-US" sz="1800" b="0" i="0" err="1">
                          <a:solidFill>
                            <a:srgbClr val="000000"/>
                          </a:solidFill>
                          <a:effectLst/>
                          <a:latin typeface="Rockwell"/>
                        </a:rPr>
                        <a:t>DetailHoldingTypeId</a:t>
                      </a:r>
                      <a:endParaRPr lang="en-US" b="0" i="0">
                        <a:solidFill>
                          <a:srgbClr val="000000"/>
                        </a:solidFill>
                        <a:effectLst/>
                        <a:latin typeface="Rockwell"/>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CCCCB"/>
                    </a:solidFill>
                  </a:tcPr>
                </a:tc>
                <a:tc>
                  <a:txBody>
                    <a:bodyPr/>
                    <a:lstStyle/>
                    <a:p>
                      <a:pPr algn="ctr" fontAlgn="base">
                        <a:lnSpc>
                          <a:spcPts val="2175"/>
                        </a:lnSpc>
                        <a:buNone/>
                      </a:pPr>
                      <a:r>
                        <a:rPr lang="en-US" sz="1800" b="0" i="0">
                          <a:solidFill>
                            <a:srgbClr val="000000"/>
                          </a:solidFill>
                          <a:effectLst/>
                          <a:latin typeface="Rockwell"/>
                        </a:rPr>
                        <a:t>104</a:t>
                      </a:r>
                      <a:endParaRPr lang="en-US" b="0" i="0">
                        <a:solidFill>
                          <a:srgbClr val="000000"/>
                        </a:solidFill>
                        <a:effectLst/>
                        <a:latin typeface="Rockwell"/>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CCCCB"/>
                    </a:solidFill>
                  </a:tcPr>
                </a:tc>
                <a:extLst>
                  <a:ext uri="{0D108BD9-81ED-4DB2-BD59-A6C34878D82A}">
                    <a16:rowId xmlns:a16="http://schemas.microsoft.com/office/drawing/2014/main" val="2437617948"/>
                  </a:ext>
                </a:extLst>
              </a:tr>
              <a:tr h="590550">
                <a:tc>
                  <a:txBody>
                    <a:bodyPr/>
                    <a:lstStyle/>
                    <a:p>
                      <a:pPr algn="ctr" fontAlgn="base">
                        <a:lnSpc>
                          <a:spcPts val="2175"/>
                        </a:lnSpc>
                        <a:buNone/>
                      </a:pPr>
                      <a:r>
                        <a:rPr lang="en-US" sz="1800" b="0" i="0" err="1">
                          <a:solidFill>
                            <a:srgbClr val="000000"/>
                          </a:solidFill>
                          <a:effectLst/>
                          <a:latin typeface="Rockwell"/>
                        </a:rPr>
                        <a:t>ExternalName</a:t>
                      </a:r>
                      <a:endParaRPr lang="en-US" b="0" i="0">
                        <a:solidFill>
                          <a:srgbClr val="000000"/>
                        </a:solidFill>
                        <a:effectLst/>
                        <a:latin typeface="Rockwell"/>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EE7E7"/>
                    </a:solidFill>
                  </a:tcPr>
                </a:tc>
                <a:tc>
                  <a:txBody>
                    <a:bodyPr/>
                    <a:lstStyle/>
                    <a:p>
                      <a:pPr algn="ctr" fontAlgn="base">
                        <a:lnSpc>
                          <a:spcPts val="2175"/>
                        </a:lnSpc>
                        <a:buNone/>
                      </a:pPr>
                      <a:r>
                        <a:rPr lang="en-US" sz="1800" b="0" i="0">
                          <a:solidFill>
                            <a:srgbClr val="000000"/>
                          </a:solidFill>
                          <a:effectLst/>
                          <a:latin typeface="Rockwell"/>
                        </a:rPr>
                        <a:t>211,738</a:t>
                      </a:r>
                      <a:endParaRPr lang="en-US" b="0" i="0">
                        <a:solidFill>
                          <a:srgbClr val="000000"/>
                        </a:solidFill>
                        <a:effectLst/>
                        <a:latin typeface="Rockwell"/>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EE7E7"/>
                    </a:solidFill>
                  </a:tcPr>
                </a:tc>
                <a:extLst>
                  <a:ext uri="{0D108BD9-81ED-4DB2-BD59-A6C34878D82A}">
                    <a16:rowId xmlns:a16="http://schemas.microsoft.com/office/drawing/2014/main" val="3117152843"/>
                  </a:ext>
                </a:extLst>
              </a:tr>
            </a:tbl>
          </a:graphicData>
        </a:graphic>
      </p:graphicFrame>
      <p:pic>
        <p:nvPicPr>
          <p:cNvPr id="4" name="Content Placeholder 6" descr="A red text on a black background&#10;&#10;AI-generated content may be incorrect.">
            <a:extLst>
              <a:ext uri="{FF2B5EF4-FFF2-40B4-BE49-F238E27FC236}">
                <a16:creationId xmlns:a16="http://schemas.microsoft.com/office/drawing/2014/main" id="{D173D32C-21CA-1532-B4C6-66ADCB799C9D}"/>
              </a:ext>
            </a:extLst>
          </p:cNvPr>
          <p:cNvPicPr>
            <a:picLocks noChangeAspect="1"/>
          </p:cNvPicPr>
          <p:nvPr/>
        </p:nvPicPr>
        <p:blipFill>
          <a:blip r:embed="rId2"/>
          <a:stretch>
            <a:fillRect/>
          </a:stretch>
        </p:blipFill>
        <p:spPr>
          <a:xfrm>
            <a:off x="102098" y="-169011"/>
            <a:ext cx="1708149" cy="1138767"/>
          </a:xfrm>
          <a:prstGeom prst="rect">
            <a:avLst/>
          </a:prstGeom>
        </p:spPr>
      </p:pic>
      <p:pic>
        <p:nvPicPr>
          <p:cNvPr id="7" name="Picture 4">
            <a:extLst>
              <a:ext uri="{FF2B5EF4-FFF2-40B4-BE49-F238E27FC236}">
                <a16:creationId xmlns:a16="http://schemas.microsoft.com/office/drawing/2014/main" id="{CA4B8334-9A15-35FA-098A-FA1A78AD10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6408" y="-663307"/>
            <a:ext cx="2326245" cy="21273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48824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1D7D5C6-D015-C16F-AA05-D0BCABD6D5B1}"/>
            </a:ext>
          </a:extLst>
        </p:cNvPr>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39FFC701-EB2E-EA90-5A46-857917D019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2" name="Group 41">
            <a:extLst>
              <a:ext uri="{FF2B5EF4-FFF2-40B4-BE49-F238E27FC236}">
                <a16:creationId xmlns:a16="http://schemas.microsoft.com/office/drawing/2014/main" id="{EF42A38F-2E54-5A43-DF31-E4D13E8C7E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43" name="Freeform 5">
              <a:extLst>
                <a:ext uri="{FF2B5EF4-FFF2-40B4-BE49-F238E27FC236}">
                  <a16:creationId xmlns:a16="http://schemas.microsoft.com/office/drawing/2014/main" id="{145C14DF-74FB-D857-B97A-342BE42121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accent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4" name="Freeform 6">
              <a:extLst>
                <a:ext uri="{FF2B5EF4-FFF2-40B4-BE49-F238E27FC236}">
                  <a16:creationId xmlns:a16="http://schemas.microsoft.com/office/drawing/2014/main" id="{F951E0DC-BCF7-EC52-EFFC-B4E3F1C719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accent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 name="Freeform 7">
              <a:extLst>
                <a:ext uri="{FF2B5EF4-FFF2-40B4-BE49-F238E27FC236}">
                  <a16:creationId xmlns:a16="http://schemas.microsoft.com/office/drawing/2014/main" id="{0FF93840-B6E3-86A4-3D9A-D89C9A62C8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accent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 name="Freeform 8">
              <a:extLst>
                <a:ext uri="{FF2B5EF4-FFF2-40B4-BE49-F238E27FC236}">
                  <a16:creationId xmlns:a16="http://schemas.microsoft.com/office/drawing/2014/main" id="{061CBFE9-8B94-329A-8925-81293D3B64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accent1">
                  <a:alpha val="18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 name="Freeform 9">
              <a:extLst>
                <a:ext uri="{FF2B5EF4-FFF2-40B4-BE49-F238E27FC236}">
                  <a16:creationId xmlns:a16="http://schemas.microsoft.com/office/drawing/2014/main" id="{62DFB803-4948-3062-C774-291D9D0C02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accent1">
                  <a:alpha val="18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 name="Freeform 10">
              <a:extLst>
                <a:ext uri="{FF2B5EF4-FFF2-40B4-BE49-F238E27FC236}">
                  <a16:creationId xmlns:a16="http://schemas.microsoft.com/office/drawing/2014/main" id="{EFE2E912-CAF9-51C7-8BE8-3112529665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accent1">
                  <a:alpha val="18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 name="Freeform 11">
              <a:extLst>
                <a:ext uri="{FF2B5EF4-FFF2-40B4-BE49-F238E27FC236}">
                  <a16:creationId xmlns:a16="http://schemas.microsoft.com/office/drawing/2014/main" id="{A55427DE-7D5F-5B3C-8A86-CD67AF5706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accent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 name="Freeform 12">
              <a:extLst>
                <a:ext uri="{FF2B5EF4-FFF2-40B4-BE49-F238E27FC236}">
                  <a16:creationId xmlns:a16="http://schemas.microsoft.com/office/drawing/2014/main" id="{B917D834-5A42-E0D5-0A0C-2019DD804C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accent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1" name="Freeform 13">
              <a:extLst>
                <a:ext uri="{FF2B5EF4-FFF2-40B4-BE49-F238E27FC236}">
                  <a16:creationId xmlns:a16="http://schemas.microsoft.com/office/drawing/2014/main" id="{D06E93DA-2EF4-7F41-DCCD-EC58214887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accent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 name="Freeform 14">
              <a:extLst>
                <a:ext uri="{FF2B5EF4-FFF2-40B4-BE49-F238E27FC236}">
                  <a16:creationId xmlns:a16="http://schemas.microsoft.com/office/drawing/2014/main" id="{C5D0A570-9B49-680F-68A6-9CEB26288B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accent1">
                  <a:alpha val="13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 name="Freeform 15">
              <a:extLst>
                <a:ext uri="{FF2B5EF4-FFF2-40B4-BE49-F238E27FC236}">
                  <a16:creationId xmlns:a16="http://schemas.microsoft.com/office/drawing/2014/main" id="{6905A6E0-E379-70E9-2764-1FDCAC697B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accent1">
                  <a:alpha val="12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 name="Freeform 16">
              <a:extLst>
                <a:ext uri="{FF2B5EF4-FFF2-40B4-BE49-F238E27FC236}">
                  <a16:creationId xmlns:a16="http://schemas.microsoft.com/office/drawing/2014/main" id="{11C96E76-C566-3837-996C-0C23AAFFBF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accent1">
                  <a:alpha val="13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 name="Freeform 17">
              <a:extLst>
                <a:ext uri="{FF2B5EF4-FFF2-40B4-BE49-F238E27FC236}">
                  <a16:creationId xmlns:a16="http://schemas.microsoft.com/office/drawing/2014/main" id="{6DE80A84-C8AE-2C63-5643-A94BC36436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accent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 name="Freeform 18">
              <a:extLst>
                <a:ext uri="{FF2B5EF4-FFF2-40B4-BE49-F238E27FC236}">
                  <a16:creationId xmlns:a16="http://schemas.microsoft.com/office/drawing/2014/main" id="{72649391-78BB-677E-B05E-5FEFB4F756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accent1">
                  <a:alpha val="12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 name="Freeform 19">
              <a:extLst>
                <a:ext uri="{FF2B5EF4-FFF2-40B4-BE49-F238E27FC236}">
                  <a16:creationId xmlns:a16="http://schemas.microsoft.com/office/drawing/2014/main" id="{7BCA2CB1-A02C-36AF-735A-EC99E18E77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accent1">
                  <a:alpha val="8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 name="Freeform 20">
              <a:extLst>
                <a:ext uri="{FF2B5EF4-FFF2-40B4-BE49-F238E27FC236}">
                  <a16:creationId xmlns:a16="http://schemas.microsoft.com/office/drawing/2014/main" id="{2434F7CB-F34B-2BC5-2D62-9945C38EF8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accent1">
                  <a:alpha val="12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 name="Freeform 21">
              <a:extLst>
                <a:ext uri="{FF2B5EF4-FFF2-40B4-BE49-F238E27FC236}">
                  <a16:creationId xmlns:a16="http://schemas.microsoft.com/office/drawing/2014/main" id="{0844536B-AD98-73D1-50A9-AD515773CA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accent1">
                  <a:alpha val="12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 name="Freeform 22">
              <a:extLst>
                <a:ext uri="{FF2B5EF4-FFF2-40B4-BE49-F238E27FC236}">
                  <a16:creationId xmlns:a16="http://schemas.microsoft.com/office/drawing/2014/main" id="{319DFF0B-5A1E-E802-0890-94971A0500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accent1">
                  <a:alpha val="11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1" name="Freeform 23">
              <a:extLst>
                <a:ext uri="{FF2B5EF4-FFF2-40B4-BE49-F238E27FC236}">
                  <a16:creationId xmlns:a16="http://schemas.microsoft.com/office/drawing/2014/main" id="{E09F44C9-5B61-2DF7-6EB3-78D81DB7B7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accent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2" name="Freeform 24">
              <a:extLst>
                <a:ext uri="{FF2B5EF4-FFF2-40B4-BE49-F238E27FC236}">
                  <a16:creationId xmlns:a16="http://schemas.microsoft.com/office/drawing/2014/main" id="{D1A3CEB9-2E5E-8504-B8BB-78A7D32D1D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accent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3" name="Freeform 25">
              <a:extLst>
                <a:ext uri="{FF2B5EF4-FFF2-40B4-BE49-F238E27FC236}">
                  <a16:creationId xmlns:a16="http://schemas.microsoft.com/office/drawing/2014/main" id="{72EA85C9-C6D6-1B8C-E61A-154BB62C4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accent1">
                  <a:alpha val="8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3" name="Content Placeholder 2">
            <a:extLst>
              <a:ext uri="{FF2B5EF4-FFF2-40B4-BE49-F238E27FC236}">
                <a16:creationId xmlns:a16="http://schemas.microsoft.com/office/drawing/2014/main" id="{BCB7EF8C-3DDD-85FC-03E4-455847E13CE6}"/>
              </a:ext>
            </a:extLst>
          </p:cNvPr>
          <p:cNvSpPr>
            <a:spLocks noGrp="1"/>
          </p:cNvSpPr>
          <p:nvPr>
            <p:ph idx="1"/>
          </p:nvPr>
        </p:nvSpPr>
        <p:spPr>
          <a:xfrm>
            <a:off x="2316343" y="3426305"/>
            <a:ext cx="4437186" cy="3869154"/>
          </a:xfrm>
        </p:spPr>
        <p:txBody>
          <a:bodyPr anchor="ctr">
            <a:noAutofit/>
          </a:bodyPr>
          <a:lstStyle/>
          <a:p>
            <a:pPr lvl="0"/>
            <a:endParaRPr lang="en-US" sz="1800" b="1"/>
          </a:p>
          <a:p>
            <a:endParaRPr lang="en-US"/>
          </a:p>
        </p:txBody>
      </p:sp>
      <p:sp>
        <p:nvSpPr>
          <p:cNvPr id="5" name="Content Placeholder 2">
            <a:extLst>
              <a:ext uri="{FF2B5EF4-FFF2-40B4-BE49-F238E27FC236}">
                <a16:creationId xmlns:a16="http://schemas.microsoft.com/office/drawing/2014/main" id="{6859FDB3-DC98-AD61-F59B-57B1188693BE}"/>
              </a:ext>
            </a:extLst>
          </p:cNvPr>
          <p:cNvSpPr txBox="1">
            <a:spLocks/>
          </p:cNvSpPr>
          <p:nvPr/>
        </p:nvSpPr>
        <p:spPr>
          <a:xfrm>
            <a:off x="1601649" y="4761936"/>
            <a:ext cx="8543720" cy="1699649"/>
          </a:xfrm>
          <a:prstGeom prst="rect">
            <a:avLst/>
          </a:prstGeom>
        </p:spPr>
        <p:txBody>
          <a:bodyPr vert="horz" lIns="91440" tIns="45720" rIns="91440" bIns="45720" rtlCol="0" anchor="ctr">
            <a:noAutofit/>
          </a:bodyPr>
          <a:lst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a:lstStyle>
          <a:p>
            <a:pPr marL="0" indent="0">
              <a:buNone/>
            </a:pPr>
            <a:endParaRPr lang="en-US" sz="1600" b="1">
              <a:cs typeface="Arial"/>
            </a:endParaRPr>
          </a:p>
          <a:p>
            <a:r>
              <a:rPr lang="en-US" sz="1600" b="1"/>
              <a:t>Equity (E):</a:t>
            </a:r>
            <a:r>
              <a:rPr lang="en-US" sz="1600"/>
              <a:t> Top security holding; ownership, voting rights, strong long-term returns.</a:t>
            </a:r>
            <a:endParaRPr lang="en-US" sz="1600" b="1"/>
          </a:p>
          <a:p>
            <a:r>
              <a:rPr lang="en-US" sz="1600" b="1"/>
              <a:t>Corporate Bonds (B):</a:t>
            </a:r>
            <a:r>
              <a:rPr lang="en-US" sz="1600"/>
              <a:t> Second most frequent; higher yields, attract income investors.</a:t>
            </a:r>
          </a:p>
          <a:p>
            <a:r>
              <a:rPr lang="en-US" sz="1600" b="1"/>
              <a:t>Municipal Bonds (1, 12):</a:t>
            </a:r>
            <a:r>
              <a:rPr lang="en-US" sz="1600"/>
              <a:t> Tax-free income; gained popularity in early 2021 and 2023 with rising tax revenues and market uncertainty.</a:t>
            </a:r>
          </a:p>
        </p:txBody>
      </p:sp>
      <p:pic>
        <p:nvPicPr>
          <p:cNvPr id="7" name="Picture 6" descr="A graph of security holding&#10;&#10;AI-generated content may be incorrect.">
            <a:extLst>
              <a:ext uri="{FF2B5EF4-FFF2-40B4-BE49-F238E27FC236}">
                <a16:creationId xmlns:a16="http://schemas.microsoft.com/office/drawing/2014/main" id="{2567F5BA-FF8B-5256-A85B-6A30DF6FB971}"/>
              </a:ext>
            </a:extLst>
          </p:cNvPr>
          <p:cNvPicPr>
            <a:picLocks noChangeAspect="1"/>
          </p:cNvPicPr>
          <p:nvPr/>
        </p:nvPicPr>
        <p:blipFill>
          <a:blip r:embed="rId3"/>
          <a:stretch>
            <a:fillRect/>
          </a:stretch>
        </p:blipFill>
        <p:spPr>
          <a:xfrm>
            <a:off x="1366932" y="683594"/>
            <a:ext cx="9013154" cy="4442767"/>
          </a:xfrm>
          <a:prstGeom prst="rect">
            <a:avLst/>
          </a:prstGeom>
        </p:spPr>
      </p:pic>
      <p:pic>
        <p:nvPicPr>
          <p:cNvPr id="4" name="Picture 4">
            <a:extLst>
              <a:ext uri="{FF2B5EF4-FFF2-40B4-BE49-F238E27FC236}">
                <a16:creationId xmlns:a16="http://schemas.microsoft.com/office/drawing/2014/main" id="{384AA78A-F744-EA89-525C-F2D08BF6E4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26408" y="-663307"/>
            <a:ext cx="2326245" cy="2127358"/>
          </a:xfrm>
          <a:prstGeom prst="rect">
            <a:avLst/>
          </a:prstGeom>
          <a:noFill/>
          <a:extLst>
            <a:ext uri="{909E8E84-426E-40DD-AFC4-6F175D3DCCD1}">
              <a14:hiddenFill xmlns:a14="http://schemas.microsoft.com/office/drawing/2010/main">
                <a:solidFill>
                  <a:srgbClr val="FFFFFF"/>
                </a:solidFill>
              </a14:hiddenFill>
            </a:ext>
          </a:extLst>
        </p:spPr>
      </p:pic>
      <p:pic>
        <p:nvPicPr>
          <p:cNvPr id="8" name="Content Placeholder 6" descr="A red text on a black background&#10;&#10;AI-generated content may be incorrect.">
            <a:extLst>
              <a:ext uri="{FF2B5EF4-FFF2-40B4-BE49-F238E27FC236}">
                <a16:creationId xmlns:a16="http://schemas.microsoft.com/office/drawing/2014/main" id="{5C663F79-DEFD-613F-B2FA-6984E0A1FECD}"/>
              </a:ext>
            </a:extLst>
          </p:cNvPr>
          <p:cNvPicPr>
            <a:picLocks noChangeAspect="1"/>
          </p:cNvPicPr>
          <p:nvPr/>
        </p:nvPicPr>
        <p:blipFill>
          <a:blip r:embed="rId5"/>
          <a:stretch>
            <a:fillRect/>
          </a:stretch>
        </p:blipFill>
        <p:spPr>
          <a:xfrm>
            <a:off x="102098" y="-169011"/>
            <a:ext cx="1708149" cy="1138767"/>
          </a:xfrm>
          <a:prstGeom prst="rect">
            <a:avLst/>
          </a:prstGeom>
        </p:spPr>
      </p:pic>
    </p:spTree>
    <p:extLst>
      <p:ext uri="{BB962C8B-B14F-4D97-AF65-F5344CB8AC3E}">
        <p14:creationId xmlns:p14="http://schemas.microsoft.com/office/powerpoint/2010/main" val="1994061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40F4F06-AF1C-D038-AD93-385673BA54BB}"/>
            </a:ext>
          </a:extLst>
        </p:cNvPr>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78F65E15-F511-D3E2-B35C-1E5F95770B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2" name="Group 41">
            <a:extLst>
              <a:ext uri="{FF2B5EF4-FFF2-40B4-BE49-F238E27FC236}">
                <a16:creationId xmlns:a16="http://schemas.microsoft.com/office/drawing/2014/main" id="{CD96D977-54D0-2EE2-8B63-21790C874A3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43" name="Freeform 5">
              <a:extLst>
                <a:ext uri="{FF2B5EF4-FFF2-40B4-BE49-F238E27FC236}">
                  <a16:creationId xmlns:a16="http://schemas.microsoft.com/office/drawing/2014/main" id="{18C40B64-F4AA-694D-AF03-AB611E414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accent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4" name="Freeform 6">
              <a:extLst>
                <a:ext uri="{FF2B5EF4-FFF2-40B4-BE49-F238E27FC236}">
                  <a16:creationId xmlns:a16="http://schemas.microsoft.com/office/drawing/2014/main" id="{DADC4D35-53BD-E96E-1586-A4F0A1150D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accent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 name="Freeform 7">
              <a:extLst>
                <a:ext uri="{FF2B5EF4-FFF2-40B4-BE49-F238E27FC236}">
                  <a16:creationId xmlns:a16="http://schemas.microsoft.com/office/drawing/2014/main" id="{520C17F7-1262-561C-279E-5A9CBEDFD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accent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 name="Freeform 8">
              <a:extLst>
                <a:ext uri="{FF2B5EF4-FFF2-40B4-BE49-F238E27FC236}">
                  <a16:creationId xmlns:a16="http://schemas.microsoft.com/office/drawing/2014/main" id="{88A75207-2039-73D4-F3EA-32A751232D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accent1">
                  <a:alpha val="18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 name="Freeform 9">
              <a:extLst>
                <a:ext uri="{FF2B5EF4-FFF2-40B4-BE49-F238E27FC236}">
                  <a16:creationId xmlns:a16="http://schemas.microsoft.com/office/drawing/2014/main" id="{50CCF4F6-F973-2DEF-D21C-7322637ED5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accent1">
                  <a:alpha val="18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 name="Freeform 10">
              <a:extLst>
                <a:ext uri="{FF2B5EF4-FFF2-40B4-BE49-F238E27FC236}">
                  <a16:creationId xmlns:a16="http://schemas.microsoft.com/office/drawing/2014/main" id="{EA72E7C1-D8AB-E28E-4784-14BA9EAF48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accent1">
                  <a:alpha val="18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 name="Freeform 11">
              <a:extLst>
                <a:ext uri="{FF2B5EF4-FFF2-40B4-BE49-F238E27FC236}">
                  <a16:creationId xmlns:a16="http://schemas.microsoft.com/office/drawing/2014/main" id="{EFE0B94C-A943-6333-0529-68D38B9332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accent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 name="Freeform 12">
              <a:extLst>
                <a:ext uri="{FF2B5EF4-FFF2-40B4-BE49-F238E27FC236}">
                  <a16:creationId xmlns:a16="http://schemas.microsoft.com/office/drawing/2014/main" id="{203BE7F4-6DB5-C496-8A50-C95048844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accent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1" name="Freeform 13">
              <a:extLst>
                <a:ext uri="{FF2B5EF4-FFF2-40B4-BE49-F238E27FC236}">
                  <a16:creationId xmlns:a16="http://schemas.microsoft.com/office/drawing/2014/main" id="{6D83A588-E138-FABE-320A-AC7664649B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accent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 name="Freeform 14">
              <a:extLst>
                <a:ext uri="{FF2B5EF4-FFF2-40B4-BE49-F238E27FC236}">
                  <a16:creationId xmlns:a16="http://schemas.microsoft.com/office/drawing/2014/main" id="{0196CA50-1DD3-1E98-144E-A248CD2E17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accent1">
                  <a:alpha val="13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 name="Freeform 15">
              <a:extLst>
                <a:ext uri="{FF2B5EF4-FFF2-40B4-BE49-F238E27FC236}">
                  <a16:creationId xmlns:a16="http://schemas.microsoft.com/office/drawing/2014/main" id="{D873FB16-0987-53D3-CEB0-EFCC5BEA23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accent1">
                  <a:alpha val="12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 name="Freeform 16">
              <a:extLst>
                <a:ext uri="{FF2B5EF4-FFF2-40B4-BE49-F238E27FC236}">
                  <a16:creationId xmlns:a16="http://schemas.microsoft.com/office/drawing/2014/main" id="{062D91A6-455C-679C-AA53-09C8C0FCCB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accent1">
                  <a:alpha val="13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 name="Freeform 17">
              <a:extLst>
                <a:ext uri="{FF2B5EF4-FFF2-40B4-BE49-F238E27FC236}">
                  <a16:creationId xmlns:a16="http://schemas.microsoft.com/office/drawing/2014/main" id="{D686BEAD-B33A-1B98-F0CD-D4C68495FD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accent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 name="Freeform 18">
              <a:extLst>
                <a:ext uri="{FF2B5EF4-FFF2-40B4-BE49-F238E27FC236}">
                  <a16:creationId xmlns:a16="http://schemas.microsoft.com/office/drawing/2014/main" id="{4D02A3FE-4854-8AD8-2E8D-114EE296BA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accent1">
                  <a:alpha val="12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 name="Freeform 19">
              <a:extLst>
                <a:ext uri="{FF2B5EF4-FFF2-40B4-BE49-F238E27FC236}">
                  <a16:creationId xmlns:a16="http://schemas.microsoft.com/office/drawing/2014/main" id="{2B2BB0FF-BFF0-C757-E0F8-B83E401DEF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accent1">
                  <a:alpha val="8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 name="Freeform 20">
              <a:extLst>
                <a:ext uri="{FF2B5EF4-FFF2-40B4-BE49-F238E27FC236}">
                  <a16:creationId xmlns:a16="http://schemas.microsoft.com/office/drawing/2014/main" id="{205608E2-4D8C-6336-7EB0-26D62FC1A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accent1">
                  <a:alpha val="12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 name="Freeform 21">
              <a:extLst>
                <a:ext uri="{FF2B5EF4-FFF2-40B4-BE49-F238E27FC236}">
                  <a16:creationId xmlns:a16="http://schemas.microsoft.com/office/drawing/2014/main" id="{EF80705C-A15C-6900-4B10-D847417292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accent1">
                  <a:alpha val="12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 name="Freeform 22">
              <a:extLst>
                <a:ext uri="{FF2B5EF4-FFF2-40B4-BE49-F238E27FC236}">
                  <a16:creationId xmlns:a16="http://schemas.microsoft.com/office/drawing/2014/main" id="{A540CFE6-B7EE-B833-851C-0693226A6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accent1">
                  <a:alpha val="11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1" name="Freeform 23">
              <a:extLst>
                <a:ext uri="{FF2B5EF4-FFF2-40B4-BE49-F238E27FC236}">
                  <a16:creationId xmlns:a16="http://schemas.microsoft.com/office/drawing/2014/main" id="{8DD6B1C1-B2C4-3089-909D-1CF3AF894A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accent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2" name="Freeform 24">
              <a:extLst>
                <a:ext uri="{FF2B5EF4-FFF2-40B4-BE49-F238E27FC236}">
                  <a16:creationId xmlns:a16="http://schemas.microsoft.com/office/drawing/2014/main" id="{89457A76-0092-2E93-87EA-807A231BBB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accent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3" name="Freeform 25">
              <a:extLst>
                <a:ext uri="{FF2B5EF4-FFF2-40B4-BE49-F238E27FC236}">
                  <a16:creationId xmlns:a16="http://schemas.microsoft.com/office/drawing/2014/main" id="{5178DFF7-7D24-9E91-152C-DB5102411D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accent1">
                  <a:alpha val="8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6" name="Content Placeholder 2">
            <a:extLst>
              <a:ext uri="{FF2B5EF4-FFF2-40B4-BE49-F238E27FC236}">
                <a16:creationId xmlns:a16="http://schemas.microsoft.com/office/drawing/2014/main" id="{CFB411D1-4A36-970E-817F-E56FEC9DD490}"/>
              </a:ext>
            </a:extLst>
          </p:cNvPr>
          <p:cNvSpPr txBox="1">
            <a:spLocks/>
          </p:cNvSpPr>
          <p:nvPr/>
        </p:nvSpPr>
        <p:spPr>
          <a:xfrm>
            <a:off x="1890022" y="4209926"/>
            <a:ext cx="8450954" cy="2257385"/>
          </a:xfrm>
          <a:prstGeom prst="rect">
            <a:avLst/>
          </a:prstGeom>
        </p:spPr>
        <p:txBody>
          <a:bodyPr vert="horz" lIns="91440" tIns="45720" rIns="91440" bIns="45720" rtlCol="0" anchor="ctr">
            <a:noAutofit/>
          </a:bodyPr>
          <a:lst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a:lstStyle>
          <a:p>
            <a:pPr marL="0" indent="0">
              <a:buNone/>
            </a:pPr>
            <a:endParaRPr lang="en-US" b="1">
              <a:ea typeface="+mn-lt"/>
              <a:cs typeface="+mn-lt"/>
            </a:endParaRPr>
          </a:p>
          <a:p>
            <a:r>
              <a:rPr lang="en-US" sz="1600" b="1">
                <a:ea typeface="+mn-lt"/>
                <a:cs typeface="+mn-lt"/>
              </a:rPr>
              <a:t>Top 5 – E, B, 12, 1, BG:</a:t>
            </a:r>
            <a:br>
              <a:rPr lang="en-US" sz="1600" b="1">
                <a:ea typeface="+mn-lt"/>
                <a:cs typeface="+mn-lt"/>
              </a:rPr>
            </a:br>
            <a:r>
              <a:rPr lang="en-US" sz="1600">
                <a:ea typeface="+mn-lt"/>
                <a:cs typeface="+mn-lt"/>
              </a:rPr>
              <a:t>These are broad, accessible investments that offer attractive returns or tax benefits. Their familiarity and stability make them popular among a wide range of investors.</a:t>
            </a:r>
          </a:p>
          <a:p>
            <a:r>
              <a:rPr lang="en-US" sz="1600" b="1">
                <a:ea typeface="+mn-lt"/>
                <a:cs typeface="+mn-lt"/>
              </a:rPr>
              <a:t>Bottom 5 – BT, ER, BD, CU, BY:</a:t>
            </a:r>
            <a:br>
              <a:rPr lang="en-US" sz="1600" b="1">
                <a:ea typeface="+mn-lt"/>
                <a:cs typeface="+mn-lt"/>
              </a:rPr>
            </a:br>
            <a:r>
              <a:rPr lang="en-US" sz="1600">
                <a:ea typeface="+mn-lt"/>
                <a:cs typeface="+mn-lt"/>
              </a:rPr>
              <a:t>These are more specialized holdings used for specific purposes rather than broad investing. Their complexity, lower returns, and higher risks limit investor participation, leading to lower frequency in the data.</a:t>
            </a:r>
            <a:endParaRPr lang="en-US"/>
          </a:p>
        </p:txBody>
      </p:sp>
      <p:pic>
        <p:nvPicPr>
          <p:cNvPr id="7" name="Content Placeholder 6" descr="A graph showing the top 10 security holdings&#10;&#10;AI-generated content may be incorrect.">
            <a:extLst>
              <a:ext uri="{FF2B5EF4-FFF2-40B4-BE49-F238E27FC236}">
                <a16:creationId xmlns:a16="http://schemas.microsoft.com/office/drawing/2014/main" id="{3BC3CBDF-6C66-2875-9487-E349533278A0}"/>
              </a:ext>
            </a:extLst>
          </p:cNvPr>
          <p:cNvPicPr>
            <a:picLocks noGrp="1" noChangeAspect="1"/>
          </p:cNvPicPr>
          <p:nvPr>
            <p:ph idx="1"/>
          </p:nvPr>
        </p:nvPicPr>
        <p:blipFill>
          <a:blip r:embed="rId3"/>
          <a:stretch>
            <a:fillRect/>
          </a:stretch>
        </p:blipFill>
        <p:spPr>
          <a:xfrm>
            <a:off x="2026529" y="476135"/>
            <a:ext cx="7532519" cy="3733791"/>
          </a:xfrm>
        </p:spPr>
      </p:pic>
      <p:pic>
        <p:nvPicPr>
          <p:cNvPr id="3" name="Content Placeholder 6" descr="A red text on a black background&#10;&#10;AI-generated content may be incorrect.">
            <a:extLst>
              <a:ext uri="{FF2B5EF4-FFF2-40B4-BE49-F238E27FC236}">
                <a16:creationId xmlns:a16="http://schemas.microsoft.com/office/drawing/2014/main" id="{C13A3AE6-6B61-491D-D7F5-4747B2EC2C5A}"/>
              </a:ext>
            </a:extLst>
          </p:cNvPr>
          <p:cNvPicPr>
            <a:picLocks noChangeAspect="1"/>
          </p:cNvPicPr>
          <p:nvPr/>
        </p:nvPicPr>
        <p:blipFill>
          <a:blip r:embed="rId4"/>
          <a:stretch>
            <a:fillRect/>
          </a:stretch>
        </p:blipFill>
        <p:spPr>
          <a:xfrm>
            <a:off x="102098" y="-169011"/>
            <a:ext cx="1708149" cy="1138767"/>
          </a:xfrm>
          <a:prstGeom prst="rect">
            <a:avLst/>
          </a:prstGeom>
        </p:spPr>
      </p:pic>
      <p:pic>
        <p:nvPicPr>
          <p:cNvPr id="4" name="Picture 4">
            <a:extLst>
              <a:ext uri="{FF2B5EF4-FFF2-40B4-BE49-F238E27FC236}">
                <a16:creationId xmlns:a16="http://schemas.microsoft.com/office/drawing/2014/main" id="{D3290D58-A767-4479-AD08-5860502F554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26408" y="-663307"/>
            <a:ext cx="2326245" cy="21273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43607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8A89BC-98C3-3D39-84EF-B0380D7D6A27}"/>
            </a:ext>
          </a:extLst>
        </p:cNvPr>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F8351595-4AE8-80F9-2A03-5215B03D01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2" name="Group 41">
            <a:extLst>
              <a:ext uri="{FF2B5EF4-FFF2-40B4-BE49-F238E27FC236}">
                <a16:creationId xmlns:a16="http://schemas.microsoft.com/office/drawing/2014/main" id="{E8100751-5AF4-5876-867A-E4415DCFB72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43" name="Freeform 5">
              <a:extLst>
                <a:ext uri="{FF2B5EF4-FFF2-40B4-BE49-F238E27FC236}">
                  <a16:creationId xmlns:a16="http://schemas.microsoft.com/office/drawing/2014/main" id="{AA75B8F3-E77E-F92E-9D0F-A6CF3A74A5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accent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4" name="Freeform 6">
              <a:extLst>
                <a:ext uri="{FF2B5EF4-FFF2-40B4-BE49-F238E27FC236}">
                  <a16:creationId xmlns:a16="http://schemas.microsoft.com/office/drawing/2014/main" id="{0C79007C-DE9B-2481-2D4C-9436574558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accent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 name="Freeform 7">
              <a:extLst>
                <a:ext uri="{FF2B5EF4-FFF2-40B4-BE49-F238E27FC236}">
                  <a16:creationId xmlns:a16="http://schemas.microsoft.com/office/drawing/2014/main" id="{D50554F8-6305-B3FD-DAE8-95C6B0EEC0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accent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 name="Freeform 8">
              <a:extLst>
                <a:ext uri="{FF2B5EF4-FFF2-40B4-BE49-F238E27FC236}">
                  <a16:creationId xmlns:a16="http://schemas.microsoft.com/office/drawing/2014/main" id="{7204E3FC-3FAE-5200-048D-2F99C6867D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accent1">
                  <a:alpha val="18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 name="Freeform 9">
              <a:extLst>
                <a:ext uri="{FF2B5EF4-FFF2-40B4-BE49-F238E27FC236}">
                  <a16:creationId xmlns:a16="http://schemas.microsoft.com/office/drawing/2014/main" id="{C62978CD-1D36-FA4E-1153-70537B181F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accent1">
                  <a:alpha val="18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 name="Freeform 10">
              <a:extLst>
                <a:ext uri="{FF2B5EF4-FFF2-40B4-BE49-F238E27FC236}">
                  <a16:creationId xmlns:a16="http://schemas.microsoft.com/office/drawing/2014/main" id="{91D96404-D6F0-0C79-14E2-48A883156F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accent1">
                  <a:alpha val="18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 name="Freeform 11">
              <a:extLst>
                <a:ext uri="{FF2B5EF4-FFF2-40B4-BE49-F238E27FC236}">
                  <a16:creationId xmlns:a16="http://schemas.microsoft.com/office/drawing/2014/main" id="{B74F4064-5568-2E54-189B-26A65A99A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accent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 name="Freeform 12">
              <a:extLst>
                <a:ext uri="{FF2B5EF4-FFF2-40B4-BE49-F238E27FC236}">
                  <a16:creationId xmlns:a16="http://schemas.microsoft.com/office/drawing/2014/main" id="{38820248-E4D1-583A-4D32-8B883127F9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accent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1" name="Freeform 13">
              <a:extLst>
                <a:ext uri="{FF2B5EF4-FFF2-40B4-BE49-F238E27FC236}">
                  <a16:creationId xmlns:a16="http://schemas.microsoft.com/office/drawing/2014/main" id="{764C3BBD-31A6-6ED8-92A4-37F273140E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accent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 name="Freeform 14">
              <a:extLst>
                <a:ext uri="{FF2B5EF4-FFF2-40B4-BE49-F238E27FC236}">
                  <a16:creationId xmlns:a16="http://schemas.microsoft.com/office/drawing/2014/main" id="{9911BFED-4124-6B31-DB82-A10135689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accent1">
                  <a:alpha val="13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 name="Freeform 15">
              <a:extLst>
                <a:ext uri="{FF2B5EF4-FFF2-40B4-BE49-F238E27FC236}">
                  <a16:creationId xmlns:a16="http://schemas.microsoft.com/office/drawing/2014/main" id="{91122798-2658-AFFB-77FC-5D1473EFF7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accent1">
                  <a:alpha val="12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 name="Freeform 16">
              <a:extLst>
                <a:ext uri="{FF2B5EF4-FFF2-40B4-BE49-F238E27FC236}">
                  <a16:creationId xmlns:a16="http://schemas.microsoft.com/office/drawing/2014/main" id="{FF295AF6-3AD5-084C-D6DB-352535766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accent1">
                  <a:alpha val="13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 name="Freeform 17">
              <a:extLst>
                <a:ext uri="{FF2B5EF4-FFF2-40B4-BE49-F238E27FC236}">
                  <a16:creationId xmlns:a16="http://schemas.microsoft.com/office/drawing/2014/main" id="{6DAA7346-93EC-48A6-6930-828B5984FD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accent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 name="Freeform 18">
              <a:extLst>
                <a:ext uri="{FF2B5EF4-FFF2-40B4-BE49-F238E27FC236}">
                  <a16:creationId xmlns:a16="http://schemas.microsoft.com/office/drawing/2014/main" id="{0D932547-DC69-6DFE-9F27-E00883004D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accent1">
                  <a:alpha val="12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 name="Freeform 19">
              <a:extLst>
                <a:ext uri="{FF2B5EF4-FFF2-40B4-BE49-F238E27FC236}">
                  <a16:creationId xmlns:a16="http://schemas.microsoft.com/office/drawing/2014/main" id="{06F6EF99-F6EA-2127-D935-45FA15C668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accent1">
                  <a:alpha val="8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 name="Freeform 20">
              <a:extLst>
                <a:ext uri="{FF2B5EF4-FFF2-40B4-BE49-F238E27FC236}">
                  <a16:creationId xmlns:a16="http://schemas.microsoft.com/office/drawing/2014/main" id="{DD0EB163-782A-D998-44C4-91C891F386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accent1">
                  <a:alpha val="12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 name="Freeform 21">
              <a:extLst>
                <a:ext uri="{FF2B5EF4-FFF2-40B4-BE49-F238E27FC236}">
                  <a16:creationId xmlns:a16="http://schemas.microsoft.com/office/drawing/2014/main" id="{6DACBBEA-08E4-9EDC-BDBC-95DB24C52C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accent1">
                  <a:alpha val="12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 name="Freeform 22">
              <a:extLst>
                <a:ext uri="{FF2B5EF4-FFF2-40B4-BE49-F238E27FC236}">
                  <a16:creationId xmlns:a16="http://schemas.microsoft.com/office/drawing/2014/main" id="{634AA2FD-53A3-F6AB-3C3E-4BD6006BB8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accent1">
                  <a:alpha val="11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1" name="Freeform 23">
              <a:extLst>
                <a:ext uri="{FF2B5EF4-FFF2-40B4-BE49-F238E27FC236}">
                  <a16:creationId xmlns:a16="http://schemas.microsoft.com/office/drawing/2014/main" id="{667BE172-E889-AB54-772B-A50317782D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accent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2" name="Freeform 24">
              <a:extLst>
                <a:ext uri="{FF2B5EF4-FFF2-40B4-BE49-F238E27FC236}">
                  <a16:creationId xmlns:a16="http://schemas.microsoft.com/office/drawing/2014/main" id="{84DE9D9B-00A2-29B9-F94E-9C6A228D0D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accent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3" name="Freeform 25">
              <a:extLst>
                <a:ext uri="{FF2B5EF4-FFF2-40B4-BE49-F238E27FC236}">
                  <a16:creationId xmlns:a16="http://schemas.microsoft.com/office/drawing/2014/main" id="{7C9BE384-3214-759D-4562-431EC8ED56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accent1">
                  <a:alpha val="8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9" name="Content Placeholder 2">
            <a:extLst>
              <a:ext uri="{FF2B5EF4-FFF2-40B4-BE49-F238E27FC236}">
                <a16:creationId xmlns:a16="http://schemas.microsoft.com/office/drawing/2014/main" id="{0A1098AB-528B-349E-2194-68E873CA4453}"/>
              </a:ext>
            </a:extLst>
          </p:cNvPr>
          <p:cNvSpPr txBox="1">
            <a:spLocks/>
          </p:cNvSpPr>
          <p:nvPr/>
        </p:nvSpPr>
        <p:spPr>
          <a:xfrm>
            <a:off x="2293937" y="4502768"/>
            <a:ext cx="7685571" cy="1830388"/>
          </a:xfrm>
          <a:prstGeom prst="rect">
            <a:avLst/>
          </a:prstGeom>
        </p:spPr>
        <p:txBody>
          <a:bodyPr vert="horz" lIns="91440" tIns="45720" rIns="91440" bIns="45720" rtlCol="0" anchor="ctr">
            <a:noAutofit/>
          </a:bodyPr>
          <a:lst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a:lstStyle>
          <a:p>
            <a:endParaRPr lang="en-US" b="1">
              <a:ea typeface="+mn-lt"/>
              <a:cs typeface="+mn-lt"/>
            </a:endParaRPr>
          </a:p>
          <a:p>
            <a:endParaRPr lang="en-US" sz="1600" b="1">
              <a:ea typeface="+mn-lt"/>
              <a:cs typeface="+mn-lt"/>
            </a:endParaRPr>
          </a:p>
          <a:p>
            <a:r>
              <a:rPr lang="en-US" sz="1600">
                <a:ea typeface="+mn-lt"/>
                <a:cs typeface="+mn-lt"/>
              </a:rPr>
              <a:t>Certain issuer names appear under multiple holding types.</a:t>
            </a:r>
          </a:p>
          <a:p>
            <a:r>
              <a:rPr lang="en-US" sz="1600"/>
              <a:t>Indicates inconsistent label assignment for the same security name.</a:t>
            </a:r>
          </a:p>
          <a:p>
            <a:r>
              <a:rPr lang="en-US" sz="1600">
                <a:ea typeface="+mn-lt"/>
                <a:cs typeface="+mn-lt"/>
              </a:rPr>
              <a:t>Creates high confusion risk when predicting security type using name-only data.</a:t>
            </a:r>
          </a:p>
          <a:p>
            <a:r>
              <a:rPr lang="en-US" sz="1600"/>
              <a:t>Suggests that naming alone does not reliably indicate holding classification.</a:t>
            </a:r>
          </a:p>
        </p:txBody>
      </p:sp>
      <p:pic>
        <p:nvPicPr>
          <p:cNvPr id="10" name="Picture 9">
            <a:extLst>
              <a:ext uri="{FF2B5EF4-FFF2-40B4-BE49-F238E27FC236}">
                <a16:creationId xmlns:a16="http://schemas.microsoft.com/office/drawing/2014/main" id="{9BAA0FD6-74F9-54D7-507F-3086ABEF8B8F}"/>
              </a:ext>
            </a:extLst>
          </p:cNvPr>
          <p:cNvPicPr>
            <a:picLocks noChangeAspect="1"/>
          </p:cNvPicPr>
          <p:nvPr/>
        </p:nvPicPr>
        <p:blipFill>
          <a:blip r:embed="rId3"/>
          <a:stretch>
            <a:fillRect/>
          </a:stretch>
        </p:blipFill>
        <p:spPr>
          <a:xfrm>
            <a:off x="2276474" y="524844"/>
            <a:ext cx="7129461" cy="4363862"/>
          </a:xfrm>
          <a:prstGeom prst="rect">
            <a:avLst/>
          </a:prstGeom>
        </p:spPr>
      </p:pic>
      <p:pic>
        <p:nvPicPr>
          <p:cNvPr id="3" name="Picture 4">
            <a:extLst>
              <a:ext uri="{FF2B5EF4-FFF2-40B4-BE49-F238E27FC236}">
                <a16:creationId xmlns:a16="http://schemas.microsoft.com/office/drawing/2014/main" id="{E0FBB470-2134-82B3-357C-C5BFC5D005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26408" y="-663307"/>
            <a:ext cx="2326245" cy="2127358"/>
          </a:xfrm>
          <a:prstGeom prst="rect">
            <a:avLst/>
          </a:prstGeom>
          <a:noFill/>
          <a:extLst>
            <a:ext uri="{909E8E84-426E-40DD-AFC4-6F175D3DCCD1}">
              <a14:hiddenFill xmlns:a14="http://schemas.microsoft.com/office/drawing/2010/main">
                <a:solidFill>
                  <a:srgbClr val="FFFFFF"/>
                </a:solidFill>
              </a14:hiddenFill>
            </a:ext>
          </a:extLst>
        </p:spPr>
      </p:pic>
      <p:pic>
        <p:nvPicPr>
          <p:cNvPr id="4" name="Content Placeholder 6" descr="A red text on a black background&#10;&#10;AI-generated content may be incorrect.">
            <a:extLst>
              <a:ext uri="{FF2B5EF4-FFF2-40B4-BE49-F238E27FC236}">
                <a16:creationId xmlns:a16="http://schemas.microsoft.com/office/drawing/2014/main" id="{670417BE-CCB5-153E-A37D-CECB595BAE32}"/>
              </a:ext>
            </a:extLst>
          </p:cNvPr>
          <p:cNvPicPr>
            <a:picLocks noChangeAspect="1"/>
          </p:cNvPicPr>
          <p:nvPr/>
        </p:nvPicPr>
        <p:blipFill>
          <a:blip r:embed="rId5"/>
          <a:stretch>
            <a:fillRect/>
          </a:stretch>
        </p:blipFill>
        <p:spPr>
          <a:xfrm>
            <a:off x="102098" y="-169011"/>
            <a:ext cx="1708149" cy="1138767"/>
          </a:xfrm>
          <a:prstGeom prst="rect">
            <a:avLst/>
          </a:prstGeom>
        </p:spPr>
      </p:pic>
    </p:spTree>
    <p:extLst>
      <p:ext uri="{BB962C8B-B14F-4D97-AF65-F5344CB8AC3E}">
        <p14:creationId xmlns:p14="http://schemas.microsoft.com/office/powerpoint/2010/main" val="22851203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81D9688-4011-2FA3-ED87-FB7453E64FE3}"/>
            </a:ext>
          </a:extLst>
        </p:cNvPr>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DF001FE3-6C92-AA14-AFEB-92C8364AD5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2" name="Group 41">
            <a:extLst>
              <a:ext uri="{FF2B5EF4-FFF2-40B4-BE49-F238E27FC236}">
                <a16:creationId xmlns:a16="http://schemas.microsoft.com/office/drawing/2014/main" id="{FC1F8B50-0F4D-08A3-8F11-FCBAFA1DAB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43" name="Freeform 5">
              <a:extLst>
                <a:ext uri="{FF2B5EF4-FFF2-40B4-BE49-F238E27FC236}">
                  <a16:creationId xmlns:a16="http://schemas.microsoft.com/office/drawing/2014/main" id="{8803AB2F-3A04-E21B-774B-0D7ACB34CF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accent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4" name="Freeform 6">
              <a:extLst>
                <a:ext uri="{FF2B5EF4-FFF2-40B4-BE49-F238E27FC236}">
                  <a16:creationId xmlns:a16="http://schemas.microsoft.com/office/drawing/2014/main" id="{6F2BB580-7A5E-6C10-5038-A7B345F9EE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accent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 name="Freeform 7">
              <a:extLst>
                <a:ext uri="{FF2B5EF4-FFF2-40B4-BE49-F238E27FC236}">
                  <a16:creationId xmlns:a16="http://schemas.microsoft.com/office/drawing/2014/main" id="{54EB6850-59D9-C331-800B-AB942C0A61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accent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 name="Freeform 8">
              <a:extLst>
                <a:ext uri="{FF2B5EF4-FFF2-40B4-BE49-F238E27FC236}">
                  <a16:creationId xmlns:a16="http://schemas.microsoft.com/office/drawing/2014/main" id="{4C3F2A5C-F4FD-19C3-CD7D-6688F8E046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accent1">
                  <a:alpha val="18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 name="Freeform 9">
              <a:extLst>
                <a:ext uri="{FF2B5EF4-FFF2-40B4-BE49-F238E27FC236}">
                  <a16:creationId xmlns:a16="http://schemas.microsoft.com/office/drawing/2014/main" id="{A7F8D377-5F72-16F8-0E68-92E67D9B2D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accent1">
                  <a:alpha val="18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 name="Freeform 10">
              <a:extLst>
                <a:ext uri="{FF2B5EF4-FFF2-40B4-BE49-F238E27FC236}">
                  <a16:creationId xmlns:a16="http://schemas.microsoft.com/office/drawing/2014/main" id="{F10ED8F8-681F-4E68-CB8C-A66C205BF8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accent1">
                  <a:alpha val="18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 name="Freeform 11">
              <a:extLst>
                <a:ext uri="{FF2B5EF4-FFF2-40B4-BE49-F238E27FC236}">
                  <a16:creationId xmlns:a16="http://schemas.microsoft.com/office/drawing/2014/main" id="{85AE4FBB-412C-9167-FF42-26983AFE0A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accent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 name="Freeform 12">
              <a:extLst>
                <a:ext uri="{FF2B5EF4-FFF2-40B4-BE49-F238E27FC236}">
                  <a16:creationId xmlns:a16="http://schemas.microsoft.com/office/drawing/2014/main" id="{3F8471E3-FD4C-BA37-514A-363953113E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accent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1" name="Freeform 13">
              <a:extLst>
                <a:ext uri="{FF2B5EF4-FFF2-40B4-BE49-F238E27FC236}">
                  <a16:creationId xmlns:a16="http://schemas.microsoft.com/office/drawing/2014/main" id="{AE0C3117-5823-6EBF-D71D-94C63D3F65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accent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 name="Freeform 14">
              <a:extLst>
                <a:ext uri="{FF2B5EF4-FFF2-40B4-BE49-F238E27FC236}">
                  <a16:creationId xmlns:a16="http://schemas.microsoft.com/office/drawing/2014/main" id="{AF9F5B47-EBE1-2724-A7FC-2AEDCCDDF9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accent1">
                  <a:alpha val="13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 name="Freeform 15">
              <a:extLst>
                <a:ext uri="{FF2B5EF4-FFF2-40B4-BE49-F238E27FC236}">
                  <a16:creationId xmlns:a16="http://schemas.microsoft.com/office/drawing/2014/main" id="{92E34899-53B0-B1D5-ECC9-434B244253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accent1">
                  <a:alpha val="12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 name="Freeform 16">
              <a:extLst>
                <a:ext uri="{FF2B5EF4-FFF2-40B4-BE49-F238E27FC236}">
                  <a16:creationId xmlns:a16="http://schemas.microsoft.com/office/drawing/2014/main" id="{F5B12FD0-8998-F7D9-7D1D-CA05E4D7FB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accent1">
                  <a:alpha val="13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 name="Freeform 17">
              <a:extLst>
                <a:ext uri="{FF2B5EF4-FFF2-40B4-BE49-F238E27FC236}">
                  <a16:creationId xmlns:a16="http://schemas.microsoft.com/office/drawing/2014/main" id="{B09209A2-953C-AEFF-B074-07BBABE2D4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accent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 name="Freeform 18">
              <a:extLst>
                <a:ext uri="{FF2B5EF4-FFF2-40B4-BE49-F238E27FC236}">
                  <a16:creationId xmlns:a16="http://schemas.microsoft.com/office/drawing/2014/main" id="{4AF58A84-4930-625A-9A33-1890389E0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accent1">
                  <a:alpha val="12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 name="Freeform 19">
              <a:extLst>
                <a:ext uri="{FF2B5EF4-FFF2-40B4-BE49-F238E27FC236}">
                  <a16:creationId xmlns:a16="http://schemas.microsoft.com/office/drawing/2014/main" id="{E5CA7DA2-E837-C130-6E75-2FC99C00BD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accent1">
                  <a:alpha val="8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 name="Freeform 20">
              <a:extLst>
                <a:ext uri="{FF2B5EF4-FFF2-40B4-BE49-F238E27FC236}">
                  <a16:creationId xmlns:a16="http://schemas.microsoft.com/office/drawing/2014/main" id="{14751016-11F1-72B5-6B0D-30E7996012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accent1">
                  <a:alpha val="12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 name="Freeform 21">
              <a:extLst>
                <a:ext uri="{FF2B5EF4-FFF2-40B4-BE49-F238E27FC236}">
                  <a16:creationId xmlns:a16="http://schemas.microsoft.com/office/drawing/2014/main" id="{0A06EAD1-1ACF-C8A4-75DB-5CDEDEE469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accent1">
                  <a:alpha val="12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 name="Freeform 22">
              <a:extLst>
                <a:ext uri="{FF2B5EF4-FFF2-40B4-BE49-F238E27FC236}">
                  <a16:creationId xmlns:a16="http://schemas.microsoft.com/office/drawing/2014/main" id="{59A9389F-DFA2-12CC-02E4-8E0C66B7B2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accent1">
                  <a:alpha val="11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1" name="Freeform 23">
              <a:extLst>
                <a:ext uri="{FF2B5EF4-FFF2-40B4-BE49-F238E27FC236}">
                  <a16:creationId xmlns:a16="http://schemas.microsoft.com/office/drawing/2014/main" id="{0FAA3C44-FF2A-A228-AD21-7B7616EAEC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accent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2" name="Freeform 24">
              <a:extLst>
                <a:ext uri="{FF2B5EF4-FFF2-40B4-BE49-F238E27FC236}">
                  <a16:creationId xmlns:a16="http://schemas.microsoft.com/office/drawing/2014/main" id="{4E16E4AD-59D1-F829-CACD-99977437C8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accent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3" name="Freeform 25">
              <a:extLst>
                <a:ext uri="{FF2B5EF4-FFF2-40B4-BE49-F238E27FC236}">
                  <a16:creationId xmlns:a16="http://schemas.microsoft.com/office/drawing/2014/main" id="{688C3143-77BF-6DD6-C51A-EC86E5D0D4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accent1">
                  <a:alpha val="8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pic>
        <p:nvPicPr>
          <p:cNvPr id="7" name="Content Placeholder 3">
            <a:extLst>
              <a:ext uri="{FF2B5EF4-FFF2-40B4-BE49-F238E27FC236}">
                <a16:creationId xmlns:a16="http://schemas.microsoft.com/office/drawing/2014/main" id="{53BBA75F-D013-960A-430B-0DD79F50F6BC}"/>
              </a:ext>
            </a:extLst>
          </p:cNvPr>
          <p:cNvPicPr>
            <a:picLocks noChangeAspect="1"/>
          </p:cNvPicPr>
          <p:nvPr/>
        </p:nvPicPr>
        <p:blipFill>
          <a:blip r:embed="rId3"/>
          <a:stretch>
            <a:fillRect/>
          </a:stretch>
        </p:blipFill>
        <p:spPr>
          <a:xfrm>
            <a:off x="265780" y="461495"/>
            <a:ext cx="11660440" cy="4047927"/>
          </a:xfrm>
          <a:prstGeom prst="rect">
            <a:avLst/>
          </a:prstGeom>
        </p:spPr>
      </p:pic>
      <p:sp>
        <p:nvSpPr>
          <p:cNvPr id="9" name="Content Placeholder 2">
            <a:extLst>
              <a:ext uri="{FF2B5EF4-FFF2-40B4-BE49-F238E27FC236}">
                <a16:creationId xmlns:a16="http://schemas.microsoft.com/office/drawing/2014/main" id="{B19C7089-2565-6EA6-1234-ADE4ABEA320F}"/>
              </a:ext>
            </a:extLst>
          </p:cNvPr>
          <p:cNvSpPr txBox="1">
            <a:spLocks/>
          </p:cNvSpPr>
          <p:nvPr/>
        </p:nvSpPr>
        <p:spPr>
          <a:xfrm>
            <a:off x="1840102" y="4513090"/>
            <a:ext cx="9154850" cy="1786935"/>
          </a:xfrm>
          <a:prstGeom prst="rect">
            <a:avLst/>
          </a:prstGeom>
        </p:spPr>
        <p:txBody>
          <a:bodyPr vert="horz" lIns="91440" tIns="45720" rIns="91440" bIns="45720" rtlCol="0" anchor="ctr">
            <a:noAutofit/>
          </a:bodyPr>
          <a:lst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a:lstStyle>
          <a:p>
            <a:endParaRPr lang="en-US" b="1">
              <a:ea typeface="+mn-lt"/>
              <a:cs typeface="+mn-lt"/>
            </a:endParaRPr>
          </a:p>
          <a:p>
            <a:endParaRPr lang="en-US" sz="1600" b="1">
              <a:ea typeface="+mn-lt"/>
              <a:cs typeface="+mn-lt"/>
            </a:endParaRPr>
          </a:p>
          <a:p>
            <a:r>
              <a:rPr lang="en-US" sz="1600">
                <a:ea typeface="+mn-lt"/>
                <a:cs typeface="+mn-lt"/>
              </a:rPr>
              <a:t>Some holding types share large overlaps in referenced security names.</a:t>
            </a:r>
          </a:p>
          <a:p>
            <a:r>
              <a:rPr lang="en-US" sz="1600"/>
              <a:t>Indicates</a:t>
            </a:r>
            <a:r>
              <a:rPr lang="en-US" sz="1600">
                <a:ea typeface="+mn-lt"/>
                <a:cs typeface="+mn-lt"/>
              </a:rPr>
              <a:t> that category boundaries are not clearly separated in the underlying data.</a:t>
            </a:r>
          </a:p>
          <a:p>
            <a:r>
              <a:rPr lang="en-US" sz="1600">
                <a:ea typeface="+mn-lt"/>
                <a:cs typeface="+mn-lt"/>
              </a:rPr>
              <a:t>Reveals structural ambiguity between certain security types (e.g., B ↔ E, E ↔ ER).</a:t>
            </a:r>
          </a:p>
          <a:p>
            <a:r>
              <a:rPr lang="en-US" sz="1600">
                <a:ea typeface="+mn-lt"/>
                <a:cs typeface="+mn-lt"/>
              </a:rPr>
              <a:t>Confirms that a portion of misclassification risk is inherent to the dataset, not just the model.</a:t>
            </a:r>
            <a:endParaRPr lang="en-US" sz="1600"/>
          </a:p>
          <a:p>
            <a:pPr marL="285750" indent="-285750">
              <a:lnSpc>
                <a:spcPct val="100000"/>
              </a:lnSpc>
              <a:spcBef>
                <a:spcPts val="0"/>
              </a:spcBef>
              <a:buFont typeface="Arial,Sans-Serif" panose="05000000000000000000" pitchFamily="2" charset="2"/>
              <a:buChar char="•"/>
            </a:pPr>
            <a:endParaRPr lang="en-US" sz="1600"/>
          </a:p>
        </p:txBody>
      </p:sp>
      <p:pic>
        <p:nvPicPr>
          <p:cNvPr id="3" name="Content Placeholder 6" descr="A red text on a black background&#10;&#10;AI-generated content may be incorrect.">
            <a:extLst>
              <a:ext uri="{FF2B5EF4-FFF2-40B4-BE49-F238E27FC236}">
                <a16:creationId xmlns:a16="http://schemas.microsoft.com/office/drawing/2014/main" id="{B4C31CFD-960A-EA56-F454-7CAFF73CA5DB}"/>
              </a:ext>
            </a:extLst>
          </p:cNvPr>
          <p:cNvPicPr>
            <a:picLocks noChangeAspect="1"/>
          </p:cNvPicPr>
          <p:nvPr/>
        </p:nvPicPr>
        <p:blipFill>
          <a:blip r:embed="rId4"/>
          <a:stretch>
            <a:fillRect/>
          </a:stretch>
        </p:blipFill>
        <p:spPr>
          <a:xfrm>
            <a:off x="102098" y="-169011"/>
            <a:ext cx="1708149" cy="1138767"/>
          </a:xfrm>
          <a:prstGeom prst="rect">
            <a:avLst/>
          </a:prstGeom>
        </p:spPr>
      </p:pic>
      <p:pic>
        <p:nvPicPr>
          <p:cNvPr id="4" name="Picture 4">
            <a:extLst>
              <a:ext uri="{FF2B5EF4-FFF2-40B4-BE49-F238E27FC236}">
                <a16:creationId xmlns:a16="http://schemas.microsoft.com/office/drawing/2014/main" id="{3A55E76E-3BC0-D32D-B7D8-C46D9EF3A8E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26408" y="-663307"/>
            <a:ext cx="2326245" cy="21273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5419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BE0B1F-3408-2E81-9966-35DF529025A9}"/>
            </a:ext>
          </a:extLst>
        </p:cNvPr>
        <p:cNvGrpSpPr/>
        <p:nvPr/>
      </p:nvGrpSpPr>
      <p:grpSpPr>
        <a:xfrm>
          <a:off x="0" y="0"/>
          <a:ext cx="0" cy="0"/>
          <a:chOff x="0" y="0"/>
          <a:chExt cx="0" cy="0"/>
        </a:xfrm>
      </p:grpSpPr>
      <p:sp useBgFill="1">
        <p:nvSpPr>
          <p:cNvPr id="68" name="Rectangle 67">
            <a:extLst>
              <a:ext uri="{FF2B5EF4-FFF2-40B4-BE49-F238E27FC236}">
                <a16:creationId xmlns:a16="http://schemas.microsoft.com/office/drawing/2014/main" id="{F3C5918A-1DC5-4CF3-AA27-00AA3088AA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Shape 69">
            <a:extLst>
              <a:ext uri="{FF2B5EF4-FFF2-40B4-BE49-F238E27FC236}">
                <a16:creationId xmlns:a16="http://schemas.microsoft.com/office/drawing/2014/main" id="{B786683A-6FD6-4BF7-B3B0-DC39767739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274788" y="-15796"/>
            <a:ext cx="7911916" cy="6889592"/>
          </a:xfrm>
          <a:custGeom>
            <a:avLst/>
            <a:gdLst>
              <a:gd name="connsiteX0" fmla="*/ 1144064 w 7911916"/>
              <a:gd name="connsiteY0" fmla="*/ 0 h 6889592"/>
              <a:gd name="connsiteX1" fmla="*/ 7911916 w 7911916"/>
              <a:gd name="connsiteY1" fmla="*/ 0 h 6889592"/>
              <a:gd name="connsiteX2" fmla="*/ 7911916 w 7911916"/>
              <a:gd name="connsiteY2" fmla="*/ 6889592 h 6889592"/>
              <a:gd name="connsiteX3" fmla="*/ 1282780 w 7911916"/>
              <a:gd name="connsiteY3" fmla="*/ 6889592 h 6889592"/>
              <a:gd name="connsiteX4" fmla="*/ 1021588 w 7911916"/>
              <a:gd name="connsiteY4" fmla="*/ 6461391 h 6889592"/>
              <a:gd name="connsiteX5" fmla="*/ 841264 w 7911916"/>
              <a:gd name="connsiteY5" fmla="*/ 370936 h 6889592"/>
              <a:gd name="connsiteX6" fmla="*/ 1119707 w 7911916"/>
              <a:gd name="connsiteY6" fmla="*/ 26053 h 6889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11916" h="6889592">
                <a:moveTo>
                  <a:pt x="1144064" y="0"/>
                </a:moveTo>
                <a:lnTo>
                  <a:pt x="7911916" y="0"/>
                </a:lnTo>
                <a:lnTo>
                  <a:pt x="7911916" y="6889592"/>
                </a:lnTo>
                <a:lnTo>
                  <a:pt x="1282780" y="6889592"/>
                </a:lnTo>
                <a:lnTo>
                  <a:pt x="1021588" y="6461391"/>
                </a:lnTo>
                <a:cubicBezTo>
                  <a:pt x="-73086" y="4533675"/>
                  <a:pt x="-509682" y="2192905"/>
                  <a:pt x="841264" y="370936"/>
                </a:cubicBezTo>
                <a:cubicBezTo>
                  <a:pt x="928899" y="253509"/>
                  <a:pt x="1021859" y="138477"/>
                  <a:pt x="1119707" y="26053"/>
                </a:cubicBezTo>
                <a:close/>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2" name="Freeform: Shape 71">
            <a:extLst>
              <a:ext uri="{FF2B5EF4-FFF2-40B4-BE49-F238E27FC236}">
                <a16:creationId xmlns:a16="http://schemas.microsoft.com/office/drawing/2014/main" id="{05169E50-59FB-4AEE-B61D-44A882A4C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249750" y="-6726"/>
            <a:ext cx="5931659" cy="6871452"/>
          </a:xfrm>
          <a:custGeom>
            <a:avLst/>
            <a:gdLst>
              <a:gd name="connsiteX0" fmla="*/ 2429503 w 5931659"/>
              <a:gd name="connsiteY0" fmla="*/ 0 h 6871452"/>
              <a:gd name="connsiteX1" fmla="*/ 5931659 w 5931659"/>
              <a:gd name="connsiteY1" fmla="*/ 0 h 6871452"/>
              <a:gd name="connsiteX2" fmla="*/ 5931659 w 5931659"/>
              <a:gd name="connsiteY2" fmla="*/ 6871452 h 6871452"/>
              <a:gd name="connsiteX3" fmla="*/ 1302090 w 5931659"/>
              <a:gd name="connsiteY3" fmla="*/ 6871452 h 6871452"/>
              <a:gd name="connsiteX4" fmla="*/ 1257860 w 5931659"/>
              <a:gd name="connsiteY4" fmla="*/ 6820098 h 6871452"/>
              <a:gd name="connsiteX5" fmla="*/ 456609 w 5931659"/>
              <a:gd name="connsiteY5" fmla="*/ 1965059 h 6871452"/>
              <a:gd name="connsiteX6" fmla="*/ 2356353 w 5931659"/>
              <a:gd name="connsiteY6" fmla="*/ 42030 h 6871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31659" h="6871452">
                <a:moveTo>
                  <a:pt x="2429503" y="0"/>
                </a:moveTo>
                <a:lnTo>
                  <a:pt x="5931659" y="0"/>
                </a:lnTo>
                <a:lnTo>
                  <a:pt x="5931659" y="6871452"/>
                </a:lnTo>
                <a:lnTo>
                  <a:pt x="1302090" y="6871452"/>
                </a:lnTo>
                <a:lnTo>
                  <a:pt x="1257860" y="6820098"/>
                </a:lnTo>
                <a:cubicBezTo>
                  <a:pt x="121068" y="5395213"/>
                  <a:pt x="-469022" y="3541076"/>
                  <a:pt x="456609" y="1965059"/>
                </a:cubicBezTo>
                <a:cubicBezTo>
                  <a:pt x="919425" y="1178905"/>
                  <a:pt x="1583566" y="524859"/>
                  <a:pt x="2356353" y="42030"/>
                </a:cubicBezTo>
                <a:close/>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4" name="Freeform: Shape 73">
            <a:extLst>
              <a:ext uri="{FF2B5EF4-FFF2-40B4-BE49-F238E27FC236}">
                <a16:creationId xmlns:a16="http://schemas.microsoft.com/office/drawing/2014/main" id="{117C30F0-5A38-4B60-B632-3AF7C2780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433528" y="-3116"/>
            <a:ext cx="6766974" cy="6864232"/>
          </a:xfrm>
          <a:custGeom>
            <a:avLst/>
            <a:gdLst>
              <a:gd name="connsiteX0" fmla="*/ 2135088 w 6766974"/>
              <a:gd name="connsiteY0" fmla="*/ 0 h 6864232"/>
              <a:gd name="connsiteX1" fmla="*/ 6766974 w 6766974"/>
              <a:gd name="connsiteY1" fmla="*/ 0 h 6864232"/>
              <a:gd name="connsiteX2" fmla="*/ 6766974 w 6766974"/>
              <a:gd name="connsiteY2" fmla="*/ 6864232 h 6864232"/>
              <a:gd name="connsiteX3" fmla="*/ 1128977 w 6766974"/>
              <a:gd name="connsiteY3" fmla="*/ 6864232 h 6864232"/>
              <a:gd name="connsiteX4" fmla="*/ 1004776 w 6766974"/>
              <a:gd name="connsiteY4" fmla="*/ 6687663 h 6864232"/>
              <a:gd name="connsiteX5" fmla="*/ 709736 w 6766974"/>
              <a:gd name="connsiteY5" fmla="*/ 1521351 h 6864232"/>
              <a:gd name="connsiteX6" fmla="*/ 1896284 w 6766974"/>
              <a:gd name="connsiteY6" fmla="*/ 197391 h 6864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66974" h="6864232">
                <a:moveTo>
                  <a:pt x="2135088" y="0"/>
                </a:moveTo>
                <a:lnTo>
                  <a:pt x="6766974" y="0"/>
                </a:lnTo>
                <a:lnTo>
                  <a:pt x="6766974" y="6864232"/>
                </a:lnTo>
                <a:lnTo>
                  <a:pt x="1128977" y="6864232"/>
                </a:lnTo>
                <a:lnTo>
                  <a:pt x="1004776" y="6687663"/>
                </a:lnTo>
                <a:cubicBezTo>
                  <a:pt x="-54053" y="5122098"/>
                  <a:pt x="-463081" y="3202457"/>
                  <a:pt x="709736" y="1521351"/>
                </a:cubicBezTo>
                <a:cubicBezTo>
                  <a:pt x="1045443" y="1039181"/>
                  <a:pt x="1446565" y="592246"/>
                  <a:pt x="1896284" y="197391"/>
                </a:cubicBezTo>
                <a:close/>
              </a:path>
            </a:pathLst>
          </a:custGeom>
          <a:noFill/>
          <a:ln w="9525" cap="flat">
            <a:solidFill>
              <a:schemeClr val="tx1">
                <a:alpha val="1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6" name="Freeform: Shape 75">
            <a:extLst>
              <a:ext uri="{FF2B5EF4-FFF2-40B4-BE49-F238E27FC236}">
                <a16:creationId xmlns:a16="http://schemas.microsoft.com/office/drawing/2014/main" id="{A200CBA5-3F2B-4AAC-9F86-99AFECC19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53136" y="0"/>
            <a:ext cx="5238864" cy="6858000"/>
          </a:xfrm>
          <a:custGeom>
            <a:avLst/>
            <a:gdLst>
              <a:gd name="connsiteX0" fmla="*/ 2829115 w 5238864"/>
              <a:gd name="connsiteY0" fmla="*/ 0 h 6864726"/>
              <a:gd name="connsiteX1" fmla="*/ 5238864 w 5238864"/>
              <a:gd name="connsiteY1" fmla="*/ 0 h 6864726"/>
              <a:gd name="connsiteX2" fmla="*/ 5238864 w 5238864"/>
              <a:gd name="connsiteY2" fmla="*/ 6864726 h 6864726"/>
              <a:gd name="connsiteX3" fmla="*/ 1518091 w 5238864"/>
              <a:gd name="connsiteY3" fmla="*/ 6864726 h 6864726"/>
              <a:gd name="connsiteX4" fmla="*/ 1435414 w 5238864"/>
              <a:gd name="connsiteY4" fmla="*/ 6778879 h 6864726"/>
              <a:gd name="connsiteX5" fmla="*/ 406006 w 5238864"/>
              <a:gd name="connsiteY5" fmla="*/ 2093910 h 6864726"/>
              <a:gd name="connsiteX6" fmla="*/ 2559142 w 5238864"/>
              <a:gd name="connsiteY6" fmla="*/ 124487 h 6864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8864" h="6864726">
                <a:moveTo>
                  <a:pt x="2829115" y="0"/>
                </a:moveTo>
                <a:lnTo>
                  <a:pt x="5238864" y="0"/>
                </a:lnTo>
                <a:lnTo>
                  <a:pt x="5238864" y="6864726"/>
                </a:lnTo>
                <a:lnTo>
                  <a:pt x="1518091" y="6864726"/>
                </a:lnTo>
                <a:lnTo>
                  <a:pt x="1435414" y="6778879"/>
                </a:lnTo>
                <a:cubicBezTo>
                  <a:pt x="226066" y="5476104"/>
                  <a:pt x="-499346" y="3635393"/>
                  <a:pt x="406006" y="2093910"/>
                </a:cubicBezTo>
                <a:cubicBezTo>
                  <a:pt x="907547" y="1241972"/>
                  <a:pt x="1674986" y="564513"/>
                  <a:pt x="2559142" y="124487"/>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TextBox 7">
            <a:extLst>
              <a:ext uri="{FF2B5EF4-FFF2-40B4-BE49-F238E27FC236}">
                <a16:creationId xmlns:a16="http://schemas.microsoft.com/office/drawing/2014/main" id="{F83F4317-55F7-175F-6E2A-C00566C8E6C4}"/>
              </a:ext>
            </a:extLst>
          </p:cNvPr>
          <p:cNvSpPr txBox="1"/>
          <p:nvPr/>
        </p:nvSpPr>
        <p:spPr>
          <a:xfrm>
            <a:off x="7874928" y="1124998"/>
            <a:ext cx="3456122" cy="4589717"/>
          </a:xfrm>
          <a:prstGeom prst="rect">
            <a:avLst/>
          </a:prstGeom>
        </p:spPr>
        <p:txBody>
          <a:bodyPr vert="horz" lIns="228600" tIns="228600" rIns="228600" bIns="228600" rtlCol="0" anchor="ctr">
            <a:normAutofit/>
          </a:bodyPr>
          <a:lstStyle/>
          <a:p>
            <a:pPr defTabSz="914400">
              <a:lnSpc>
                <a:spcPct val="85000"/>
              </a:lnSpc>
              <a:spcBef>
                <a:spcPct val="0"/>
              </a:spcBef>
              <a:spcAft>
                <a:spcPts val="600"/>
              </a:spcAft>
            </a:pPr>
            <a:r>
              <a:rPr lang="en-US" sz="4400" spc="-150">
                <a:solidFill>
                  <a:srgbClr val="FFFEFF"/>
                </a:solidFill>
                <a:ea typeface="+mj-ea"/>
                <a:cs typeface="+mj-cs"/>
              </a:rPr>
              <a:t>Predictive Model: Approach 1</a:t>
            </a:r>
          </a:p>
        </p:txBody>
      </p:sp>
      <p:sp>
        <p:nvSpPr>
          <p:cNvPr id="10" name="TextBox 9">
            <a:extLst>
              <a:ext uri="{FF2B5EF4-FFF2-40B4-BE49-F238E27FC236}">
                <a16:creationId xmlns:a16="http://schemas.microsoft.com/office/drawing/2014/main" id="{F6E41535-B3B2-D94E-0ED7-CE00C968D460}"/>
              </a:ext>
            </a:extLst>
          </p:cNvPr>
          <p:cNvSpPr txBox="1"/>
          <p:nvPr/>
        </p:nvSpPr>
        <p:spPr>
          <a:xfrm>
            <a:off x="847262" y="1124998"/>
            <a:ext cx="5397192" cy="5174673"/>
          </a:xfrm>
          <a:prstGeom prst="rect">
            <a:avLst/>
          </a:prstGeom>
        </p:spPr>
        <p:txBody>
          <a:bodyPr vert="horz" lIns="91440" tIns="45720" rIns="91440" bIns="45720" rtlCol="0" anchor="ctr">
            <a:noAutofit/>
          </a:bodyPr>
          <a:lstStyle/>
          <a:p>
            <a:pPr marL="285750" indent="-228600" defTabSz="914400">
              <a:lnSpc>
                <a:spcPct val="120000"/>
              </a:lnSpc>
              <a:spcAft>
                <a:spcPts val="600"/>
              </a:spcAft>
              <a:buClr>
                <a:schemeClr val="accent1"/>
              </a:buClr>
              <a:buSzPct val="110000"/>
              <a:buFont typeface="Wingdings" panose="05000000000000000000" pitchFamily="2" charset="2"/>
              <a:buChar char="§"/>
            </a:pPr>
            <a:r>
              <a:rPr lang="en-US" sz="1600"/>
              <a:t>Model – Random Forest Full Classification </a:t>
            </a:r>
          </a:p>
          <a:p>
            <a:pPr marL="285750" indent="-228600" defTabSz="914400">
              <a:lnSpc>
                <a:spcPct val="120000"/>
              </a:lnSpc>
              <a:spcAft>
                <a:spcPts val="600"/>
              </a:spcAft>
              <a:buClr>
                <a:schemeClr val="accent1"/>
              </a:buClr>
              <a:buSzPct val="110000"/>
              <a:buFont typeface="Wingdings" panose="05000000000000000000" pitchFamily="2" charset="2"/>
              <a:buChar char="§"/>
            </a:pPr>
            <a:r>
              <a:rPr lang="en-US" sz="1600"/>
              <a:t>Approach </a:t>
            </a:r>
          </a:p>
          <a:p>
            <a:pPr marL="742950" lvl="1" indent="-228600" defTabSz="914400">
              <a:lnSpc>
                <a:spcPct val="120000"/>
              </a:lnSpc>
              <a:spcAft>
                <a:spcPts val="600"/>
              </a:spcAft>
              <a:buClr>
                <a:schemeClr val="accent1"/>
              </a:buClr>
              <a:buSzPct val="110000"/>
              <a:buFont typeface="Wingdings" panose="05000000000000000000" pitchFamily="2" charset="2"/>
              <a:buChar char="§"/>
            </a:pPr>
            <a:r>
              <a:rPr lang="en-US" sz="1600"/>
              <a:t>Removed </a:t>
            </a:r>
            <a:r>
              <a:rPr lang="en-US" sz="1600" err="1"/>
              <a:t>ExternalId</a:t>
            </a:r>
            <a:r>
              <a:rPr lang="en-US" sz="1600"/>
              <a:t> and converted variables to factors</a:t>
            </a:r>
          </a:p>
          <a:p>
            <a:pPr marL="742950" lvl="1" indent="-228600" defTabSz="914400">
              <a:lnSpc>
                <a:spcPct val="120000"/>
              </a:lnSpc>
              <a:spcAft>
                <a:spcPts val="600"/>
              </a:spcAft>
              <a:buClr>
                <a:schemeClr val="accent1"/>
              </a:buClr>
              <a:buSzPct val="110000"/>
              <a:buFont typeface="Wingdings" panose="05000000000000000000" pitchFamily="2" charset="2"/>
              <a:buChar char="§"/>
            </a:pPr>
            <a:r>
              <a:rPr lang="en-US" sz="1600"/>
              <a:t>Split dataset into 70% training / 30% testing</a:t>
            </a:r>
          </a:p>
          <a:p>
            <a:pPr marL="742950" lvl="1" indent="-228600" defTabSz="914400">
              <a:lnSpc>
                <a:spcPct val="120000"/>
              </a:lnSpc>
              <a:spcAft>
                <a:spcPts val="600"/>
              </a:spcAft>
              <a:buClr>
                <a:schemeClr val="accent1"/>
              </a:buClr>
              <a:buSzPct val="110000"/>
              <a:buFont typeface="Wingdings" panose="05000000000000000000" pitchFamily="2" charset="2"/>
              <a:buChar char="§"/>
            </a:pPr>
            <a:r>
              <a:rPr lang="en-US" sz="1600"/>
              <a:t>Trained a multi-class random forest classifier with:</a:t>
            </a:r>
          </a:p>
          <a:p>
            <a:pPr marL="1200150" lvl="2" indent="-228600" defTabSz="914400">
              <a:lnSpc>
                <a:spcPct val="120000"/>
              </a:lnSpc>
              <a:spcAft>
                <a:spcPts val="600"/>
              </a:spcAft>
              <a:buClr>
                <a:schemeClr val="accent1"/>
              </a:buClr>
              <a:buSzPct val="110000"/>
              <a:buFont typeface="Wingdings" panose="05000000000000000000" pitchFamily="2" charset="2"/>
              <a:buChar char="§"/>
            </a:pPr>
            <a:r>
              <a:rPr lang="en-US" sz="1600"/>
              <a:t>600 trees</a:t>
            </a:r>
          </a:p>
          <a:p>
            <a:pPr marL="1200150" lvl="2" indent="-228600" defTabSz="914400">
              <a:lnSpc>
                <a:spcPct val="120000"/>
              </a:lnSpc>
              <a:spcAft>
                <a:spcPts val="600"/>
              </a:spcAft>
              <a:buClr>
                <a:schemeClr val="accent1"/>
              </a:buClr>
              <a:buSzPct val="110000"/>
              <a:buFont typeface="Wingdings" panose="05000000000000000000" pitchFamily="2" charset="2"/>
              <a:buChar char="§"/>
            </a:pPr>
            <a:r>
              <a:rPr lang="en-US" sz="1600"/>
              <a:t>2 randomly selected features</a:t>
            </a:r>
          </a:p>
          <a:p>
            <a:pPr marL="1200150" lvl="2" indent="-228600" defTabSz="914400">
              <a:lnSpc>
                <a:spcPct val="120000"/>
              </a:lnSpc>
              <a:spcAft>
                <a:spcPts val="600"/>
              </a:spcAft>
              <a:buClr>
                <a:schemeClr val="accent1"/>
              </a:buClr>
              <a:buSzPct val="110000"/>
              <a:buFont typeface="Wingdings" panose="05000000000000000000" pitchFamily="2" charset="2"/>
              <a:buChar char="§"/>
            </a:pPr>
            <a:r>
              <a:rPr lang="en-US" sz="1600"/>
              <a:t>Gini</a:t>
            </a:r>
          </a:p>
          <a:p>
            <a:pPr marL="742950" lvl="1" indent="-228600" defTabSz="914400">
              <a:lnSpc>
                <a:spcPct val="120000"/>
              </a:lnSpc>
              <a:spcAft>
                <a:spcPts val="600"/>
              </a:spcAft>
              <a:buClr>
                <a:schemeClr val="accent1"/>
              </a:buClr>
              <a:buSzPct val="110000"/>
              <a:buFont typeface="Wingdings" panose="05000000000000000000" pitchFamily="2" charset="2"/>
              <a:buChar char="§"/>
            </a:pPr>
            <a:r>
              <a:rPr lang="en-US" sz="1600"/>
              <a:t>Used OOB error and a detailed confusion matrix for evaluation		</a:t>
            </a:r>
          </a:p>
          <a:p>
            <a:pPr indent="-228600" defTabSz="914400">
              <a:lnSpc>
                <a:spcPct val="120000"/>
              </a:lnSpc>
              <a:spcAft>
                <a:spcPts val="600"/>
              </a:spcAft>
              <a:buClr>
                <a:schemeClr val="accent1"/>
              </a:buClr>
              <a:buSzPct val="110000"/>
              <a:buFont typeface="Wingdings" panose="05000000000000000000" pitchFamily="2" charset="2"/>
              <a:buChar char="§"/>
            </a:pPr>
            <a:endParaRPr lang="en-US" sz="1600"/>
          </a:p>
        </p:txBody>
      </p:sp>
      <p:pic>
        <p:nvPicPr>
          <p:cNvPr id="7" name="Content Placeholder 6" descr="A red text on a black background&#10;&#10;AI-generated content may be incorrect.">
            <a:extLst>
              <a:ext uri="{FF2B5EF4-FFF2-40B4-BE49-F238E27FC236}">
                <a16:creationId xmlns:a16="http://schemas.microsoft.com/office/drawing/2014/main" id="{6E92AA07-C43F-03D6-C4EF-5467CF3BA1EC}"/>
              </a:ext>
            </a:extLst>
          </p:cNvPr>
          <p:cNvPicPr>
            <a:picLocks noChangeAspect="1"/>
          </p:cNvPicPr>
          <p:nvPr/>
        </p:nvPicPr>
        <p:blipFill>
          <a:blip r:embed="rId3"/>
          <a:stretch>
            <a:fillRect/>
          </a:stretch>
        </p:blipFill>
        <p:spPr>
          <a:xfrm>
            <a:off x="10221914" y="5609506"/>
            <a:ext cx="1708149" cy="1138767"/>
          </a:xfrm>
          <a:prstGeom prst="rect">
            <a:avLst/>
          </a:prstGeom>
        </p:spPr>
      </p:pic>
      <p:pic>
        <p:nvPicPr>
          <p:cNvPr id="3" name="Picture 4">
            <a:extLst>
              <a:ext uri="{FF2B5EF4-FFF2-40B4-BE49-F238E27FC236}">
                <a16:creationId xmlns:a16="http://schemas.microsoft.com/office/drawing/2014/main" id="{D885FF1E-2453-D5B0-9D14-C19ED8AE72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26408" y="-663307"/>
            <a:ext cx="2326245" cy="2127358"/>
          </a:xfrm>
          <a:prstGeom prst="rect">
            <a:avLst/>
          </a:prstGeom>
          <a:noFill/>
          <a:extLst>
            <a:ext uri="{909E8E84-426E-40DD-AFC4-6F175D3DCCD1}">
              <a14:hiddenFill xmlns:a14="http://schemas.microsoft.com/office/drawing/2010/main">
                <a:solidFill>
                  <a:srgbClr val="FFFFFF"/>
                </a:solidFill>
              </a14:hiddenFill>
            </a:ext>
          </a:extLst>
        </p:spPr>
      </p:pic>
      <p:pic>
        <p:nvPicPr>
          <p:cNvPr id="4" name="Content Placeholder 6" descr="A red text on a black background&#10;&#10;AI-generated content may be incorrect.">
            <a:extLst>
              <a:ext uri="{FF2B5EF4-FFF2-40B4-BE49-F238E27FC236}">
                <a16:creationId xmlns:a16="http://schemas.microsoft.com/office/drawing/2014/main" id="{855A7408-26E4-E5F9-3E53-95DD6DC07F46}"/>
              </a:ext>
            </a:extLst>
          </p:cNvPr>
          <p:cNvPicPr>
            <a:picLocks noChangeAspect="1"/>
          </p:cNvPicPr>
          <p:nvPr/>
        </p:nvPicPr>
        <p:blipFill>
          <a:blip r:embed="rId3"/>
          <a:stretch>
            <a:fillRect/>
          </a:stretch>
        </p:blipFill>
        <p:spPr>
          <a:xfrm>
            <a:off x="102098" y="-169011"/>
            <a:ext cx="1708149" cy="1138767"/>
          </a:xfrm>
          <a:prstGeom prst="rect">
            <a:avLst/>
          </a:prstGeom>
        </p:spPr>
      </p:pic>
    </p:spTree>
    <p:extLst>
      <p:ext uri="{BB962C8B-B14F-4D97-AF65-F5344CB8AC3E}">
        <p14:creationId xmlns:p14="http://schemas.microsoft.com/office/powerpoint/2010/main" val="16003729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C6F90CB-A37B-C64B-9B90-DF121BBC55D7}"/>
            </a:ext>
          </a:extLst>
        </p:cNvPr>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0F40187D-704C-AB7E-35E1-4ABB7AED6D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2" name="Group 41">
            <a:extLst>
              <a:ext uri="{FF2B5EF4-FFF2-40B4-BE49-F238E27FC236}">
                <a16:creationId xmlns:a16="http://schemas.microsoft.com/office/drawing/2014/main" id="{2F94EDD5-C1BE-DCFC-39CE-0E6F185043F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43" name="Freeform 5">
              <a:extLst>
                <a:ext uri="{FF2B5EF4-FFF2-40B4-BE49-F238E27FC236}">
                  <a16:creationId xmlns:a16="http://schemas.microsoft.com/office/drawing/2014/main" id="{70CFE27D-55D6-F2F5-B55F-C8651652AE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accent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4" name="Freeform 6">
              <a:extLst>
                <a:ext uri="{FF2B5EF4-FFF2-40B4-BE49-F238E27FC236}">
                  <a16:creationId xmlns:a16="http://schemas.microsoft.com/office/drawing/2014/main" id="{85421C7B-0AB7-286A-4C49-F04F96C1E5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accent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 name="Freeform 7">
              <a:extLst>
                <a:ext uri="{FF2B5EF4-FFF2-40B4-BE49-F238E27FC236}">
                  <a16:creationId xmlns:a16="http://schemas.microsoft.com/office/drawing/2014/main" id="{2DF66774-659F-838B-EE45-2C59AE2077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accent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 name="Freeform 8">
              <a:extLst>
                <a:ext uri="{FF2B5EF4-FFF2-40B4-BE49-F238E27FC236}">
                  <a16:creationId xmlns:a16="http://schemas.microsoft.com/office/drawing/2014/main" id="{46A63975-B8F4-9F9A-7954-8EFE1E6826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accent1">
                  <a:alpha val="18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 name="Freeform 9">
              <a:extLst>
                <a:ext uri="{FF2B5EF4-FFF2-40B4-BE49-F238E27FC236}">
                  <a16:creationId xmlns:a16="http://schemas.microsoft.com/office/drawing/2014/main" id="{844DACCC-1484-FBE1-0881-B61949E0CF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accent1">
                  <a:alpha val="18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 name="Freeform 10">
              <a:extLst>
                <a:ext uri="{FF2B5EF4-FFF2-40B4-BE49-F238E27FC236}">
                  <a16:creationId xmlns:a16="http://schemas.microsoft.com/office/drawing/2014/main" id="{8F660FF0-087E-6963-99AF-3489D207F3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accent1">
                  <a:alpha val="18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 name="Freeform 11">
              <a:extLst>
                <a:ext uri="{FF2B5EF4-FFF2-40B4-BE49-F238E27FC236}">
                  <a16:creationId xmlns:a16="http://schemas.microsoft.com/office/drawing/2014/main" id="{141FC761-EECB-3637-4DB7-F2C3F45CAC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accent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 name="Freeform 12">
              <a:extLst>
                <a:ext uri="{FF2B5EF4-FFF2-40B4-BE49-F238E27FC236}">
                  <a16:creationId xmlns:a16="http://schemas.microsoft.com/office/drawing/2014/main" id="{E4DB10DB-1014-B26A-A9CF-15867264E1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accent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1" name="Freeform 13">
              <a:extLst>
                <a:ext uri="{FF2B5EF4-FFF2-40B4-BE49-F238E27FC236}">
                  <a16:creationId xmlns:a16="http://schemas.microsoft.com/office/drawing/2014/main" id="{F3A4CAAA-CD76-5861-1FA3-B5C9DECC90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accent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 name="Freeform 14">
              <a:extLst>
                <a:ext uri="{FF2B5EF4-FFF2-40B4-BE49-F238E27FC236}">
                  <a16:creationId xmlns:a16="http://schemas.microsoft.com/office/drawing/2014/main" id="{EE33BBF8-E5D2-F38D-9DF9-230C9A4F69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accent1">
                  <a:alpha val="13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 name="Freeform 15">
              <a:extLst>
                <a:ext uri="{FF2B5EF4-FFF2-40B4-BE49-F238E27FC236}">
                  <a16:creationId xmlns:a16="http://schemas.microsoft.com/office/drawing/2014/main" id="{7C366D31-D95B-6A8C-8346-18BD64AD0F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accent1">
                  <a:alpha val="12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 name="Freeform 16">
              <a:extLst>
                <a:ext uri="{FF2B5EF4-FFF2-40B4-BE49-F238E27FC236}">
                  <a16:creationId xmlns:a16="http://schemas.microsoft.com/office/drawing/2014/main" id="{1DCDF62F-E8F4-5250-035E-253B8DEC44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accent1">
                  <a:alpha val="13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 name="Freeform 17">
              <a:extLst>
                <a:ext uri="{FF2B5EF4-FFF2-40B4-BE49-F238E27FC236}">
                  <a16:creationId xmlns:a16="http://schemas.microsoft.com/office/drawing/2014/main" id="{7F0948AF-D7D1-5D34-09B6-A90EF5BBFE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accent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 name="Freeform 18">
              <a:extLst>
                <a:ext uri="{FF2B5EF4-FFF2-40B4-BE49-F238E27FC236}">
                  <a16:creationId xmlns:a16="http://schemas.microsoft.com/office/drawing/2014/main" id="{4F9D6736-4857-483F-7D9E-9218B27296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accent1">
                  <a:alpha val="12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 name="Freeform 19">
              <a:extLst>
                <a:ext uri="{FF2B5EF4-FFF2-40B4-BE49-F238E27FC236}">
                  <a16:creationId xmlns:a16="http://schemas.microsoft.com/office/drawing/2014/main" id="{58FABA80-550A-F0EF-8B9E-1B50F0AB62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accent1">
                  <a:alpha val="8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 name="Freeform 20">
              <a:extLst>
                <a:ext uri="{FF2B5EF4-FFF2-40B4-BE49-F238E27FC236}">
                  <a16:creationId xmlns:a16="http://schemas.microsoft.com/office/drawing/2014/main" id="{C94DB4E7-56EB-F01D-E689-ECE82990AA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accent1">
                  <a:alpha val="12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 name="Freeform 21">
              <a:extLst>
                <a:ext uri="{FF2B5EF4-FFF2-40B4-BE49-F238E27FC236}">
                  <a16:creationId xmlns:a16="http://schemas.microsoft.com/office/drawing/2014/main" id="{909E1B41-4BD1-4B1C-628D-8F1B90D7C6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accent1">
                  <a:alpha val="12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 name="Freeform 22">
              <a:extLst>
                <a:ext uri="{FF2B5EF4-FFF2-40B4-BE49-F238E27FC236}">
                  <a16:creationId xmlns:a16="http://schemas.microsoft.com/office/drawing/2014/main" id="{EC8A390A-18FE-A05F-7C8A-FC564BA4C5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accent1">
                  <a:alpha val="11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1" name="Freeform 23">
              <a:extLst>
                <a:ext uri="{FF2B5EF4-FFF2-40B4-BE49-F238E27FC236}">
                  <a16:creationId xmlns:a16="http://schemas.microsoft.com/office/drawing/2014/main" id="{86570661-DABF-3940-AC10-4F71678CA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accent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2" name="Freeform 24">
              <a:extLst>
                <a:ext uri="{FF2B5EF4-FFF2-40B4-BE49-F238E27FC236}">
                  <a16:creationId xmlns:a16="http://schemas.microsoft.com/office/drawing/2014/main" id="{245FDA88-82BE-BB75-580A-2B5BD3D0A7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accent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3" name="Freeform 25">
              <a:extLst>
                <a:ext uri="{FF2B5EF4-FFF2-40B4-BE49-F238E27FC236}">
                  <a16:creationId xmlns:a16="http://schemas.microsoft.com/office/drawing/2014/main" id="{A6463DEF-8555-B72D-B30D-410A369C47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accent1">
                  <a:alpha val="8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 name="Title 1">
            <a:extLst>
              <a:ext uri="{FF2B5EF4-FFF2-40B4-BE49-F238E27FC236}">
                <a16:creationId xmlns:a16="http://schemas.microsoft.com/office/drawing/2014/main" id="{B812F947-3DA0-5937-061C-F915BA6F7D4E}"/>
              </a:ext>
            </a:extLst>
          </p:cNvPr>
          <p:cNvSpPr>
            <a:spLocks noGrp="1"/>
          </p:cNvSpPr>
          <p:nvPr>
            <p:ph type="title"/>
          </p:nvPr>
        </p:nvSpPr>
        <p:spPr>
          <a:xfrm>
            <a:off x="2757223" y="376238"/>
            <a:ext cx="6677553" cy="1353310"/>
          </a:xfrm>
        </p:spPr>
        <p:txBody>
          <a:bodyPr anchor="b">
            <a:normAutofit/>
          </a:bodyPr>
          <a:lstStyle/>
          <a:p>
            <a:r>
              <a:rPr lang="en-US" sz="4400">
                <a:solidFill>
                  <a:schemeClr val="tx1"/>
                </a:solidFill>
                <a:latin typeface="+mn-lt"/>
              </a:rPr>
              <a:t>Results</a:t>
            </a:r>
          </a:p>
        </p:txBody>
      </p:sp>
      <p:graphicFrame>
        <p:nvGraphicFramePr>
          <p:cNvPr id="3" name="Content Placeholder 3">
            <a:extLst>
              <a:ext uri="{FF2B5EF4-FFF2-40B4-BE49-F238E27FC236}">
                <a16:creationId xmlns:a16="http://schemas.microsoft.com/office/drawing/2014/main" id="{3945CEBB-3748-B202-19CA-4BCEA73FCDE4}"/>
              </a:ext>
            </a:extLst>
          </p:cNvPr>
          <p:cNvGraphicFramePr>
            <a:graphicFrameLocks noGrp="1"/>
          </p:cNvGraphicFramePr>
          <p:nvPr>
            <p:ph idx="1"/>
            <p:extLst>
              <p:ext uri="{D42A27DB-BD31-4B8C-83A1-F6EECF244321}">
                <p14:modId xmlns:p14="http://schemas.microsoft.com/office/powerpoint/2010/main" val="1253813373"/>
              </p:ext>
            </p:extLst>
          </p:nvPr>
        </p:nvGraphicFramePr>
        <p:xfrm>
          <a:off x="2469150" y="1742758"/>
          <a:ext cx="7253697" cy="2931160"/>
        </p:xfrm>
        <a:graphic>
          <a:graphicData uri="http://schemas.openxmlformats.org/drawingml/2006/table">
            <a:tbl>
              <a:tblPr firstRow="1" bandRow="1">
                <a:tableStyleId>{5C22544A-7EE6-4342-B048-85BDC9FD1C3A}</a:tableStyleId>
              </a:tblPr>
              <a:tblGrid>
                <a:gridCol w="2417899">
                  <a:extLst>
                    <a:ext uri="{9D8B030D-6E8A-4147-A177-3AD203B41FA5}">
                      <a16:colId xmlns:a16="http://schemas.microsoft.com/office/drawing/2014/main" val="3375942957"/>
                    </a:ext>
                  </a:extLst>
                </a:gridCol>
                <a:gridCol w="2417899">
                  <a:extLst>
                    <a:ext uri="{9D8B030D-6E8A-4147-A177-3AD203B41FA5}">
                      <a16:colId xmlns:a16="http://schemas.microsoft.com/office/drawing/2014/main" val="3804319674"/>
                    </a:ext>
                  </a:extLst>
                </a:gridCol>
                <a:gridCol w="2417899">
                  <a:extLst>
                    <a:ext uri="{9D8B030D-6E8A-4147-A177-3AD203B41FA5}">
                      <a16:colId xmlns:a16="http://schemas.microsoft.com/office/drawing/2014/main" val="4067607880"/>
                    </a:ext>
                  </a:extLst>
                </a:gridCol>
              </a:tblGrid>
              <a:tr h="370840">
                <a:tc>
                  <a:txBody>
                    <a:bodyPr/>
                    <a:lstStyle/>
                    <a:p>
                      <a:pPr algn="ctr"/>
                      <a:r>
                        <a:rPr lang="en-US"/>
                        <a:t>Metric</a:t>
                      </a:r>
                    </a:p>
                  </a:txBody>
                  <a:tcPr/>
                </a:tc>
                <a:tc>
                  <a:txBody>
                    <a:bodyPr/>
                    <a:lstStyle/>
                    <a:p>
                      <a:pPr algn="ctr"/>
                      <a:r>
                        <a:rPr lang="en-US"/>
                        <a:t>Value</a:t>
                      </a:r>
                    </a:p>
                  </a:txBody>
                  <a:tcPr/>
                </a:tc>
                <a:tc>
                  <a:txBody>
                    <a:bodyPr/>
                    <a:lstStyle/>
                    <a:p>
                      <a:pPr algn="ctr"/>
                      <a:r>
                        <a:rPr lang="en-US"/>
                        <a:t>Description </a:t>
                      </a:r>
                    </a:p>
                  </a:txBody>
                  <a:tcPr/>
                </a:tc>
                <a:extLst>
                  <a:ext uri="{0D108BD9-81ED-4DB2-BD59-A6C34878D82A}">
                    <a16:rowId xmlns:a16="http://schemas.microsoft.com/office/drawing/2014/main" val="3915922691"/>
                  </a:ext>
                </a:extLst>
              </a:tr>
              <a:tr h="370840">
                <a:tc>
                  <a:txBody>
                    <a:bodyPr/>
                    <a:lstStyle/>
                    <a:p>
                      <a:r>
                        <a:rPr lang="en-US"/>
                        <a:t>Accuracy </a:t>
                      </a:r>
                    </a:p>
                  </a:txBody>
                  <a:tcPr/>
                </a:tc>
                <a:tc>
                  <a:txBody>
                    <a:bodyPr/>
                    <a:lstStyle/>
                    <a:p>
                      <a:pPr algn="ctr"/>
                      <a:r>
                        <a:rPr lang="en-US"/>
                        <a:t>~ 87%</a:t>
                      </a:r>
                    </a:p>
                  </a:txBody>
                  <a:tcPr/>
                </a:tc>
                <a:tc>
                  <a:txBody>
                    <a:bodyPr/>
                    <a:lstStyle/>
                    <a:p>
                      <a:r>
                        <a:rPr lang="en-US"/>
                        <a:t>Overall Model Performance </a:t>
                      </a:r>
                    </a:p>
                  </a:txBody>
                  <a:tcPr/>
                </a:tc>
                <a:extLst>
                  <a:ext uri="{0D108BD9-81ED-4DB2-BD59-A6C34878D82A}">
                    <a16:rowId xmlns:a16="http://schemas.microsoft.com/office/drawing/2014/main" val="2890651730"/>
                  </a:ext>
                </a:extLst>
              </a:tr>
              <a:tr h="370840">
                <a:tc>
                  <a:txBody>
                    <a:bodyPr/>
                    <a:lstStyle/>
                    <a:p>
                      <a:r>
                        <a:rPr lang="en-US"/>
                        <a:t>Precision (avg.)</a:t>
                      </a:r>
                    </a:p>
                  </a:txBody>
                  <a:tcPr/>
                </a:tc>
                <a:tc>
                  <a:txBody>
                    <a:bodyPr/>
                    <a:lstStyle/>
                    <a:p>
                      <a:pPr algn="ctr"/>
                      <a:r>
                        <a:rPr lang="en-US"/>
                        <a:t>~ 79%</a:t>
                      </a:r>
                    </a:p>
                  </a:txBody>
                  <a:tcPr/>
                </a:tc>
                <a:tc>
                  <a:txBody>
                    <a:bodyPr/>
                    <a:lstStyle/>
                    <a:p>
                      <a:r>
                        <a:rPr lang="en-US"/>
                        <a:t>Correctly predicted holdings</a:t>
                      </a:r>
                    </a:p>
                  </a:txBody>
                  <a:tcPr/>
                </a:tc>
                <a:extLst>
                  <a:ext uri="{0D108BD9-81ED-4DB2-BD59-A6C34878D82A}">
                    <a16:rowId xmlns:a16="http://schemas.microsoft.com/office/drawing/2014/main" val="557357051"/>
                  </a:ext>
                </a:extLst>
              </a:tr>
              <a:tr h="370840">
                <a:tc>
                  <a:txBody>
                    <a:bodyPr/>
                    <a:lstStyle/>
                    <a:p>
                      <a:r>
                        <a:rPr lang="en-US"/>
                        <a:t>Recall (avg.)</a:t>
                      </a:r>
                    </a:p>
                  </a:txBody>
                  <a:tcPr/>
                </a:tc>
                <a:tc>
                  <a:txBody>
                    <a:bodyPr/>
                    <a:lstStyle/>
                    <a:p>
                      <a:pPr algn="ctr"/>
                      <a:r>
                        <a:rPr lang="en-US"/>
                        <a:t>~ 69%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Ability to capture true classes </a:t>
                      </a:r>
                    </a:p>
                  </a:txBody>
                  <a:tcPr/>
                </a:tc>
                <a:extLst>
                  <a:ext uri="{0D108BD9-81ED-4DB2-BD59-A6C34878D82A}">
                    <a16:rowId xmlns:a16="http://schemas.microsoft.com/office/drawing/2014/main" val="3228377533"/>
                  </a:ext>
                </a:extLst>
              </a:tr>
              <a:tr h="370840">
                <a:tc>
                  <a:txBody>
                    <a:bodyPr/>
                    <a:lstStyle/>
                    <a:p>
                      <a:r>
                        <a:rPr lang="en-US"/>
                        <a:t>F1 Score (avg.)</a:t>
                      </a:r>
                    </a:p>
                  </a:txBody>
                  <a:tcPr/>
                </a:tc>
                <a:tc>
                  <a:txBody>
                    <a:bodyPr/>
                    <a:lstStyle/>
                    <a:p>
                      <a:pPr algn="ctr"/>
                      <a:r>
                        <a:rPr lang="en-US"/>
                        <a:t>~ 71%</a:t>
                      </a:r>
                    </a:p>
                  </a:txBody>
                  <a:tcPr/>
                </a:tc>
                <a:tc>
                  <a:txBody>
                    <a:bodyPr/>
                    <a:lstStyle/>
                    <a:p>
                      <a:r>
                        <a:rPr lang="en-US"/>
                        <a:t>Overall Model Effectiveness</a:t>
                      </a:r>
                    </a:p>
                  </a:txBody>
                  <a:tcPr/>
                </a:tc>
                <a:extLst>
                  <a:ext uri="{0D108BD9-81ED-4DB2-BD59-A6C34878D82A}">
                    <a16:rowId xmlns:a16="http://schemas.microsoft.com/office/drawing/2014/main" val="3217840682"/>
                  </a:ext>
                </a:extLst>
              </a:tr>
            </a:tbl>
          </a:graphicData>
        </a:graphic>
      </p:graphicFrame>
      <p:sp>
        <p:nvSpPr>
          <p:cNvPr id="4" name="TextBox 3">
            <a:extLst>
              <a:ext uri="{FF2B5EF4-FFF2-40B4-BE49-F238E27FC236}">
                <a16:creationId xmlns:a16="http://schemas.microsoft.com/office/drawing/2014/main" id="{66A4E165-34B9-381C-7999-874F72CF40F9}"/>
              </a:ext>
            </a:extLst>
          </p:cNvPr>
          <p:cNvSpPr txBox="1"/>
          <p:nvPr/>
        </p:nvSpPr>
        <p:spPr>
          <a:xfrm>
            <a:off x="1871010" y="5039479"/>
            <a:ext cx="8449975" cy="830997"/>
          </a:xfrm>
          <a:prstGeom prst="rect">
            <a:avLst/>
          </a:prstGeom>
          <a:noFill/>
        </p:spPr>
        <p:txBody>
          <a:bodyPr wrap="square" rtlCol="0">
            <a:spAutoFit/>
          </a:bodyPr>
          <a:lstStyle/>
          <a:p>
            <a:pPr marL="285750" indent="-285750">
              <a:buClr>
                <a:srgbClr val="FF0000"/>
              </a:buClr>
              <a:buFont typeface="Wingdings" panose="05000000000000000000" pitchFamily="2" charset="2"/>
              <a:buChar char="§"/>
            </a:pPr>
            <a:r>
              <a:rPr lang="en-US" sz="1600"/>
              <a:t>The model performed very well on major classes (E, BG, ER) but struggled on smaller categories (BD, BY, Class 1).</a:t>
            </a:r>
          </a:p>
          <a:p>
            <a:pPr marL="285750" indent="-285750">
              <a:buClr>
                <a:srgbClr val="FF0000"/>
              </a:buClr>
              <a:buFont typeface="Wingdings" panose="05000000000000000000" pitchFamily="2" charset="2"/>
              <a:buChar char="§"/>
            </a:pPr>
            <a:r>
              <a:rPr lang="en-US" sz="1600"/>
              <a:t>The imbalance caused a drop in average recall and F1</a:t>
            </a:r>
          </a:p>
        </p:txBody>
      </p:sp>
      <p:pic>
        <p:nvPicPr>
          <p:cNvPr id="7" name="Content Placeholder 6" descr="A red text on a black background&#10;&#10;AI-generated content may be incorrect.">
            <a:extLst>
              <a:ext uri="{FF2B5EF4-FFF2-40B4-BE49-F238E27FC236}">
                <a16:creationId xmlns:a16="http://schemas.microsoft.com/office/drawing/2014/main" id="{07D605ED-5BEA-DCEB-C4AF-75964A0B6AFD}"/>
              </a:ext>
            </a:extLst>
          </p:cNvPr>
          <p:cNvPicPr>
            <a:picLocks noChangeAspect="1"/>
          </p:cNvPicPr>
          <p:nvPr/>
        </p:nvPicPr>
        <p:blipFill>
          <a:blip r:embed="rId3"/>
          <a:stretch>
            <a:fillRect/>
          </a:stretch>
        </p:blipFill>
        <p:spPr>
          <a:xfrm>
            <a:off x="102098" y="-169011"/>
            <a:ext cx="1708149" cy="1138767"/>
          </a:xfrm>
          <a:prstGeom prst="rect">
            <a:avLst/>
          </a:prstGeom>
        </p:spPr>
      </p:pic>
      <p:pic>
        <p:nvPicPr>
          <p:cNvPr id="8" name="Picture 4">
            <a:extLst>
              <a:ext uri="{FF2B5EF4-FFF2-40B4-BE49-F238E27FC236}">
                <a16:creationId xmlns:a16="http://schemas.microsoft.com/office/drawing/2014/main" id="{7EA6BEB6-7844-9928-AB81-5E31ECF6C6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26408" y="-663307"/>
            <a:ext cx="2326245" cy="21273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2770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3C5918A-1DC5-4CF3-AA27-00AA3088AA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B786683A-6FD6-4BF7-B3B0-DC39767739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274788" y="-15796"/>
            <a:ext cx="7911916" cy="6889592"/>
          </a:xfrm>
          <a:custGeom>
            <a:avLst/>
            <a:gdLst>
              <a:gd name="connsiteX0" fmla="*/ 1144064 w 7911916"/>
              <a:gd name="connsiteY0" fmla="*/ 0 h 6889592"/>
              <a:gd name="connsiteX1" fmla="*/ 7911916 w 7911916"/>
              <a:gd name="connsiteY1" fmla="*/ 0 h 6889592"/>
              <a:gd name="connsiteX2" fmla="*/ 7911916 w 7911916"/>
              <a:gd name="connsiteY2" fmla="*/ 6889592 h 6889592"/>
              <a:gd name="connsiteX3" fmla="*/ 1282780 w 7911916"/>
              <a:gd name="connsiteY3" fmla="*/ 6889592 h 6889592"/>
              <a:gd name="connsiteX4" fmla="*/ 1021588 w 7911916"/>
              <a:gd name="connsiteY4" fmla="*/ 6461391 h 6889592"/>
              <a:gd name="connsiteX5" fmla="*/ 841264 w 7911916"/>
              <a:gd name="connsiteY5" fmla="*/ 370936 h 6889592"/>
              <a:gd name="connsiteX6" fmla="*/ 1119707 w 7911916"/>
              <a:gd name="connsiteY6" fmla="*/ 26053 h 6889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11916" h="6889592">
                <a:moveTo>
                  <a:pt x="1144064" y="0"/>
                </a:moveTo>
                <a:lnTo>
                  <a:pt x="7911916" y="0"/>
                </a:lnTo>
                <a:lnTo>
                  <a:pt x="7911916" y="6889592"/>
                </a:lnTo>
                <a:lnTo>
                  <a:pt x="1282780" y="6889592"/>
                </a:lnTo>
                <a:lnTo>
                  <a:pt x="1021588" y="6461391"/>
                </a:lnTo>
                <a:cubicBezTo>
                  <a:pt x="-73086" y="4533675"/>
                  <a:pt x="-509682" y="2192905"/>
                  <a:pt x="841264" y="370936"/>
                </a:cubicBezTo>
                <a:cubicBezTo>
                  <a:pt x="928899" y="253509"/>
                  <a:pt x="1021859" y="138477"/>
                  <a:pt x="1119707" y="26053"/>
                </a:cubicBezTo>
                <a:close/>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 name="Freeform: Shape 11">
            <a:extLst>
              <a:ext uri="{FF2B5EF4-FFF2-40B4-BE49-F238E27FC236}">
                <a16:creationId xmlns:a16="http://schemas.microsoft.com/office/drawing/2014/main" id="{05169E50-59FB-4AEE-B61D-44A882A4C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249750" y="-6726"/>
            <a:ext cx="5931659" cy="6871452"/>
          </a:xfrm>
          <a:custGeom>
            <a:avLst/>
            <a:gdLst>
              <a:gd name="connsiteX0" fmla="*/ 2429503 w 5931659"/>
              <a:gd name="connsiteY0" fmla="*/ 0 h 6871452"/>
              <a:gd name="connsiteX1" fmla="*/ 5931659 w 5931659"/>
              <a:gd name="connsiteY1" fmla="*/ 0 h 6871452"/>
              <a:gd name="connsiteX2" fmla="*/ 5931659 w 5931659"/>
              <a:gd name="connsiteY2" fmla="*/ 6871452 h 6871452"/>
              <a:gd name="connsiteX3" fmla="*/ 1302090 w 5931659"/>
              <a:gd name="connsiteY3" fmla="*/ 6871452 h 6871452"/>
              <a:gd name="connsiteX4" fmla="*/ 1257860 w 5931659"/>
              <a:gd name="connsiteY4" fmla="*/ 6820098 h 6871452"/>
              <a:gd name="connsiteX5" fmla="*/ 456609 w 5931659"/>
              <a:gd name="connsiteY5" fmla="*/ 1965059 h 6871452"/>
              <a:gd name="connsiteX6" fmla="*/ 2356353 w 5931659"/>
              <a:gd name="connsiteY6" fmla="*/ 42030 h 6871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31659" h="6871452">
                <a:moveTo>
                  <a:pt x="2429503" y="0"/>
                </a:moveTo>
                <a:lnTo>
                  <a:pt x="5931659" y="0"/>
                </a:lnTo>
                <a:lnTo>
                  <a:pt x="5931659" y="6871452"/>
                </a:lnTo>
                <a:lnTo>
                  <a:pt x="1302090" y="6871452"/>
                </a:lnTo>
                <a:lnTo>
                  <a:pt x="1257860" y="6820098"/>
                </a:lnTo>
                <a:cubicBezTo>
                  <a:pt x="121068" y="5395213"/>
                  <a:pt x="-469022" y="3541076"/>
                  <a:pt x="456609" y="1965059"/>
                </a:cubicBezTo>
                <a:cubicBezTo>
                  <a:pt x="919425" y="1178905"/>
                  <a:pt x="1583566" y="524859"/>
                  <a:pt x="2356353" y="42030"/>
                </a:cubicBezTo>
                <a:close/>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 name="Freeform: Shape 13">
            <a:extLst>
              <a:ext uri="{FF2B5EF4-FFF2-40B4-BE49-F238E27FC236}">
                <a16:creationId xmlns:a16="http://schemas.microsoft.com/office/drawing/2014/main" id="{117C30F0-5A38-4B60-B632-3AF7C2780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433528" y="-3116"/>
            <a:ext cx="6766974" cy="6864232"/>
          </a:xfrm>
          <a:custGeom>
            <a:avLst/>
            <a:gdLst>
              <a:gd name="connsiteX0" fmla="*/ 2135088 w 6766974"/>
              <a:gd name="connsiteY0" fmla="*/ 0 h 6864232"/>
              <a:gd name="connsiteX1" fmla="*/ 6766974 w 6766974"/>
              <a:gd name="connsiteY1" fmla="*/ 0 h 6864232"/>
              <a:gd name="connsiteX2" fmla="*/ 6766974 w 6766974"/>
              <a:gd name="connsiteY2" fmla="*/ 6864232 h 6864232"/>
              <a:gd name="connsiteX3" fmla="*/ 1128977 w 6766974"/>
              <a:gd name="connsiteY3" fmla="*/ 6864232 h 6864232"/>
              <a:gd name="connsiteX4" fmla="*/ 1004776 w 6766974"/>
              <a:gd name="connsiteY4" fmla="*/ 6687663 h 6864232"/>
              <a:gd name="connsiteX5" fmla="*/ 709736 w 6766974"/>
              <a:gd name="connsiteY5" fmla="*/ 1521351 h 6864232"/>
              <a:gd name="connsiteX6" fmla="*/ 1896284 w 6766974"/>
              <a:gd name="connsiteY6" fmla="*/ 197391 h 6864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66974" h="6864232">
                <a:moveTo>
                  <a:pt x="2135088" y="0"/>
                </a:moveTo>
                <a:lnTo>
                  <a:pt x="6766974" y="0"/>
                </a:lnTo>
                <a:lnTo>
                  <a:pt x="6766974" y="6864232"/>
                </a:lnTo>
                <a:lnTo>
                  <a:pt x="1128977" y="6864232"/>
                </a:lnTo>
                <a:lnTo>
                  <a:pt x="1004776" y="6687663"/>
                </a:lnTo>
                <a:cubicBezTo>
                  <a:pt x="-54053" y="5122098"/>
                  <a:pt x="-463081" y="3202457"/>
                  <a:pt x="709736" y="1521351"/>
                </a:cubicBezTo>
                <a:cubicBezTo>
                  <a:pt x="1045443" y="1039181"/>
                  <a:pt x="1446565" y="592246"/>
                  <a:pt x="1896284" y="197391"/>
                </a:cubicBezTo>
                <a:close/>
              </a:path>
            </a:pathLst>
          </a:custGeom>
          <a:noFill/>
          <a:ln w="9525" cap="flat">
            <a:solidFill>
              <a:schemeClr val="tx1">
                <a:alpha val="1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 name="Freeform: Shape 15">
            <a:extLst>
              <a:ext uri="{FF2B5EF4-FFF2-40B4-BE49-F238E27FC236}">
                <a16:creationId xmlns:a16="http://schemas.microsoft.com/office/drawing/2014/main" id="{A200CBA5-3F2B-4AAC-9F86-99AFECC19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53136" y="0"/>
            <a:ext cx="5238864" cy="6858000"/>
          </a:xfrm>
          <a:custGeom>
            <a:avLst/>
            <a:gdLst>
              <a:gd name="connsiteX0" fmla="*/ 2829115 w 5238864"/>
              <a:gd name="connsiteY0" fmla="*/ 0 h 6864726"/>
              <a:gd name="connsiteX1" fmla="*/ 5238864 w 5238864"/>
              <a:gd name="connsiteY1" fmla="*/ 0 h 6864726"/>
              <a:gd name="connsiteX2" fmla="*/ 5238864 w 5238864"/>
              <a:gd name="connsiteY2" fmla="*/ 6864726 h 6864726"/>
              <a:gd name="connsiteX3" fmla="*/ 1518091 w 5238864"/>
              <a:gd name="connsiteY3" fmla="*/ 6864726 h 6864726"/>
              <a:gd name="connsiteX4" fmla="*/ 1435414 w 5238864"/>
              <a:gd name="connsiteY4" fmla="*/ 6778879 h 6864726"/>
              <a:gd name="connsiteX5" fmla="*/ 406006 w 5238864"/>
              <a:gd name="connsiteY5" fmla="*/ 2093910 h 6864726"/>
              <a:gd name="connsiteX6" fmla="*/ 2559142 w 5238864"/>
              <a:gd name="connsiteY6" fmla="*/ 124487 h 6864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8864" h="6864726">
                <a:moveTo>
                  <a:pt x="2829115" y="0"/>
                </a:moveTo>
                <a:lnTo>
                  <a:pt x="5238864" y="0"/>
                </a:lnTo>
                <a:lnTo>
                  <a:pt x="5238864" y="6864726"/>
                </a:lnTo>
                <a:lnTo>
                  <a:pt x="1518091" y="6864726"/>
                </a:lnTo>
                <a:lnTo>
                  <a:pt x="1435414" y="6778879"/>
                </a:lnTo>
                <a:cubicBezTo>
                  <a:pt x="226066" y="5476104"/>
                  <a:pt x="-499346" y="3635393"/>
                  <a:pt x="406006" y="2093910"/>
                </a:cubicBezTo>
                <a:cubicBezTo>
                  <a:pt x="907547" y="1241972"/>
                  <a:pt x="1674986" y="564513"/>
                  <a:pt x="2559142" y="124487"/>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2208E9A-DB26-1DC5-2251-A973F0FB19CE}"/>
              </a:ext>
            </a:extLst>
          </p:cNvPr>
          <p:cNvSpPr>
            <a:spLocks noGrp="1"/>
          </p:cNvSpPr>
          <p:nvPr>
            <p:ph type="title"/>
          </p:nvPr>
        </p:nvSpPr>
        <p:spPr>
          <a:xfrm>
            <a:off x="7874928" y="1124998"/>
            <a:ext cx="3456122" cy="4589717"/>
          </a:xfrm>
        </p:spPr>
        <p:txBody>
          <a:bodyPr>
            <a:normAutofit/>
          </a:bodyPr>
          <a:lstStyle/>
          <a:p>
            <a:pPr algn="l"/>
            <a:r>
              <a:rPr lang="en-US" sz="4400">
                <a:latin typeface="+mn-lt"/>
                <a:ea typeface="Calibri Light"/>
                <a:cs typeface="Calibri Light"/>
              </a:rPr>
              <a:t>Predictive Model Approach 2</a:t>
            </a:r>
            <a:endParaRPr lang="en-US" sz="4400">
              <a:latin typeface="+mn-lt"/>
            </a:endParaRPr>
          </a:p>
        </p:txBody>
      </p:sp>
      <p:sp>
        <p:nvSpPr>
          <p:cNvPr id="3" name="Content Placeholder 2">
            <a:extLst>
              <a:ext uri="{FF2B5EF4-FFF2-40B4-BE49-F238E27FC236}">
                <a16:creationId xmlns:a16="http://schemas.microsoft.com/office/drawing/2014/main" id="{D828EFCD-D3D2-B2EC-7A15-AF73270D88DF}"/>
              </a:ext>
            </a:extLst>
          </p:cNvPr>
          <p:cNvSpPr>
            <a:spLocks noGrp="1"/>
          </p:cNvSpPr>
          <p:nvPr>
            <p:ph idx="1"/>
          </p:nvPr>
        </p:nvSpPr>
        <p:spPr>
          <a:xfrm>
            <a:off x="798577" y="794042"/>
            <a:ext cx="5427137" cy="5248622"/>
          </a:xfrm>
        </p:spPr>
        <p:txBody>
          <a:bodyPr>
            <a:normAutofit/>
          </a:bodyPr>
          <a:lstStyle/>
          <a:p>
            <a:r>
              <a:rPr lang="en-US" sz="1600"/>
              <a:t>Model – Multi class </a:t>
            </a:r>
            <a:r>
              <a:rPr lang="en-US" sz="1600" err="1"/>
              <a:t>XGBoost</a:t>
            </a:r>
            <a:r>
              <a:rPr lang="en-US" sz="1600"/>
              <a:t> </a:t>
            </a:r>
          </a:p>
          <a:p>
            <a:r>
              <a:rPr lang="en-US" sz="1600"/>
              <a:t>Approach </a:t>
            </a:r>
          </a:p>
          <a:p>
            <a:pPr lvl="1"/>
            <a:r>
              <a:rPr lang="en-US"/>
              <a:t>Cleaned and normalized text </a:t>
            </a:r>
          </a:p>
          <a:p>
            <a:pPr lvl="1"/>
            <a:r>
              <a:rPr lang="en-US"/>
              <a:t>Applied TF-IDF vectorization to transform text into numeric features. </a:t>
            </a:r>
          </a:p>
          <a:p>
            <a:pPr lvl="1"/>
            <a:r>
              <a:rPr lang="en-US"/>
              <a:t>Split data using stratified sampling to preserve class balance (70/30)</a:t>
            </a:r>
          </a:p>
          <a:p>
            <a:pPr lvl="1"/>
            <a:r>
              <a:rPr lang="en-US"/>
              <a:t>Trained a multi class </a:t>
            </a:r>
            <a:r>
              <a:rPr lang="en-US" err="1"/>
              <a:t>XGBoost</a:t>
            </a:r>
            <a:r>
              <a:rPr lang="en-US"/>
              <a:t> model with the following parameters – eta = 0.2, </a:t>
            </a:r>
            <a:r>
              <a:rPr lang="en-US" err="1"/>
              <a:t>max_depth</a:t>
            </a:r>
            <a:r>
              <a:rPr lang="en-US"/>
              <a:t> = 8, </a:t>
            </a:r>
            <a:r>
              <a:rPr lang="en-US" err="1"/>
              <a:t>nrounds</a:t>
            </a:r>
            <a:r>
              <a:rPr lang="en-US"/>
              <a:t> = 1000</a:t>
            </a:r>
          </a:p>
        </p:txBody>
      </p:sp>
      <p:pic>
        <p:nvPicPr>
          <p:cNvPr id="5" name="Picture 4">
            <a:extLst>
              <a:ext uri="{FF2B5EF4-FFF2-40B4-BE49-F238E27FC236}">
                <a16:creationId xmlns:a16="http://schemas.microsoft.com/office/drawing/2014/main" id="{C85C7B29-D994-0249-6623-BD16E2DBFF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6408" y="-663307"/>
            <a:ext cx="2326245" cy="2127358"/>
          </a:xfrm>
          <a:prstGeom prst="rect">
            <a:avLst/>
          </a:prstGeom>
          <a:noFill/>
          <a:extLst>
            <a:ext uri="{909E8E84-426E-40DD-AFC4-6F175D3DCCD1}">
              <a14:hiddenFill xmlns:a14="http://schemas.microsoft.com/office/drawing/2010/main">
                <a:solidFill>
                  <a:srgbClr val="FFFFFF"/>
                </a:solidFill>
              </a14:hiddenFill>
            </a:ext>
          </a:extLst>
        </p:spPr>
      </p:pic>
      <p:pic>
        <p:nvPicPr>
          <p:cNvPr id="6" name="Content Placeholder 6" descr="A red text on a black background&#10;&#10;AI-generated content may be incorrect.">
            <a:extLst>
              <a:ext uri="{FF2B5EF4-FFF2-40B4-BE49-F238E27FC236}">
                <a16:creationId xmlns:a16="http://schemas.microsoft.com/office/drawing/2014/main" id="{6203B932-B747-AEDE-76F7-50468836EC3C}"/>
              </a:ext>
            </a:extLst>
          </p:cNvPr>
          <p:cNvPicPr>
            <a:picLocks noChangeAspect="1"/>
          </p:cNvPicPr>
          <p:nvPr/>
        </p:nvPicPr>
        <p:blipFill>
          <a:blip r:embed="rId3"/>
          <a:stretch>
            <a:fillRect/>
          </a:stretch>
        </p:blipFill>
        <p:spPr>
          <a:xfrm>
            <a:off x="102098" y="-169011"/>
            <a:ext cx="1708149" cy="1138767"/>
          </a:xfrm>
          <a:prstGeom prst="rect">
            <a:avLst/>
          </a:prstGeom>
        </p:spPr>
      </p:pic>
    </p:spTree>
    <p:extLst>
      <p:ext uri="{BB962C8B-B14F-4D97-AF65-F5344CB8AC3E}">
        <p14:creationId xmlns:p14="http://schemas.microsoft.com/office/powerpoint/2010/main" val="27671703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8E10A56-A4DC-99B1-E0F3-64099E3AB0E5}"/>
            </a:ext>
          </a:extLst>
        </p:cNvPr>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792621B8-A79A-C5CA-E881-2991F4F568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2" name="Group 41">
            <a:extLst>
              <a:ext uri="{FF2B5EF4-FFF2-40B4-BE49-F238E27FC236}">
                <a16:creationId xmlns:a16="http://schemas.microsoft.com/office/drawing/2014/main" id="{8225AE55-E3F5-99E2-D59B-4A2BF6B946D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43" name="Freeform 5">
              <a:extLst>
                <a:ext uri="{FF2B5EF4-FFF2-40B4-BE49-F238E27FC236}">
                  <a16:creationId xmlns:a16="http://schemas.microsoft.com/office/drawing/2014/main" id="{424E8A83-95FA-D268-DC53-C0A4CBC0CF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accent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4" name="Freeform 6">
              <a:extLst>
                <a:ext uri="{FF2B5EF4-FFF2-40B4-BE49-F238E27FC236}">
                  <a16:creationId xmlns:a16="http://schemas.microsoft.com/office/drawing/2014/main" id="{6B277F4D-3717-3DA1-19F0-C15B436BE7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accent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 name="Freeform 7">
              <a:extLst>
                <a:ext uri="{FF2B5EF4-FFF2-40B4-BE49-F238E27FC236}">
                  <a16:creationId xmlns:a16="http://schemas.microsoft.com/office/drawing/2014/main" id="{893F2F6B-A19B-5698-069D-312A36C792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accent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 name="Freeform 8">
              <a:extLst>
                <a:ext uri="{FF2B5EF4-FFF2-40B4-BE49-F238E27FC236}">
                  <a16:creationId xmlns:a16="http://schemas.microsoft.com/office/drawing/2014/main" id="{495631AD-4DE5-DBB7-25E4-50CFA09C2F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accent1">
                  <a:alpha val="18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 name="Freeform 9">
              <a:extLst>
                <a:ext uri="{FF2B5EF4-FFF2-40B4-BE49-F238E27FC236}">
                  <a16:creationId xmlns:a16="http://schemas.microsoft.com/office/drawing/2014/main" id="{BD84B919-AE63-F384-2EEE-4FA5835B64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accent1">
                  <a:alpha val="18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 name="Freeform 10">
              <a:extLst>
                <a:ext uri="{FF2B5EF4-FFF2-40B4-BE49-F238E27FC236}">
                  <a16:creationId xmlns:a16="http://schemas.microsoft.com/office/drawing/2014/main" id="{885206BE-56AB-F588-1FF1-478D9FF29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accent1">
                  <a:alpha val="18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 name="Freeform 11">
              <a:extLst>
                <a:ext uri="{FF2B5EF4-FFF2-40B4-BE49-F238E27FC236}">
                  <a16:creationId xmlns:a16="http://schemas.microsoft.com/office/drawing/2014/main" id="{54101CE6-72C1-D3DC-B62C-90BB5A6A02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accent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 name="Freeform 12">
              <a:extLst>
                <a:ext uri="{FF2B5EF4-FFF2-40B4-BE49-F238E27FC236}">
                  <a16:creationId xmlns:a16="http://schemas.microsoft.com/office/drawing/2014/main" id="{ED51428E-D262-1D2C-9850-96D66BEF1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accent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1" name="Freeform 13">
              <a:extLst>
                <a:ext uri="{FF2B5EF4-FFF2-40B4-BE49-F238E27FC236}">
                  <a16:creationId xmlns:a16="http://schemas.microsoft.com/office/drawing/2014/main" id="{51C49274-5AC2-7449-29D5-757E1C37C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accent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 name="Freeform 14">
              <a:extLst>
                <a:ext uri="{FF2B5EF4-FFF2-40B4-BE49-F238E27FC236}">
                  <a16:creationId xmlns:a16="http://schemas.microsoft.com/office/drawing/2014/main" id="{4351EEC4-6358-8823-F674-4C2AEF8446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accent1">
                  <a:alpha val="13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 name="Freeform 15">
              <a:extLst>
                <a:ext uri="{FF2B5EF4-FFF2-40B4-BE49-F238E27FC236}">
                  <a16:creationId xmlns:a16="http://schemas.microsoft.com/office/drawing/2014/main" id="{68DCB3F8-6932-428F-8F85-907C9F99CF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accent1">
                  <a:alpha val="12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 name="Freeform 16">
              <a:extLst>
                <a:ext uri="{FF2B5EF4-FFF2-40B4-BE49-F238E27FC236}">
                  <a16:creationId xmlns:a16="http://schemas.microsoft.com/office/drawing/2014/main" id="{DEC84C0A-E1FF-CD0E-5A50-A3BFFA4D13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accent1">
                  <a:alpha val="13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 name="Freeform 17">
              <a:extLst>
                <a:ext uri="{FF2B5EF4-FFF2-40B4-BE49-F238E27FC236}">
                  <a16:creationId xmlns:a16="http://schemas.microsoft.com/office/drawing/2014/main" id="{359D7242-CA4B-DCC0-E9ED-6085B86E43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accent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 name="Freeform 18">
              <a:extLst>
                <a:ext uri="{FF2B5EF4-FFF2-40B4-BE49-F238E27FC236}">
                  <a16:creationId xmlns:a16="http://schemas.microsoft.com/office/drawing/2014/main" id="{C0382CD9-C114-45DB-021F-58C6FCE769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accent1">
                  <a:alpha val="12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 name="Freeform 19">
              <a:extLst>
                <a:ext uri="{FF2B5EF4-FFF2-40B4-BE49-F238E27FC236}">
                  <a16:creationId xmlns:a16="http://schemas.microsoft.com/office/drawing/2014/main" id="{933C1E2C-33EE-B49D-3EAB-61EEA7C1C4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accent1">
                  <a:alpha val="8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 name="Freeform 20">
              <a:extLst>
                <a:ext uri="{FF2B5EF4-FFF2-40B4-BE49-F238E27FC236}">
                  <a16:creationId xmlns:a16="http://schemas.microsoft.com/office/drawing/2014/main" id="{83F7219E-FA63-3A88-D203-4C7E9FF902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accent1">
                  <a:alpha val="12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 name="Freeform 21">
              <a:extLst>
                <a:ext uri="{FF2B5EF4-FFF2-40B4-BE49-F238E27FC236}">
                  <a16:creationId xmlns:a16="http://schemas.microsoft.com/office/drawing/2014/main" id="{0BAC7500-62A2-3C94-3744-6C0FCC882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accent1">
                  <a:alpha val="12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 name="Freeform 22">
              <a:extLst>
                <a:ext uri="{FF2B5EF4-FFF2-40B4-BE49-F238E27FC236}">
                  <a16:creationId xmlns:a16="http://schemas.microsoft.com/office/drawing/2014/main" id="{03CEC80D-4FE8-1CE7-C5AB-CE3616D759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accent1">
                  <a:alpha val="11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1" name="Freeform 23">
              <a:extLst>
                <a:ext uri="{FF2B5EF4-FFF2-40B4-BE49-F238E27FC236}">
                  <a16:creationId xmlns:a16="http://schemas.microsoft.com/office/drawing/2014/main" id="{1E6C2014-A6E6-8CAE-2FCC-14FD9D2DAC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accent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2" name="Freeform 24">
              <a:extLst>
                <a:ext uri="{FF2B5EF4-FFF2-40B4-BE49-F238E27FC236}">
                  <a16:creationId xmlns:a16="http://schemas.microsoft.com/office/drawing/2014/main" id="{9C63C704-67E7-6606-6235-6F1BA4317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accent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3" name="Freeform 25">
              <a:extLst>
                <a:ext uri="{FF2B5EF4-FFF2-40B4-BE49-F238E27FC236}">
                  <a16:creationId xmlns:a16="http://schemas.microsoft.com/office/drawing/2014/main" id="{A68CD65B-2FAD-75FB-ED1A-E18289516D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accent1">
                  <a:alpha val="8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 name="Title 1">
            <a:extLst>
              <a:ext uri="{FF2B5EF4-FFF2-40B4-BE49-F238E27FC236}">
                <a16:creationId xmlns:a16="http://schemas.microsoft.com/office/drawing/2014/main" id="{F40B0A13-95C8-852F-F847-FCD23067821A}"/>
              </a:ext>
            </a:extLst>
          </p:cNvPr>
          <p:cNvSpPr>
            <a:spLocks noGrp="1"/>
          </p:cNvSpPr>
          <p:nvPr>
            <p:ph type="title"/>
          </p:nvPr>
        </p:nvSpPr>
        <p:spPr>
          <a:xfrm>
            <a:off x="2757223" y="376238"/>
            <a:ext cx="6677553" cy="1353310"/>
          </a:xfrm>
        </p:spPr>
        <p:txBody>
          <a:bodyPr anchor="b">
            <a:normAutofit/>
          </a:bodyPr>
          <a:lstStyle/>
          <a:p>
            <a:r>
              <a:rPr lang="en-US" sz="4400">
                <a:solidFill>
                  <a:schemeClr val="tx1"/>
                </a:solidFill>
                <a:latin typeface="+mn-lt"/>
              </a:rPr>
              <a:t>Results</a:t>
            </a:r>
          </a:p>
        </p:txBody>
      </p:sp>
      <p:graphicFrame>
        <p:nvGraphicFramePr>
          <p:cNvPr id="5" name="Content Placeholder 3">
            <a:extLst>
              <a:ext uri="{FF2B5EF4-FFF2-40B4-BE49-F238E27FC236}">
                <a16:creationId xmlns:a16="http://schemas.microsoft.com/office/drawing/2014/main" id="{8FD14D0D-411A-C2A4-8DE8-D6EAF6B0E995}"/>
              </a:ext>
            </a:extLst>
          </p:cNvPr>
          <p:cNvGraphicFramePr>
            <a:graphicFrameLocks/>
          </p:cNvGraphicFramePr>
          <p:nvPr>
            <p:extLst>
              <p:ext uri="{D42A27DB-BD31-4B8C-83A1-F6EECF244321}">
                <p14:modId xmlns:p14="http://schemas.microsoft.com/office/powerpoint/2010/main" val="2710730556"/>
              </p:ext>
            </p:extLst>
          </p:nvPr>
        </p:nvGraphicFramePr>
        <p:xfrm>
          <a:off x="2469150" y="1742758"/>
          <a:ext cx="7253697" cy="2931160"/>
        </p:xfrm>
        <a:graphic>
          <a:graphicData uri="http://schemas.openxmlformats.org/drawingml/2006/table">
            <a:tbl>
              <a:tblPr firstRow="1" bandRow="1">
                <a:tableStyleId>{5C22544A-7EE6-4342-B048-85BDC9FD1C3A}</a:tableStyleId>
              </a:tblPr>
              <a:tblGrid>
                <a:gridCol w="2417899">
                  <a:extLst>
                    <a:ext uri="{9D8B030D-6E8A-4147-A177-3AD203B41FA5}">
                      <a16:colId xmlns:a16="http://schemas.microsoft.com/office/drawing/2014/main" val="3375942957"/>
                    </a:ext>
                  </a:extLst>
                </a:gridCol>
                <a:gridCol w="2417899">
                  <a:extLst>
                    <a:ext uri="{9D8B030D-6E8A-4147-A177-3AD203B41FA5}">
                      <a16:colId xmlns:a16="http://schemas.microsoft.com/office/drawing/2014/main" val="3804319674"/>
                    </a:ext>
                  </a:extLst>
                </a:gridCol>
                <a:gridCol w="2417899">
                  <a:extLst>
                    <a:ext uri="{9D8B030D-6E8A-4147-A177-3AD203B41FA5}">
                      <a16:colId xmlns:a16="http://schemas.microsoft.com/office/drawing/2014/main" val="4067607880"/>
                    </a:ext>
                  </a:extLst>
                </a:gridCol>
              </a:tblGrid>
              <a:tr h="370840">
                <a:tc>
                  <a:txBody>
                    <a:bodyPr/>
                    <a:lstStyle/>
                    <a:p>
                      <a:pPr algn="ctr"/>
                      <a:r>
                        <a:rPr lang="en-US">
                          <a:solidFill>
                            <a:schemeClr val="bg1"/>
                          </a:solidFill>
                        </a:rPr>
                        <a:t>Metric</a:t>
                      </a:r>
                    </a:p>
                  </a:txBody>
                  <a:tcPr/>
                </a:tc>
                <a:tc>
                  <a:txBody>
                    <a:bodyPr/>
                    <a:lstStyle/>
                    <a:p>
                      <a:pPr algn="ctr"/>
                      <a:r>
                        <a:rPr lang="en-US">
                          <a:solidFill>
                            <a:schemeClr val="bg1"/>
                          </a:solidFill>
                        </a:rPr>
                        <a:t>Value</a:t>
                      </a:r>
                    </a:p>
                  </a:txBody>
                  <a:tcPr/>
                </a:tc>
                <a:tc>
                  <a:txBody>
                    <a:bodyPr/>
                    <a:lstStyle/>
                    <a:p>
                      <a:pPr algn="ctr"/>
                      <a:r>
                        <a:rPr lang="en-US">
                          <a:solidFill>
                            <a:schemeClr val="bg1"/>
                          </a:solidFill>
                        </a:rPr>
                        <a:t>Description </a:t>
                      </a:r>
                    </a:p>
                  </a:txBody>
                  <a:tcPr/>
                </a:tc>
                <a:extLst>
                  <a:ext uri="{0D108BD9-81ED-4DB2-BD59-A6C34878D82A}">
                    <a16:rowId xmlns:a16="http://schemas.microsoft.com/office/drawing/2014/main" val="3915922691"/>
                  </a:ext>
                </a:extLst>
              </a:tr>
              <a:tr h="370840">
                <a:tc>
                  <a:txBody>
                    <a:bodyPr/>
                    <a:lstStyle/>
                    <a:p>
                      <a:r>
                        <a:rPr lang="en-US"/>
                        <a:t>Accuracy </a:t>
                      </a:r>
                    </a:p>
                  </a:txBody>
                  <a:tcPr/>
                </a:tc>
                <a:tc>
                  <a:txBody>
                    <a:bodyPr/>
                    <a:lstStyle/>
                    <a:p>
                      <a:pPr algn="ctr"/>
                      <a:r>
                        <a:rPr lang="en-US"/>
                        <a:t>~ 90%</a:t>
                      </a:r>
                    </a:p>
                  </a:txBody>
                  <a:tcPr/>
                </a:tc>
                <a:tc>
                  <a:txBody>
                    <a:bodyPr/>
                    <a:lstStyle/>
                    <a:p>
                      <a:r>
                        <a:rPr lang="en-US"/>
                        <a:t>Overall Model Performance </a:t>
                      </a:r>
                    </a:p>
                  </a:txBody>
                  <a:tcPr/>
                </a:tc>
                <a:extLst>
                  <a:ext uri="{0D108BD9-81ED-4DB2-BD59-A6C34878D82A}">
                    <a16:rowId xmlns:a16="http://schemas.microsoft.com/office/drawing/2014/main" val="2890651730"/>
                  </a:ext>
                </a:extLst>
              </a:tr>
              <a:tr h="370840">
                <a:tc>
                  <a:txBody>
                    <a:bodyPr/>
                    <a:lstStyle/>
                    <a:p>
                      <a:r>
                        <a:rPr lang="en-US"/>
                        <a:t>Precision (avg.)</a:t>
                      </a:r>
                    </a:p>
                  </a:txBody>
                  <a:tcPr/>
                </a:tc>
                <a:tc>
                  <a:txBody>
                    <a:bodyPr/>
                    <a:lstStyle/>
                    <a:p>
                      <a:pPr algn="ctr"/>
                      <a:r>
                        <a:rPr lang="en-US"/>
                        <a:t>~ 93%</a:t>
                      </a:r>
                    </a:p>
                  </a:txBody>
                  <a:tcPr/>
                </a:tc>
                <a:tc>
                  <a:txBody>
                    <a:bodyPr/>
                    <a:lstStyle/>
                    <a:p>
                      <a:r>
                        <a:rPr lang="en-US"/>
                        <a:t>Correctly predicted holdings </a:t>
                      </a:r>
                    </a:p>
                  </a:txBody>
                  <a:tcPr/>
                </a:tc>
                <a:extLst>
                  <a:ext uri="{0D108BD9-81ED-4DB2-BD59-A6C34878D82A}">
                    <a16:rowId xmlns:a16="http://schemas.microsoft.com/office/drawing/2014/main" val="557357051"/>
                  </a:ext>
                </a:extLst>
              </a:tr>
              <a:tr h="370840">
                <a:tc>
                  <a:txBody>
                    <a:bodyPr/>
                    <a:lstStyle/>
                    <a:p>
                      <a:r>
                        <a:rPr lang="en-US"/>
                        <a:t>Recall (avg.)</a:t>
                      </a:r>
                    </a:p>
                  </a:txBody>
                  <a:tcPr/>
                </a:tc>
                <a:tc>
                  <a:txBody>
                    <a:bodyPr/>
                    <a:lstStyle/>
                    <a:p>
                      <a:pPr algn="ctr"/>
                      <a:r>
                        <a:rPr lang="en-US"/>
                        <a:t>~ 91%</a:t>
                      </a:r>
                    </a:p>
                  </a:txBody>
                  <a:tcPr/>
                </a:tc>
                <a:tc>
                  <a:txBody>
                    <a:bodyPr/>
                    <a:lstStyle/>
                    <a:p>
                      <a:r>
                        <a:rPr lang="en-US"/>
                        <a:t>Ability to capture true classes </a:t>
                      </a:r>
                    </a:p>
                  </a:txBody>
                  <a:tcPr/>
                </a:tc>
                <a:extLst>
                  <a:ext uri="{0D108BD9-81ED-4DB2-BD59-A6C34878D82A}">
                    <a16:rowId xmlns:a16="http://schemas.microsoft.com/office/drawing/2014/main" val="3217840682"/>
                  </a:ext>
                </a:extLst>
              </a:tr>
              <a:tr h="370839">
                <a:tc>
                  <a:txBody>
                    <a:bodyPr/>
                    <a:lstStyle/>
                    <a:p>
                      <a:pPr lvl="0">
                        <a:buNone/>
                      </a:pPr>
                      <a:r>
                        <a:rPr lang="en-US"/>
                        <a:t>F1 score (avg.)</a:t>
                      </a:r>
                    </a:p>
                  </a:txBody>
                  <a:tcPr/>
                </a:tc>
                <a:tc>
                  <a:txBody>
                    <a:bodyPr/>
                    <a:lstStyle/>
                    <a:p>
                      <a:pPr lvl="0" algn="ctr">
                        <a:buNone/>
                      </a:pPr>
                      <a:r>
                        <a:rPr lang="en-US"/>
                        <a:t>~ 92%</a:t>
                      </a:r>
                    </a:p>
                  </a:txBody>
                  <a:tcPr/>
                </a:tc>
                <a:tc>
                  <a:txBody>
                    <a:bodyPr/>
                    <a:lstStyle/>
                    <a:p>
                      <a:pPr lvl="0">
                        <a:buNone/>
                      </a:pPr>
                      <a:r>
                        <a:rPr lang="en-US"/>
                        <a:t>Overall Model Effectiveness</a:t>
                      </a:r>
                    </a:p>
                  </a:txBody>
                  <a:tcPr/>
                </a:tc>
                <a:extLst>
                  <a:ext uri="{0D108BD9-81ED-4DB2-BD59-A6C34878D82A}">
                    <a16:rowId xmlns:a16="http://schemas.microsoft.com/office/drawing/2014/main" val="3069796673"/>
                  </a:ext>
                </a:extLst>
              </a:tr>
            </a:tbl>
          </a:graphicData>
        </a:graphic>
      </p:graphicFrame>
      <p:sp>
        <p:nvSpPr>
          <p:cNvPr id="9" name="TextBox 8">
            <a:extLst>
              <a:ext uri="{FF2B5EF4-FFF2-40B4-BE49-F238E27FC236}">
                <a16:creationId xmlns:a16="http://schemas.microsoft.com/office/drawing/2014/main" id="{F5DE473D-3615-2B3E-4F83-9F5B4068C0A1}"/>
              </a:ext>
            </a:extLst>
          </p:cNvPr>
          <p:cNvSpPr txBox="1"/>
          <p:nvPr/>
        </p:nvSpPr>
        <p:spPr>
          <a:xfrm>
            <a:off x="1863436" y="5044835"/>
            <a:ext cx="8504528"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Clr>
                <a:srgbClr val="FF0000"/>
              </a:buClr>
              <a:buFont typeface="Wingdings" panose="05000000000000000000" pitchFamily="2" charset="2"/>
              <a:buChar char="§"/>
            </a:pPr>
            <a:r>
              <a:rPr lang="en-US" sz="1600"/>
              <a:t>Model showed strong performance on frequent holding types, but there was a decline for low-frequency classes (</a:t>
            </a:r>
            <a:r>
              <a:rPr lang="en-US" sz="1600" err="1"/>
              <a:t>i.e</a:t>
            </a:r>
            <a:r>
              <a:rPr lang="en-US" sz="1600"/>
              <a:t> BD and BY) </a:t>
            </a:r>
          </a:p>
          <a:p>
            <a:pPr marL="285750" indent="-285750">
              <a:buClr>
                <a:srgbClr val="FF0000"/>
              </a:buClr>
              <a:buFont typeface="Wingdings" panose="05000000000000000000" pitchFamily="2" charset="2"/>
              <a:buChar char="§"/>
            </a:pPr>
            <a:r>
              <a:rPr lang="en-US" sz="1600"/>
              <a:t>Error analysis showed misclassification mainly between similar text or related classes. </a:t>
            </a:r>
          </a:p>
        </p:txBody>
      </p:sp>
      <p:pic>
        <p:nvPicPr>
          <p:cNvPr id="4" name="Content Placeholder 6" descr="A red text on a black background&#10;&#10;AI-generated content may be incorrect.">
            <a:extLst>
              <a:ext uri="{FF2B5EF4-FFF2-40B4-BE49-F238E27FC236}">
                <a16:creationId xmlns:a16="http://schemas.microsoft.com/office/drawing/2014/main" id="{0D274F76-A461-3527-D5E0-E516E5ECB20D}"/>
              </a:ext>
            </a:extLst>
          </p:cNvPr>
          <p:cNvPicPr>
            <a:picLocks noChangeAspect="1"/>
          </p:cNvPicPr>
          <p:nvPr/>
        </p:nvPicPr>
        <p:blipFill>
          <a:blip r:embed="rId2"/>
          <a:stretch>
            <a:fillRect/>
          </a:stretch>
        </p:blipFill>
        <p:spPr>
          <a:xfrm>
            <a:off x="102098" y="-169011"/>
            <a:ext cx="1708149" cy="1138767"/>
          </a:xfrm>
          <a:prstGeom prst="rect">
            <a:avLst/>
          </a:prstGeom>
        </p:spPr>
      </p:pic>
      <p:pic>
        <p:nvPicPr>
          <p:cNvPr id="7" name="Picture 4">
            <a:extLst>
              <a:ext uri="{FF2B5EF4-FFF2-40B4-BE49-F238E27FC236}">
                <a16:creationId xmlns:a16="http://schemas.microsoft.com/office/drawing/2014/main" id="{005872E5-08FA-A068-F9D9-BAE0F3AA0C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6408" y="-663307"/>
            <a:ext cx="2326245" cy="21273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12685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695F360-420D-0A6D-A35A-53921583F52B}"/>
            </a:ext>
          </a:extLst>
        </p:cNvPr>
        <p:cNvGrpSpPr/>
        <p:nvPr/>
      </p:nvGrpSpPr>
      <p:grpSpPr>
        <a:xfrm>
          <a:off x="0" y="0"/>
          <a:ext cx="0" cy="0"/>
          <a:chOff x="0" y="0"/>
          <a:chExt cx="0" cy="0"/>
        </a:xfrm>
      </p:grpSpPr>
      <p:sp useBgFill="1">
        <p:nvSpPr>
          <p:cNvPr id="91" name="Rectangle 90">
            <a:extLst>
              <a:ext uri="{FF2B5EF4-FFF2-40B4-BE49-F238E27FC236}">
                <a16:creationId xmlns:a16="http://schemas.microsoft.com/office/drawing/2014/main" id="{982413CC-69E6-4BDA-A88D-E4EF8F95B2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3" name="Group 92">
            <a:extLst>
              <a:ext uri="{FF2B5EF4-FFF2-40B4-BE49-F238E27FC236}">
                <a16:creationId xmlns:a16="http://schemas.microsoft.com/office/drawing/2014/main" id="{4F1F7357-8633-4CE7-BF80-475EE8A2FAE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94" name="Freeform 5">
              <a:extLst>
                <a:ext uri="{FF2B5EF4-FFF2-40B4-BE49-F238E27FC236}">
                  <a16:creationId xmlns:a16="http://schemas.microsoft.com/office/drawing/2014/main" id="{E402FE4E-C12D-497C-AF81-F08E4E02B45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306513" y="0"/>
              <a:ext cx="3862388" cy="6843713"/>
            </a:xfrm>
            <a:custGeom>
              <a:avLst/>
              <a:gdLst>
                <a:gd name="T0" fmla="*/ 813 w 813"/>
                <a:gd name="T1" fmla="*/ 0 h 1440"/>
                <a:gd name="T2" fmla="*/ 435 w 813"/>
                <a:gd name="T3" fmla="*/ 1440 h 1440"/>
              </a:gdLst>
              <a:ahLst/>
              <a:cxnLst>
                <a:cxn ang="0">
                  <a:pos x="T0" y="T1"/>
                </a:cxn>
                <a:cxn ang="0">
                  <a:pos x="T2" y="T3"/>
                </a:cxn>
              </a:cxnLst>
              <a:rect l="0" t="0" r="r" b="b"/>
              <a:pathLst>
                <a:path w="813" h="1440">
                  <a:moveTo>
                    <a:pt x="813" y="0"/>
                  </a:moveTo>
                  <a:cubicBezTo>
                    <a:pt x="331" y="221"/>
                    <a:pt x="0" y="1039"/>
                    <a:pt x="435"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5" name="Freeform 6">
              <a:extLst>
                <a:ext uri="{FF2B5EF4-FFF2-40B4-BE49-F238E27FC236}">
                  <a16:creationId xmlns:a16="http://schemas.microsoft.com/office/drawing/2014/main" id="{59247B10-170D-4E62-849A-38FCB43C6AF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26725" y="9525"/>
              <a:ext cx="1539875" cy="555625"/>
            </a:xfrm>
            <a:custGeom>
              <a:avLst/>
              <a:gdLst>
                <a:gd name="T0" fmla="*/ 324 w 324"/>
                <a:gd name="T1" fmla="*/ 117 h 117"/>
                <a:gd name="T2" fmla="*/ 0 w 324"/>
                <a:gd name="T3" fmla="*/ 0 h 117"/>
              </a:gdLst>
              <a:ahLst/>
              <a:cxnLst>
                <a:cxn ang="0">
                  <a:pos x="T0" y="T1"/>
                </a:cxn>
                <a:cxn ang="0">
                  <a:pos x="T2" y="T3"/>
                </a:cxn>
              </a:cxnLst>
              <a:rect l="0" t="0" r="r" b="b"/>
              <a:pathLst>
                <a:path w="324" h="117">
                  <a:moveTo>
                    <a:pt x="324" y="117"/>
                  </a:moveTo>
                  <a:cubicBezTo>
                    <a:pt x="223" y="64"/>
                    <a:pt x="107" y="28"/>
                    <a:pt x="0"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6" name="Freeform 7">
              <a:extLst>
                <a:ext uri="{FF2B5EF4-FFF2-40B4-BE49-F238E27FC236}">
                  <a16:creationId xmlns:a16="http://schemas.microsoft.com/office/drawing/2014/main" id="{89A587A7-1BEF-45AA-9EFC-6558A8749CE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247313" y="5013325"/>
              <a:ext cx="1919288" cy="1830388"/>
            </a:xfrm>
            <a:custGeom>
              <a:avLst/>
              <a:gdLst>
                <a:gd name="T0" fmla="*/ 0 w 404"/>
                <a:gd name="T1" fmla="*/ 385 h 385"/>
                <a:gd name="T2" fmla="*/ 404 w 404"/>
                <a:gd name="T3" fmla="*/ 0 h 385"/>
              </a:gdLst>
              <a:ahLst/>
              <a:cxnLst>
                <a:cxn ang="0">
                  <a:pos x="T0" y="T1"/>
                </a:cxn>
                <a:cxn ang="0">
                  <a:pos x="T2" y="T3"/>
                </a:cxn>
              </a:cxnLst>
              <a:rect l="0" t="0" r="r" b="b"/>
              <a:pathLst>
                <a:path w="404" h="385">
                  <a:moveTo>
                    <a:pt x="0" y="385"/>
                  </a:moveTo>
                  <a:cubicBezTo>
                    <a:pt x="146" y="272"/>
                    <a:pt x="285" y="142"/>
                    <a:pt x="404"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7" name="Freeform 8">
              <a:extLst>
                <a:ext uri="{FF2B5EF4-FFF2-40B4-BE49-F238E27FC236}">
                  <a16:creationId xmlns:a16="http://schemas.microsoft.com/office/drawing/2014/main" id="{AC25B5A1-6EF7-44EC-A2F0-1EDC96A79B0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775" y="0"/>
              <a:ext cx="3676650" cy="6843713"/>
            </a:xfrm>
            <a:custGeom>
              <a:avLst/>
              <a:gdLst>
                <a:gd name="T0" fmla="*/ 774 w 774"/>
                <a:gd name="T1" fmla="*/ 0 h 1440"/>
                <a:gd name="T2" fmla="*/ 411 w 774"/>
                <a:gd name="T3" fmla="*/ 1440 h 1440"/>
              </a:gdLst>
              <a:ahLst/>
              <a:cxnLst>
                <a:cxn ang="0">
                  <a:pos x="T0" y="T1"/>
                </a:cxn>
                <a:cxn ang="0">
                  <a:pos x="T2" y="T3"/>
                </a:cxn>
              </a:cxnLst>
              <a:rect l="0" t="0" r="r" b="b"/>
              <a:pathLst>
                <a:path w="774" h="1440">
                  <a:moveTo>
                    <a:pt x="774" y="0"/>
                  </a:moveTo>
                  <a:cubicBezTo>
                    <a:pt x="312" y="240"/>
                    <a:pt x="0" y="1034"/>
                    <a:pt x="411" y="1440"/>
                  </a:cubicBezTo>
                </a:path>
              </a:pathLst>
            </a:custGeom>
            <a:noFill/>
            <a:ln w="9525" cap="flat">
              <a:solidFill>
                <a:schemeClr val="tx1">
                  <a:alpha val="1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8" name="Freeform 9">
              <a:extLst>
                <a:ext uri="{FF2B5EF4-FFF2-40B4-BE49-F238E27FC236}">
                  <a16:creationId xmlns:a16="http://schemas.microsoft.com/office/drawing/2014/main" id="{80B8582C-7E17-4115-9FF1-979C8405CB5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2988" y="9525"/>
              <a:ext cx="963613" cy="366713"/>
            </a:xfrm>
            <a:custGeom>
              <a:avLst/>
              <a:gdLst>
                <a:gd name="T0" fmla="*/ 203 w 203"/>
                <a:gd name="T1" fmla="*/ 77 h 77"/>
                <a:gd name="T2" fmla="*/ 0 w 203"/>
                <a:gd name="T3" fmla="*/ 0 h 77"/>
              </a:gdLst>
              <a:ahLst/>
              <a:cxnLst>
                <a:cxn ang="0">
                  <a:pos x="T0" y="T1"/>
                </a:cxn>
                <a:cxn ang="0">
                  <a:pos x="T2" y="T3"/>
                </a:cxn>
              </a:cxnLst>
              <a:rect l="0" t="0" r="r" b="b"/>
              <a:pathLst>
                <a:path w="203" h="77">
                  <a:moveTo>
                    <a:pt x="203" y="77"/>
                  </a:moveTo>
                  <a:cubicBezTo>
                    <a:pt x="138" y="46"/>
                    <a:pt x="68" y="21"/>
                    <a:pt x="0" y="0"/>
                  </a:cubicBezTo>
                </a:path>
              </a:pathLst>
            </a:custGeom>
            <a:noFill/>
            <a:ln w="9525" cap="flat">
              <a:solidFill>
                <a:schemeClr val="tx1">
                  <a:alpha val="1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9" name="Freeform 10">
              <a:extLst>
                <a:ext uri="{FF2B5EF4-FFF2-40B4-BE49-F238E27FC236}">
                  <a16:creationId xmlns:a16="http://schemas.microsoft.com/office/drawing/2014/main" id="{F6C4AB66-7A18-4E51-935B-237F4CA8272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494963" y="5275263"/>
              <a:ext cx="1666875" cy="1577975"/>
            </a:xfrm>
            <a:custGeom>
              <a:avLst/>
              <a:gdLst>
                <a:gd name="T0" fmla="*/ 0 w 351"/>
                <a:gd name="T1" fmla="*/ 332 h 332"/>
                <a:gd name="T2" fmla="*/ 351 w 351"/>
                <a:gd name="T3" fmla="*/ 0 h 332"/>
              </a:gdLst>
              <a:ahLst/>
              <a:cxnLst>
                <a:cxn ang="0">
                  <a:pos x="T0" y="T1"/>
                </a:cxn>
                <a:cxn ang="0">
                  <a:pos x="T2" y="T3"/>
                </a:cxn>
              </a:cxnLst>
              <a:rect l="0" t="0" r="r" b="b"/>
              <a:pathLst>
                <a:path w="351" h="332">
                  <a:moveTo>
                    <a:pt x="0" y="332"/>
                  </a:moveTo>
                  <a:cubicBezTo>
                    <a:pt x="125" y="232"/>
                    <a:pt x="245" y="121"/>
                    <a:pt x="351" y="0"/>
                  </a:cubicBezTo>
                </a:path>
              </a:pathLst>
            </a:custGeom>
            <a:noFill/>
            <a:ln w="9525" cap="flat">
              <a:solidFill>
                <a:schemeClr val="tx1">
                  <a:alpha val="1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0" name="Freeform 11">
              <a:extLst>
                <a:ext uri="{FF2B5EF4-FFF2-40B4-BE49-F238E27FC236}">
                  <a16:creationId xmlns:a16="http://schemas.microsoft.com/office/drawing/2014/main" id="{CDF12911-A240-4580-8788-0C49DB1FEDB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621088" cy="6843713"/>
            </a:xfrm>
            <a:custGeom>
              <a:avLst/>
              <a:gdLst>
                <a:gd name="T0" fmla="*/ 762 w 762"/>
                <a:gd name="T1" fmla="*/ 0 h 1440"/>
                <a:gd name="T2" fmla="*/ 403 w 762"/>
                <a:gd name="T3" fmla="*/ 1440 h 1440"/>
              </a:gdLst>
              <a:ahLst/>
              <a:cxnLst>
                <a:cxn ang="0">
                  <a:pos x="T0" y="T1"/>
                </a:cxn>
                <a:cxn ang="0">
                  <a:pos x="T2" y="T3"/>
                </a:cxn>
              </a:cxnLst>
              <a:rect l="0" t="0" r="r" b="b"/>
              <a:pathLst>
                <a:path w="762" h="1440">
                  <a:moveTo>
                    <a:pt x="762" y="0"/>
                  </a:moveTo>
                  <a:cubicBezTo>
                    <a:pt x="308" y="245"/>
                    <a:pt x="0" y="1033"/>
                    <a:pt x="403"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1" name="Freeform 12">
              <a:extLst>
                <a:ext uri="{FF2B5EF4-FFF2-40B4-BE49-F238E27FC236}">
                  <a16:creationId xmlns:a16="http://schemas.microsoft.com/office/drawing/2014/main" id="{EAE0F5DE-442D-4F6C-B02C-2568ED19585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501438" y="9525"/>
              <a:ext cx="665163" cy="257175"/>
            </a:xfrm>
            <a:custGeom>
              <a:avLst/>
              <a:gdLst>
                <a:gd name="T0" fmla="*/ 140 w 140"/>
                <a:gd name="T1" fmla="*/ 54 h 54"/>
                <a:gd name="T2" fmla="*/ 0 w 140"/>
                <a:gd name="T3" fmla="*/ 0 h 54"/>
              </a:gdLst>
              <a:ahLst/>
              <a:cxnLst>
                <a:cxn ang="0">
                  <a:pos x="T0" y="T1"/>
                </a:cxn>
                <a:cxn ang="0">
                  <a:pos x="T2" y="T3"/>
                </a:cxn>
              </a:cxnLst>
              <a:rect l="0" t="0" r="r" b="b"/>
              <a:pathLst>
                <a:path w="140" h="54">
                  <a:moveTo>
                    <a:pt x="140" y="54"/>
                  </a:moveTo>
                  <a:cubicBezTo>
                    <a:pt x="95" y="34"/>
                    <a:pt x="48" y="16"/>
                    <a:pt x="0"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2" name="Freeform 13">
              <a:extLst>
                <a:ext uri="{FF2B5EF4-FFF2-40B4-BE49-F238E27FC236}">
                  <a16:creationId xmlns:a16="http://schemas.microsoft.com/office/drawing/2014/main" id="{4F24A002-AFDE-4034-85BE-CBF005AE923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41013" y="5408613"/>
              <a:ext cx="1525588" cy="1435100"/>
            </a:xfrm>
            <a:custGeom>
              <a:avLst/>
              <a:gdLst>
                <a:gd name="T0" fmla="*/ 0 w 321"/>
                <a:gd name="T1" fmla="*/ 302 h 302"/>
                <a:gd name="T2" fmla="*/ 321 w 321"/>
                <a:gd name="T3" fmla="*/ 0 h 302"/>
              </a:gdLst>
              <a:ahLst/>
              <a:cxnLst>
                <a:cxn ang="0">
                  <a:pos x="T0" y="T1"/>
                </a:cxn>
                <a:cxn ang="0">
                  <a:pos x="T2" y="T3"/>
                </a:cxn>
              </a:cxnLst>
              <a:rect l="0" t="0" r="r" b="b"/>
              <a:pathLst>
                <a:path w="321" h="302">
                  <a:moveTo>
                    <a:pt x="0" y="302"/>
                  </a:moveTo>
                  <a:cubicBezTo>
                    <a:pt x="114" y="210"/>
                    <a:pt x="223" y="109"/>
                    <a:pt x="321"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3" name="Freeform 14">
              <a:extLst>
                <a:ext uri="{FF2B5EF4-FFF2-40B4-BE49-F238E27FC236}">
                  <a16:creationId xmlns:a16="http://schemas.microsoft.com/office/drawing/2014/main" id="{36F0721E-B4B0-4A6C-A92C-F8DE92D3AC0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244850" cy="6843713"/>
            </a:xfrm>
            <a:custGeom>
              <a:avLst/>
              <a:gdLst>
                <a:gd name="T0" fmla="*/ 683 w 683"/>
                <a:gd name="T1" fmla="*/ 0 h 1440"/>
                <a:gd name="T2" fmla="*/ 355 w 683"/>
                <a:gd name="T3" fmla="*/ 1440 h 1440"/>
              </a:gdLst>
              <a:ahLst/>
              <a:cxnLst>
                <a:cxn ang="0">
                  <a:pos x="T0" y="T1"/>
                </a:cxn>
                <a:cxn ang="0">
                  <a:pos x="T2" y="T3"/>
                </a:cxn>
              </a:cxnLst>
              <a:rect l="0" t="0" r="r" b="b"/>
              <a:pathLst>
                <a:path w="683" h="1440">
                  <a:moveTo>
                    <a:pt x="683" y="0"/>
                  </a:moveTo>
                  <a:cubicBezTo>
                    <a:pt x="258" y="256"/>
                    <a:pt x="0" y="1041"/>
                    <a:pt x="355"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4" name="Freeform 15">
              <a:extLst>
                <a:ext uri="{FF2B5EF4-FFF2-40B4-BE49-F238E27FC236}">
                  <a16:creationId xmlns:a16="http://schemas.microsoft.com/office/drawing/2014/main" id="{54D2DC98-69F8-4F2F-9D45-BDFFA5E2BBB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802938" y="5518150"/>
              <a:ext cx="1363663" cy="1325563"/>
            </a:xfrm>
            <a:custGeom>
              <a:avLst/>
              <a:gdLst>
                <a:gd name="T0" fmla="*/ 0 w 287"/>
                <a:gd name="T1" fmla="*/ 279 h 279"/>
                <a:gd name="T2" fmla="*/ 287 w 287"/>
                <a:gd name="T3" fmla="*/ 0 h 279"/>
              </a:gdLst>
              <a:ahLst/>
              <a:cxnLst>
                <a:cxn ang="0">
                  <a:pos x="T0" y="T1"/>
                </a:cxn>
                <a:cxn ang="0">
                  <a:pos x="T2" y="T3"/>
                </a:cxn>
              </a:cxnLst>
              <a:rect l="0" t="0" r="r" b="b"/>
              <a:pathLst>
                <a:path w="287" h="279">
                  <a:moveTo>
                    <a:pt x="0" y="279"/>
                  </a:moveTo>
                  <a:cubicBezTo>
                    <a:pt x="101" y="193"/>
                    <a:pt x="198" y="100"/>
                    <a:pt x="287"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5" name="Freeform 16">
              <a:extLst>
                <a:ext uri="{FF2B5EF4-FFF2-40B4-BE49-F238E27FC236}">
                  <a16:creationId xmlns:a16="http://schemas.microsoft.com/office/drawing/2014/main" id="{0A636E33-DC38-40B9-B941-037E5D8603F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89000" y="0"/>
              <a:ext cx="3230563" cy="6843713"/>
            </a:xfrm>
            <a:custGeom>
              <a:avLst/>
              <a:gdLst>
                <a:gd name="T0" fmla="*/ 680 w 680"/>
                <a:gd name="T1" fmla="*/ 0 h 1440"/>
                <a:gd name="T2" fmla="*/ 337 w 680"/>
                <a:gd name="T3" fmla="*/ 1440 h 1440"/>
              </a:gdLst>
              <a:ahLst/>
              <a:cxnLst>
                <a:cxn ang="0">
                  <a:pos x="T0" y="T1"/>
                </a:cxn>
                <a:cxn ang="0">
                  <a:pos x="T2" y="T3"/>
                </a:cxn>
              </a:cxnLst>
              <a:rect l="0" t="0" r="r" b="b"/>
              <a:pathLst>
                <a:path w="680" h="1440">
                  <a:moveTo>
                    <a:pt x="680" y="0"/>
                  </a:moveTo>
                  <a:cubicBezTo>
                    <a:pt x="257" y="265"/>
                    <a:pt x="0" y="1026"/>
                    <a:pt x="337"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6" name="Freeform 17">
              <a:extLst>
                <a:ext uri="{FF2B5EF4-FFF2-40B4-BE49-F238E27FC236}">
                  <a16:creationId xmlns:a16="http://schemas.microsoft.com/office/drawing/2014/main" id="{03D30690-68C2-4AEC-9789-1495D97E194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979150" y="5694363"/>
              <a:ext cx="1187450" cy="1149350"/>
            </a:xfrm>
            <a:custGeom>
              <a:avLst/>
              <a:gdLst>
                <a:gd name="T0" fmla="*/ 0 w 250"/>
                <a:gd name="T1" fmla="*/ 242 h 242"/>
                <a:gd name="T2" fmla="*/ 250 w 250"/>
                <a:gd name="T3" fmla="*/ 0 h 242"/>
              </a:gdLst>
              <a:ahLst/>
              <a:cxnLst>
                <a:cxn ang="0">
                  <a:pos x="T0" y="T1"/>
                </a:cxn>
                <a:cxn ang="0">
                  <a:pos x="T2" y="T3"/>
                </a:cxn>
              </a:cxnLst>
              <a:rect l="0" t="0" r="r" b="b"/>
              <a:pathLst>
                <a:path w="250" h="242">
                  <a:moveTo>
                    <a:pt x="0" y="242"/>
                  </a:moveTo>
                  <a:cubicBezTo>
                    <a:pt x="88" y="166"/>
                    <a:pt x="172" y="85"/>
                    <a:pt x="250"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7" name="Freeform 18">
              <a:extLst>
                <a:ext uri="{FF2B5EF4-FFF2-40B4-BE49-F238E27FC236}">
                  <a16:creationId xmlns:a16="http://schemas.microsoft.com/office/drawing/2014/main" id="{1020B1B9-821B-49FB-BDC9-57DA08CBC30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84188" y="0"/>
              <a:ext cx="3421063" cy="6843713"/>
            </a:xfrm>
            <a:custGeom>
              <a:avLst/>
              <a:gdLst>
                <a:gd name="T0" fmla="*/ 720 w 720"/>
                <a:gd name="T1" fmla="*/ 0 h 1440"/>
                <a:gd name="T2" fmla="*/ 362 w 720"/>
                <a:gd name="T3" fmla="*/ 1440 h 1440"/>
              </a:gdLst>
              <a:ahLst/>
              <a:cxnLst>
                <a:cxn ang="0">
                  <a:pos x="T0" y="T1"/>
                </a:cxn>
                <a:cxn ang="0">
                  <a:pos x="T2" y="T3"/>
                </a:cxn>
              </a:cxnLst>
              <a:rect l="0" t="0" r="r" b="b"/>
              <a:pathLst>
                <a:path w="720" h="1440">
                  <a:moveTo>
                    <a:pt x="720" y="0"/>
                  </a:moveTo>
                  <a:cubicBezTo>
                    <a:pt x="316" y="282"/>
                    <a:pt x="0" y="1018"/>
                    <a:pt x="362"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8" name="Freeform 19">
              <a:extLst>
                <a:ext uri="{FF2B5EF4-FFF2-40B4-BE49-F238E27FC236}">
                  <a16:creationId xmlns:a16="http://schemas.microsoft.com/office/drawing/2014/main" id="{720EDCE4-8B18-413F-989E-E79628E5AF1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87125" y="6049963"/>
              <a:ext cx="879475" cy="793750"/>
            </a:xfrm>
            <a:custGeom>
              <a:avLst/>
              <a:gdLst>
                <a:gd name="T0" fmla="*/ 0 w 185"/>
                <a:gd name="T1" fmla="*/ 167 h 167"/>
                <a:gd name="T2" fmla="*/ 185 w 185"/>
                <a:gd name="T3" fmla="*/ 0 h 167"/>
              </a:gdLst>
              <a:ahLst/>
              <a:cxnLst>
                <a:cxn ang="0">
                  <a:pos x="T0" y="T1"/>
                </a:cxn>
                <a:cxn ang="0">
                  <a:pos x="T2" y="T3"/>
                </a:cxn>
              </a:cxnLst>
              <a:rect l="0" t="0" r="r" b="b"/>
              <a:pathLst>
                <a:path w="185" h="167">
                  <a:moveTo>
                    <a:pt x="0" y="167"/>
                  </a:moveTo>
                  <a:cubicBezTo>
                    <a:pt x="63" y="114"/>
                    <a:pt x="125" y="58"/>
                    <a:pt x="185"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9" name="Freeform 20">
              <a:extLst>
                <a:ext uri="{FF2B5EF4-FFF2-40B4-BE49-F238E27FC236}">
                  <a16:creationId xmlns:a16="http://schemas.microsoft.com/office/drawing/2014/main" id="{8563351E-0DDD-4FC8-8D0C-1E446E3C1B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8488" y="0"/>
              <a:ext cx="2717800" cy="6843713"/>
            </a:xfrm>
            <a:custGeom>
              <a:avLst/>
              <a:gdLst>
                <a:gd name="T0" fmla="*/ 572 w 572"/>
                <a:gd name="T1" fmla="*/ 0 h 1440"/>
                <a:gd name="T2" fmla="*/ 164 w 572"/>
                <a:gd name="T3" fmla="*/ 1440 h 1440"/>
              </a:gdLst>
              <a:ahLst/>
              <a:cxnLst>
                <a:cxn ang="0">
                  <a:pos x="T0" y="T1"/>
                </a:cxn>
                <a:cxn ang="0">
                  <a:pos x="T2" y="T3"/>
                </a:cxn>
              </a:cxnLst>
              <a:rect l="0" t="0" r="r" b="b"/>
              <a:pathLst>
                <a:path w="572" h="1440">
                  <a:moveTo>
                    <a:pt x="572" y="0"/>
                  </a:moveTo>
                  <a:cubicBezTo>
                    <a:pt x="213" y="320"/>
                    <a:pt x="0" y="979"/>
                    <a:pt x="164" y="1440"/>
                  </a:cubicBezTo>
                </a:path>
              </a:pathLst>
            </a:custGeom>
            <a:noFill/>
            <a:ln w="12700" cap="flat">
              <a:solidFill>
                <a:schemeClr val="tx1">
                  <a:alpha val="15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0" name="Freeform 21">
              <a:extLst>
                <a:ext uri="{FF2B5EF4-FFF2-40B4-BE49-F238E27FC236}">
                  <a16:creationId xmlns:a16="http://schemas.microsoft.com/office/drawing/2014/main" id="{15E8B705-64E7-4513-B3CB-BF46C35732B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61938" y="0"/>
              <a:ext cx="2944813" cy="6843713"/>
            </a:xfrm>
            <a:custGeom>
              <a:avLst/>
              <a:gdLst>
                <a:gd name="T0" fmla="*/ 620 w 620"/>
                <a:gd name="T1" fmla="*/ 0 h 1440"/>
                <a:gd name="T2" fmla="*/ 186 w 620"/>
                <a:gd name="T3" fmla="*/ 1440 h 1440"/>
              </a:gdLst>
              <a:ahLst/>
              <a:cxnLst>
                <a:cxn ang="0">
                  <a:pos x="T0" y="T1"/>
                </a:cxn>
                <a:cxn ang="0">
                  <a:pos x="T2" y="T3"/>
                </a:cxn>
              </a:cxnLst>
              <a:rect l="0" t="0" r="r" b="b"/>
              <a:pathLst>
                <a:path w="620" h="1440">
                  <a:moveTo>
                    <a:pt x="620" y="0"/>
                  </a:moveTo>
                  <a:cubicBezTo>
                    <a:pt x="248" y="325"/>
                    <a:pt x="0" y="960"/>
                    <a:pt x="186" y="1440"/>
                  </a:cubicBezTo>
                </a:path>
              </a:pathLst>
            </a:custGeom>
            <a:noFill/>
            <a:ln w="9525" cap="flat">
              <a:solidFill>
                <a:schemeClr val="tx1">
                  <a:alpha val="15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1" name="Freeform 22">
              <a:extLst>
                <a:ext uri="{FF2B5EF4-FFF2-40B4-BE49-F238E27FC236}">
                  <a16:creationId xmlns:a16="http://schemas.microsoft.com/office/drawing/2014/main" id="{30DAEE1C-EBB5-47F5-9E76-564FCFDBFC2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17513" y="0"/>
              <a:ext cx="2403475" cy="6843713"/>
            </a:xfrm>
            <a:custGeom>
              <a:avLst/>
              <a:gdLst>
                <a:gd name="T0" fmla="*/ 506 w 506"/>
                <a:gd name="T1" fmla="*/ 0 h 1440"/>
                <a:gd name="T2" fmla="*/ 171 w 506"/>
                <a:gd name="T3" fmla="*/ 1440 h 1440"/>
              </a:gdLst>
              <a:ahLst/>
              <a:cxnLst>
                <a:cxn ang="0">
                  <a:pos x="T0" y="T1"/>
                </a:cxn>
                <a:cxn ang="0">
                  <a:pos x="T2" y="T3"/>
                </a:cxn>
              </a:cxnLst>
              <a:rect l="0" t="0" r="r" b="b"/>
              <a:pathLst>
                <a:path w="506" h="1440">
                  <a:moveTo>
                    <a:pt x="506" y="0"/>
                  </a:moveTo>
                  <a:cubicBezTo>
                    <a:pt x="109" y="356"/>
                    <a:pt x="0" y="943"/>
                    <a:pt x="171"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2" name="Freeform 23">
              <a:extLst>
                <a:ext uri="{FF2B5EF4-FFF2-40B4-BE49-F238E27FC236}">
                  <a16:creationId xmlns:a16="http://schemas.microsoft.com/office/drawing/2014/main" id="{EDB255E9-A3E2-4098-99A1-FE38FAD15DA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9525"/>
              <a:ext cx="1771650" cy="3198813"/>
            </a:xfrm>
            <a:custGeom>
              <a:avLst/>
              <a:gdLst>
                <a:gd name="T0" fmla="*/ 373 w 373"/>
                <a:gd name="T1" fmla="*/ 0 h 673"/>
                <a:gd name="T2" fmla="*/ 0 w 373"/>
                <a:gd name="T3" fmla="*/ 673 h 673"/>
              </a:gdLst>
              <a:ahLst/>
              <a:cxnLst>
                <a:cxn ang="0">
                  <a:pos x="T0" y="T1"/>
                </a:cxn>
                <a:cxn ang="0">
                  <a:pos x="T2" y="T3"/>
                </a:cxn>
              </a:cxnLst>
              <a:rect l="0" t="0" r="r" b="b"/>
              <a:pathLst>
                <a:path w="373" h="673">
                  <a:moveTo>
                    <a:pt x="373" y="0"/>
                  </a:moveTo>
                  <a:cubicBezTo>
                    <a:pt x="175" y="183"/>
                    <a:pt x="51" y="409"/>
                    <a:pt x="0" y="673"/>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3" name="Freeform 24">
              <a:extLst>
                <a:ext uri="{FF2B5EF4-FFF2-40B4-BE49-F238E27FC236}">
                  <a16:creationId xmlns:a16="http://schemas.microsoft.com/office/drawing/2014/main" id="{D2507F2A-27AF-4833-8273-5FC9A988639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63" y="6016625"/>
              <a:ext cx="214313" cy="827088"/>
            </a:xfrm>
            <a:custGeom>
              <a:avLst/>
              <a:gdLst>
                <a:gd name="T0" fmla="*/ 0 w 45"/>
                <a:gd name="T1" fmla="*/ 0 h 174"/>
                <a:gd name="T2" fmla="*/ 45 w 45"/>
                <a:gd name="T3" fmla="*/ 174 h 174"/>
              </a:gdLst>
              <a:ahLst/>
              <a:cxnLst>
                <a:cxn ang="0">
                  <a:pos x="T0" y="T1"/>
                </a:cxn>
                <a:cxn ang="0">
                  <a:pos x="T2" y="T3"/>
                </a:cxn>
              </a:cxnLst>
              <a:rect l="0" t="0" r="r" b="b"/>
              <a:pathLst>
                <a:path w="45" h="174">
                  <a:moveTo>
                    <a:pt x="0" y="0"/>
                  </a:moveTo>
                  <a:cubicBezTo>
                    <a:pt x="11" y="59"/>
                    <a:pt x="26" y="118"/>
                    <a:pt x="45" y="174"/>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4" name="Freeform 25">
              <a:extLst>
                <a:ext uri="{FF2B5EF4-FFF2-40B4-BE49-F238E27FC236}">
                  <a16:creationId xmlns:a16="http://schemas.microsoft.com/office/drawing/2014/main" id="{8DFB8904-0CB8-45AD-ABD2-F7A582365E8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0"/>
              <a:ext cx="1562100" cy="2228850"/>
            </a:xfrm>
            <a:custGeom>
              <a:avLst/>
              <a:gdLst>
                <a:gd name="T0" fmla="*/ 329 w 329"/>
                <a:gd name="T1" fmla="*/ 0 h 469"/>
                <a:gd name="T2" fmla="*/ 0 w 329"/>
                <a:gd name="T3" fmla="*/ 469 h 469"/>
              </a:gdLst>
              <a:ahLst/>
              <a:cxnLst>
                <a:cxn ang="0">
                  <a:pos x="T0" y="T1"/>
                </a:cxn>
                <a:cxn ang="0">
                  <a:pos x="T2" y="T3"/>
                </a:cxn>
              </a:cxnLst>
              <a:rect l="0" t="0" r="r" b="b"/>
              <a:pathLst>
                <a:path w="329" h="469">
                  <a:moveTo>
                    <a:pt x="329" y="0"/>
                  </a:moveTo>
                  <a:cubicBezTo>
                    <a:pt x="189" y="133"/>
                    <a:pt x="69" y="288"/>
                    <a:pt x="0" y="469"/>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5" name="TextBox 4">
            <a:extLst>
              <a:ext uri="{FF2B5EF4-FFF2-40B4-BE49-F238E27FC236}">
                <a16:creationId xmlns:a16="http://schemas.microsoft.com/office/drawing/2014/main" id="{DBD0ACF7-0DB2-F450-2FFA-4B1325D0CBF8}"/>
              </a:ext>
            </a:extLst>
          </p:cNvPr>
          <p:cNvSpPr txBox="1"/>
          <p:nvPr/>
        </p:nvSpPr>
        <p:spPr>
          <a:xfrm>
            <a:off x="1759287" y="798881"/>
            <a:ext cx="8673427" cy="1048945"/>
          </a:xfrm>
          <a:prstGeom prst="rect">
            <a:avLst/>
          </a:prstGeom>
        </p:spPr>
        <p:txBody>
          <a:bodyPr rot="0" spcFirstLastPara="0" vertOverflow="overflow" horzOverflow="overflow" vert="horz" lIns="228600" tIns="228600" rIns="228600" bIns="228600" numCol="1" spcCol="0" rtlCol="0" fromWordArt="0" anchor="ctr" anchorCtr="0" forceAA="0" compatLnSpc="1">
            <a:prstTxWarp prst="textNoShape">
              <a:avLst/>
            </a:prstTxWarp>
            <a:normAutofit/>
          </a:bodyPr>
          <a:lstStyle/>
          <a:p>
            <a:pPr algn="ctr" defTabSz="914400">
              <a:lnSpc>
                <a:spcPct val="85000"/>
              </a:lnSpc>
              <a:spcBef>
                <a:spcPct val="0"/>
              </a:spcBef>
              <a:spcAft>
                <a:spcPts val="600"/>
              </a:spcAft>
            </a:pPr>
            <a:r>
              <a:rPr lang="en-US" sz="4400" b="0" i="0" kern="1200" cap="none" spc="-150">
                <a:effectLst/>
                <a:ea typeface="+mj-ea"/>
                <a:cs typeface="+mj-cs"/>
              </a:rPr>
              <a:t>Final Predictive Modeling Process</a:t>
            </a:r>
          </a:p>
        </p:txBody>
      </p:sp>
      <p:graphicFrame>
        <p:nvGraphicFramePr>
          <p:cNvPr id="87" name="Content Placeholder 2">
            <a:extLst>
              <a:ext uri="{FF2B5EF4-FFF2-40B4-BE49-F238E27FC236}">
                <a16:creationId xmlns:a16="http://schemas.microsoft.com/office/drawing/2014/main" id="{FD1CB445-B0E9-0AC3-87D5-325132967B67}"/>
              </a:ext>
            </a:extLst>
          </p:cNvPr>
          <p:cNvGraphicFramePr>
            <a:graphicFrameLocks noGrp="1"/>
          </p:cNvGraphicFramePr>
          <p:nvPr>
            <p:ph idx="1"/>
            <p:extLst>
              <p:ext uri="{D42A27DB-BD31-4B8C-83A1-F6EECF244321}">
                <p14:modId xmlns:p14="http://schemas.microsoft.com/office/powerpoint/2010/main" val="509238071"/>
              </p:ext>
            </p:extLst>
          </p:nvPr>
        </p:nvGraphicFramePr>
        <p:xfrm>
          <a:off x="964095" y="1981176"/>
          <a:ext cx="10263503" cy="39126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Picture 4">
            <a:extLst>
              <a:ext uri="{FF2B5EF4-FFF2-40B4-BE49-F238E27FC236}">
                <a16:creationId xmlns:a16="http://schemas.microsoft.com/office/drawing/2014/main" id="{AA58929C-F094-ADCC-97D3-200C45285DF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26408" y="-663307"/>
            <a:ext cx="2326245" cy="2127358"/>
          </a:xfrm>
          <a:prstGeom prst="rect">
            <a:avLst/>
          </a:prstGeom>
          <a:noFill/>
          <a:extLst>
            <a:ext uri="{909E8E84-426E-40DD-AFC4-6F175D3DCCD1}">
              <a14:hiddenFill xmlns:a14="http://schemas.microsoft.com/office/drawing/2010/main">
                <a:solidFill>
                  <a:srgbClr val="FFFFFF"/>
                </a:solidFill>
              </a14:hiddenFill>
            </a:ext>
          </a:extLst>
        </p:spPr>
      </p:pic>
      <p:pic>
        <p:nvPicPr>
          <p:cNvPr id="4" name="Content Placeholder 6" descr="A red text on a black background&#10;&#10;AI-generated content may be incorrect.">
            <a:extLst>
              <a:ext uri="{FF2B5EF4-FFF2-40B4-BE49-F238E27FC236}">
                <a16:creationId xmlns:a16="http://schemas.microsoft.com/office/drawing/2014/main" id="{730D53BC-0EB1-A1B1-B636-4D7E3F8B60DA}"/>
              </a:ext>
            </a:extLst>
          </p:cNvPr>
          <p:cNvPicPr>
            <a:picLocks noChangeAspect="1"/>
          </p:cNvPicPr>
          <p:nvPr/>
        </p:nvPicPr>
        <p:blipFill>
          <a:blip r:embed="rId9"/>
          <a:stretch>
            <a:fillRect/>
          </a:stretch>
        </p:blipFill>
        <p:spPr>
          <a:xfrm>
            <a:off x="102098" y="-169011"/>
            <a:ext cx="1708149" cy="1138767"/>
          </a:xfrm>
          <a:prstGeom prst="rect">
            <a:avLst/>
          </a:prstGeom>
        </p:spPr>
      </p:pic>
    </p:spTree>
    <p:extLst>
      <p:ext uri="{BB962C8B-B14F-4D97-AF65-F5344CB8AC3E}">
        <p14:creationId xmlns:p14="http://schemas.microsoft.com/office/powerpoint/2010/main" val="19113102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AF19E81-E4CC-6FDF-B755-275DB460DB0D}"/>
            </a:ext>
          </a:extLst>
        </p:cNvPr>
        <p:cNvGrpSpPr/>
        <p:nvPr/>
      </p:nvGrpSpPr>
      <p:grpSpPr>
        <a:xfrm>
          <a:off x="0" y="0"/>
          <a:ext cx="0" cy="0"/>
          <a:chOff x="0" y="0"/>
          <a:chExt cx="0" cy="0"/>
        </a:xfrm>
      </p:grpSpPr>
      <p:sp>
        <p:nvSpPr>
          <p:cNvPr id="68" name="Rectangle 67">
            <a:extLst>
              <a:ext uri="{FF2B5EF4-FFF2-40B4-BE49-F238E27FC236}">
                <a16:creationId xmlns:a16="http://schemas.microsoft.com/office/drawing/2014/main" id="{E2366EBA-92FD-44AE-87A9-25E5135EB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692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0" name="Group 69">
            <a:extLst>
              <a:ext uri="{FF2B5EF4-FFF2-40B4-BE49-F238E27FC236}">
                <a16:creationId xmlns:a16="http://schemas.microsoft.com/office/drawing/2014/main" id="{B437F5FC-01F7-4EB4-81E7-C27D917E95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71" name="Freeform 5">
              <a:extLst>
                <a:ext uri="{FF2B5EF4-FFF2-40B4-BE49-F238E27FC236}">
                  <a16:creationId xmlns:a16="http://schemas.microsoft.com/office/drawing/2014/main" id="{4B0CFF10-4805-4BFA-961B-1F60DAEB9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2" name="Freeform 6">
              <a:extLst>
                <a:ext uri="{FF2B5EF4-FFF2-40B4-BE49-F238E27FC236}">
                  <a16:creationId xmlns:a16="http://schemas.microsoft.com/office/drawing/2014/main" id="{BE054536-C03E-4857-B4AE-D687A58F9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3" name="Freeform 7">
              <a:extLst>
                <a:ext uri="{FF2B5EF4-FFF2-40B4-BE49-F238E27FC236}">
                  <a16:creationId xmlns:a16="http://schemas.microsoft.com/office/drawing/2014/main" id="{FE33E51C-23D8-43F5-98C4-A2ED2C4C99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4" name="Freeform 8">
              <a:extLst>
                <a:ext uri="{FF2B5EF4-FFF2-40B4-BE49-F238E27FC236}">
                  <a16:creationId xmlns:a16="http://schemas.microsoft.com/office/drawing/2014/main" id="{89E18891-DEB2-4CFD-A907-2868B2A910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5" name="Freeform 9">
              <a:extLst>
                <a:ext uri="{FF2B5EF4-FFF2-40B4-BE49-F238E27FC236}">
                  <a16:creationId xmlns:a16="http://schemas.microsoft.com/office/drawing/2014/main" id="{0002C1BB-DB60-4314-A2FC-203E54D94C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6" name="Freeform 10">
              <a:extLst>
                <a:ext uri="{FF2B5EF4-FFF2-40B4-BE49-F238E27FC236}">
                  <a16:creationId xmlns:a16="http://schemas.microsoft.com/office/drawing/2014/main" id="{9B75BDFA-6D78-4FB1-9F21-5280855C49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7" name="Freeform 11">
              <a:extLst>
                <a:ext uri="{FF2B5EF4-FFF2-40B4-BE49-F238E27FC236}">
                  <a16:creationId xmlns:a16="http://schemas.microsoft.com/office/drawing/2014/main" id="{0B632D6B-A327-41AB-BBCF-9A03AD2AB7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8" name="Freeform 12">
              <a:extLst>
                <a:ext uri="{FF2B5EF4-FFF2-40B4-BE49-F238E27FC236}">
                  <a16:creationId xmlns:a16="http://schemas.microsoft.com/office/drawing/2014/main" id="{F514BBC5-1736-4813-BECB-5A6B6738E5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9" name="Freeform 13">
              <a:extLst>
                <a:ext uri="{FF2B5EF4-FFF2-40B4-BE49-F238E27FC236}">
                  <a16:creationId xmlns:a16="http://schemas.microsoft.com/office/drawing/2014/main" id="{94A2C868-7AEC-4209-BFA3-7185B11D3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0" name="Freeform 14">
              <a:extLst>
                <a:ext uri="{FF2B5EF4-FFF2-40B4-BE49-F238E27FC236}">
                  <a16:creationId xmlns:a16="http://schemas.microsoft.com/office/drawing/2014/main" id="{FF56CB70-2B25-4695-ADC8-6092D0D112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1" name="Freeform 15">
              <a:extLst>
                <a:ext uri="{FF2B5EF4-FFF2-40B4-BE49-F238E27FC236}">
                  <a16:creationId xmlns:a16="http://schemas.microsoft.com/office/drawing/2014/main" id="{BA411BEF-2182-4458-B9AF-1634B5C2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 name="Freeform 16">
              <a:extLst>
                <a:ext uri="{FF2B5EF4-FFF2-40B4-BE49-F238E27FC236}">
                  <a16:creationId xmlns:a16="http://schemas.microsoft.com/office/drawing/2014/main" id="{53F27E63-3F11-4C85-AC72-1EE8508C4C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Freeform 17">
              <a:extLst>
                <a:ext uri="{FF2B5EF4-FFF2-40B4-BE49-F238E27FC236}">
                  <a16:creationId xmlns:a16="http://schemas.microsoft.com/office/drawing/2014/main" id="{68B589BA-F70F-4E0B-94B9-EEB83EDF3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4" name="Freeform 18">
              <a:extLst>
                <a:ext uri="{FF2B5EF4-FFF2-40B4-BE49-F238E27FC236}">
                  <a16:creationId xmlns:a16="http://schemas.microsoft.com/office/drawing/2014/main" id="{9D0B991D-CB0A-415F-8D77-A5565F66F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 name="Freeform 19">
              <a:extLst>
                <a:ext uri="{FF2B5EF4-FFF2-40B4-BE49-F238E27FC236}">
                  <a16:creationId xmlns:a16="http://schemas.microsoft.com/office/drawing/2014/main" id="{701E99DE-74F0-41D1-BBF4-5A57053BB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20">
              <a:extLst>
                <a:ext uri="{FF2B5EF4-FFF2-40B4-BE49-F238E27FC236}">
                  <a16:creationId xmlns:a16="http://schemas.microsoft.com/office/drawing/2014/main" id="{C02EE40A-8F17-4182-9495-9506463B79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 name="Freeform 21">
              <a:extLst>
                <a:ext uri="{FF2B5EF4-FFF2-40B4-BE49-F238E27FC236}">
                  <a16:creationId xmlns:a16="http://schemas.microsoft.com/office/drawing/2014/main" id="{924210CA-0A35-4127-925F-D4084B7DC3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 name="Freeform 22">
              <a:extLst>
                <a:ext uri="{FF2B5EF4-FFF2-40B4-BE49-F238E27FC236}">
                  <a16:creationId xmlns:a16="http://schemas.microsoft.com/office/drawing/2014/main" id="{DC13CEF1-DD2D-474C-B81C-820CEF3D9C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 name="Freeform 23">
              <a:extLst>
                <a:ext uri="{FF2B5EF4-FFF2-40B4-BE49-F238E27FC236}">
                  <a16:creationId xmlns:a16="http://schemas.microsoft.com/office/drawing/2014/main" id="{F889481A-8038-43E6-8EF1-A5F802CEDF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 name="Freeform 24">
              <a:extLst>
                <a:ext uri="{FF2B5EF4-FFF2-40B4-BE49-F238E27FC236}">
                  <a16:creationId xmlns:a16="http://schemas.microsoft.com/office/drawing/2014/main" id="{128BD14A-9093-4854-A73A-F666B2ED2D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25">
              <a:extLst>
                <a:ext uri="{FF2B5EF4-FFF2-40B4-BE49-F238E27FC236}">
                  <a16:creationId xmlns:a16="http://schemas.microsoft.com/office/drawing/2014/main" id="{22D884F4-76EC-4371-B903-E79CF191E3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useBgFill="1">
        <p:nvSpPr>
          <p:cNvPr id="93" name="Rectangle 92">
            <a:extLst>
              <a:ext uri="{FF2B5EF4-FFF2-40B4-BE49-F238E27FC236}">
                <a16:creationId xmlns:a16="http://schemas.microsoft.com/office/drawing/2014/main" id="{7C462C46-EFB7-4580-9921-DFC346FCC3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23665" y="0"/>
            <a:ext cx="10268336" cy="68692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Isosceles Triangle 94">
            <a:extLst>
              <a:ext uri="{FF2B5EF4-FFF2-40B4-BE49-F238E27FC236}">
                <a16:creationId xmlns:a16="http://schemas.microsoft.com/office/drawing/2014/main" id="{B8B918B4-AB10-4E3A-916E-A9625586E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97903" y="954813"/>
            <a:ext cx="300774" cy="2592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0" name="Picture 9" descr="A magnifying glass over a screen&#10;&#10;AI-generated content may be incorrect.">
            <a:extLst>
              <a:ext uri="{FF2B5EF4-FFF2-40B4-BE49-F238E27FC236}">
                <a16:creationId xmlns:a16="http://schemas.microsoft.com/office/drawing/2014/main" id="{80028691-4E7B-878B-8756-9E6B172A81F7}"/>
              </a:ext>
            </a:extLst>
          </p:cNvPr>
          <p:cNvPicPr>
            <a:picLocks noChangeAspect="1"/>
          </p:cNvPicPr>
          <p:nvPr/>
        </p:nvPicPr>
        <p:blipFill>
          <a:blip r:embed="rId3">
            <a:alphaModFix/>
            <a:duotone>
              <a:schemeClr val="bg2">
                <a:shade val="45000"/>
                <a:satMod val="135000"/>
              </a:schemeClr>
              <a:prstClr val="white"/>
            </a:duotone>
            <a:extLst>
              <a:ext uri="{BEBA8EAE-BF5A-486C-A8C5-ECC9F3942E4B}">
                <a14:imgProps xmlns:a14="http://schemas.microsoft.com/office/drawing/2010/main">
                  <a14:imgLayer r:embed="rId4">
                    <a14:imgEffect>
                      <a14:sharpenSoften amount="29000"/>
                    </a14:imgEffect>
                    <a14:imgEffect>
                      <a14:saturation sat="0"/>
                    </a14:imgEffect>
                    <a14:imgEffect>
                      <a14:brightnessContrast bright="20000"/>
                    </a14:imgEffect>
                  </a14:imgLayer>
                </a14:imgProps>
              </a:ext>
            </a:extLst>
          </a:blip>
          <a:srcRect l="9623"/>
          <a:stretch>
            <a:fillRect/>
          </a:stretch>
        </p:blipFill>
        <p:spPr>
          <a:xfrm>
            <a:off x="-2484933" y="1424"/>
            <a:ext cx="7718720" cy="6867779"/>
          </a:xfrm>
          <a:prstGeom prst="rect">
            <a:avLst/>
          </a:prstGeom>
          <a:effectLst>
            <a:outerShdw blurRad="50800" dist="38100" dir="2700000" algn="tl" rotWithShape="0">
              <a:prstClr val="black">
                <a:alpha val="40000"/>
              </a:prstClr>
            </a:outerShdw>
          </a:effectLst>
        </p:spPr>
      </p:pic>
      <p:graphicFrame>
        <p:nvGraphicFramePr>
          <p:cNvPr id="12" name="Content Placeholder 5">
            <a:extLst>
              <a:ext uri="{FF2B5EF4-FFF2-40B4-BE49-F238E27FC236}">
                <a16:creationId xmlns:a16="http://schemas.microsoft.com/office/drawing/2014/main" id="{15C39A2B-993D-378A-DE46-0A718C0BFAD1}"/>
              </a:ext>
            </a:extLst>
          </p:cNvPr>
          <p:cNvGraphicFramePr>
            <a:graphicFrameLocks/>
          </p:cNvGraphicFramePr>
          <p:nvPr>
            <p:extLst>
              <p:ext uri="{D42A27DB-BD31-4B8C-83A1-F6EECF244321}">
                <p14:modId xmlns:p14="http://schemas.microsoft.com/office/powerpoint/2010/main" val="4252946699"/>
              </p:ext>
            </p:extLst>
          </p:nvPr>
        </p:nvGraphicFramePr>
        <p:xfrm>
          <a:off x="5742875" y="1824101"/>
          <a:ext cx="5198542" cy="425983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cxnSp>
        <p:nvCxnSpPr>
          <p:cNvPr id="19" name="Straight Connector 18">
            <a:extLst>
              <a:ext uri="{FF2B5EF4-FFF2-40B4-BE49-F238E27FC236}">
                <a16:creationId xmlns:a16="http://schemas.microsoft.com/office/drawing/2014/main" id="{94124C62-02AF-7309-D931-530449549DE5}"/>
              </a:ext>
            </a:extLst>
          </p:cNvPr>
          <p:cNvCxnSpPr/>
          <p:nvPr/>
        </p:nvCxnSpPr>
        <p:spPr>
          <a:xfrm>
            <a:off x="5753313" y="2753698"/>
            <a:ext cx="5839672" cy="0"/>
          </a:xfrm>
          <a:prstGeom prst="line">
            <a:avLst/>
          </a:prstGeom>
          <a:ln w="47625"/>
          <a:scene3d>
            <a:camera prst="orthographicFront"/>
            <a:lightRig rig="threePt" dir="t"/>
          </a:scene3d>
          <a:sp3d>
            <a:bevelT prst="relaxedInset"/>
            <a:bevelB w="152400" h="50800" prst="softRound"/>
          </a:sp3d>
        </p:spPr>
        <p:style>
          <a:lnRef idx="3">
            <a:schemeClr val="accent1"/>
          </a:lnRef>
          <a:fillRef idx="0">
            <a:schemeClr val="accent1"/>
          </a:fillRef>
          <a:effectRef idx="2">
            <a:schemeClr val="accent1"/>
          </a:effectRef>
          <a:fontRef idx="minor">
            <a:schemeClr val="tx1"/>
          </a:fontRef>
        </p:style>
      </p:cxnSp>
      <p:cxnSp>
        <p:nvCxnSpPr>
          <p:cNvPr id="20" name="Straight Connector 19">
            <a:extLst>
              <a:ext uri="{FF2B5EF4-FFF2-40B4-BE49-F238E27FC236}">
                <a16:creationId xmlns:a16="http://schemas.microsoft.com/office/drawing/2014/main" id="{23236E6F-801D-A33E-1664-85FF1E5E224A}"/>
              </a:ext>
            </a:extLst>
          </p:cNvPr>
          <p:cNvCxnSpPr/>
          <p:nvPr/>
        </p:nvCxnSpPr>
        <p:spPr>
          <a:xfrm>
            <a:off x="5753313" y="3429000"/>
            <a:ext cx="5839672" cy="0"/>
          </a:xfrm>
          <a:prstGeom prst="line">
            <a:avLst/>
          </a:prstGeom>
          <a:ln w="47625"/>
          <a:scene3d>
            <a:camera prst="orthographicFront"/>
            <a:lightRig rig="threePt" dir="t"/>
          </a:scene3d>
          <a:sp3d>
            <a:bevelT prst="relaxedInset"/>
            <a:bevelB w="152400" h="50800" prst="softRound"/>
          </a:sp3d>
        </p:spPr>
        <p:style>
          <a:lnRef idx="3">
            <a:schemeClr val="accent1"/>
          </a:lnRef>
          <a:fillRef idx="0">
            <a:schemeClr val="accent1"/>
          </a:fillRef>
          <a:effectRef idx="2">
            <a:schemeClr val="accent1"/>
          </a:effectRef>
          <a:fontRef idx="minor">
            <a:schemeClr val="tx1"/>
          </a:fontRef>
        </p:style>
      </p:cxnSp>
      <p:cxnSp>
        <p:nvCxnSpPr>
          <p:cNvPr id="21" name="Straight Connector 20">
            <a:extLst>
              <a:ext uri="{FF2B5EF4-FFF2-40B4-BE49-F238E27FC236}">
                <a16:creationId xmlns:a16="http://schemas.microsoft.com/office/drawing/2014/main" id="{98D06D83-49E3-B306-19E5-E31DA6280384}"/>
              </a:ext>
            </a:extLst>
          </p:cNvPr>
          <p:cNvCxnSpPr/>
          <p:nvPr/>
        </p:nvCxnSpPr>
        <p:spPr>
          <a:xfrm>
            <a:off x="5753313" y="4480406"/>
            <a:ext cx="5839672" cy="0"/>
          </a:xfrm>
          <a:prstGeom prst="line">
            <a:avLst/>
          </a:prstGeom>
          <a:ln w="47625"/>
          <a:scene3d>
            <a:camera prst="orthographicFront"/>
            <a:lightRig rig="threePt" dir="t"/>
          </a:scene3d>
          <a:sp3d>
            <a:bevelT prst="relaxedInset"/>
            <a:bevelB w="152400" h="50800" prst="softRound"/>
          </a:sp3d>
        </p:spPr>
        <p:style>
          <a:lnRef idx="3">
            <a:schemeClr val="accent1"/>
          </a:lnRef>
          <a:fillRef idx="0">
            <a:schemeClr val="accent1"/>
          </a:fillRef>
          <a:effectRef idx="2">
            <a:schemeClr val="accent1"/>
          </a:effectRef>
          <a:fontRef idx="minor">
            <a:schemeClr val="tx1"/>
          </a:fontRef>
        </p:style>
      </p:cxnSp>
      <p:cxnSp>
        <p:nvCxnSpPr>
          <p:cNvPr id="29" name="Straight Connector 28">
            <a:extLst>
              <a:ext uri="{FF2B5EF4-FFF2-40B4-BE49-F238E27FC236}">
                <a16:creationId xmlns:a16="http://schemas.microsoft.com/office/drawing/2014/main" id="{AD5DB2AA-90A4-6414-AF02-CDA551261F81}"/>
              </a:ext>
            </a:extLst>
          </p:cNvPr>
          <p:cNvCxnSpPr/>
          <p:nvPr/>
        </p:nvCxnSpPr>
        <p:spPr>
          <a:xfrm>
            <a:off x="5753313" y="5408613"/>
            <a:ext cx="5839672" cy="0"/>
          </a:xfrm>
          <a:prstGeom prst="line">
            <a:avLst/>
          </a:prstGeom>
          <a:ln w="47625"/>
          <a:scene3d>
            <a:camera prst="orthographicFront"/>
            <a:lightRig rig="threePt" dir="t"/>
          </a:scene3d>
          <a:sp3d>
            <a:bevelT prst="relaxedInset"/>
            <a:bevelB w="152400" h="50800" prst="softRound"/>
          </a:sp3d>
        </p:spPr>
        <p:style>
          <a:lnRef idx="3">
            <a:schemeClr val="accent1"/>
          </a:lnRef>
          <a:fillRef idx="0">
            <a:schemeClr val="accent1"/>
          </a:fillRef>
          <a:effectRef idx="2">
            <a:schemeClr val="accent1"/>
          </a:effectRef>
          <a:fontRef idx="minor">
            <a:schemeClr val="tx1"/>
          </a:fontRef>
        </p:style>
      </p:cxnSp>
      <p:pic>
        <p:nvPicPr>
          <p:cNvPr id="3" name="Picture 4">
            <a:extLst>
              <a:ext uri="{FF2B5EF4-FFF2-40B4-BE49-F238E27FC236}">
                <a16:creationId xmlns:a16="http://schemas.microsoft.com/office/drawing/2014/main" id="{88AD7E3A-51BF-F090-03C1-EAB16257E7B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141692" y="-692057"/>
            <a:ext cx="2397913" cy="2127358"/>
          </a:xfrm>
          <a:prstGeom prst="rect">
            <a:avLst/>
          </a:prstGeom>
          <a:noFill/>
          <a:extLst>
            <a:ext uri="{909E8E84-426E-40DD-AFC4-6F175D3DCCD1}">
              <a14:hiddenFill xmlns:a14="http://schemas.microsoft.com/office/drawing/2010/main">
                <a:solidFill>
                  <a:srgbClr val="FFFFFF"/>
                </a:solidFill>
              </a14:hiddenFill>
            </a:ext>
          </a:extLst>
        </p:spPr>
      </p:pic>
      <p:pic>
        <p:nvPicPr>
          <p:cNvPr id="4" name="Content Placeholder 6" descr="A red text on a black background&#10;&#10;AI-generated content may be incorrect.">
            <a:extLst>
              <a:ext uri="{FF2B5EF4-FFF2-40B4-BE49-F238E27FC236}">
                <a16:creationId xmlns:a16="http://schemas.microsoft.com/office/drawing/2014/main" id="{615120D9-9CBB-7C55-14E2-83286E852128}"/>
              </a:ext>
            </a:extLst>
          </p:cNvPr>
          <p:cNvPicPr>
            <a:picLocks noChangeAspect="1"/>
          </p:cNvPicPr>
          <p:nvPr/>
        </p:nvPicPr>
        <p:blipFill>
          <a:blip r:embed="rId11"/>
          <a:stretch>
            <a:fillRect/>
          </a:stretch>
        </p:blipFill>
        <p:spPr>
          <a:xfrm>
            <a:off x="10447827" y="-197762"/>
            <a:ext cx="1708149" cy="1138767"/>
          </a:xfrm>
          <a:prstGeom prst="rect">
            <a:avLst/>
          </a:prstGeom>
        </p:spPr>
      </p:pic>
      <p:sp>
        <p:nvSpPr>
          <p:cNvPr id="2" name="TextBox 1">
            <a:extLst>
              <a:ext uri="{FF2B5EF4-FFF2-40B4-BE49-F238E27FC236}">
                <a16:creationId xmlns:a16="http://schemas.microsoft.com/office/drawing/2014/main" id="{EC84CFCF-0369-F9C4-3741-CD9166387ECD}"/>
              </a:ext>
            </a:extLst>
          </p:cNvPr>
          <p:cNvSpPr txBox="1"/>
          <p:nvPr/>
        </p:nvSpPr>
        <p:spPr>
          <a:xfrm>
            <a:off x="5487145" y="624484"/>
            <a:ext cx="6372008" cy="1524990"/>
          </a:xfrm>
          <a:prstGeom prst="rect">
            <a:avLst/>
          </a:prstGeom>
        </p:spPr>
        <p:txBody>
          <a:bodyPr rot="0" spcFirstLastPara="0" vertOverflow="overflow" horzOverflow="overflow" vert="horz" lIns="228600" tIns="228600" rIns="228600" bIns="228600" numCol="1" spcCol="0" rtlCol="0" fromWordArt="0" anchor="t" anchorCtr="0" forceAA="0" compatLnSpc="1">
            <a:prstTxWarp prst="textNoShape">
              <a:avLst/>
            </a:prstTxWarp>
            <a:noAutofit/>
          </a:bodyPr>
          <a:lstStyle/>
          <a:p>
            <a:pPr algn="ctr" defTabSz="914400">
              <a:lnSpc>
                <a:spcPct val="85000"/>
              </a:lnSpc>
              <a:spcBef>
                <a:spcPct val="0"/>
              </a:spcBef>
              <a:spcAft>
                <a:spcPts val="600"/>
              </a:spcAft>
            </a:pPr>
            <a:r>
              <a:rPr lang="en-US" sz="4400" spc="-150">
                <a:ea typeface="+mj-ea"/>
                <a:cs typeface="+mj-cs"/>
              </a:rPr>
              <a:t>Model Setup and Training</a:t>
            </a:r>
          </a:p>
          <a:p>
            <a:pPr algn="ctr" defTabSz="914400">
              <a:lnSpc>
                <a:spcPct val="85000"/>
              </a:lnSpc>
              <a:spcBef>
                <a:spcPct val="0"/>
              </a:spcBef>
              <a:spcAft>
                <a:spcPts val="600"/>
              </a:spcAft>
            </a:pPr>
            <a:endParaRPr lang="en-US" sz="4400" spc="-150">
              <a:ea typeface="+mj-ea"/>
              <a:cs typeface="+mj-cs"/>
            </a:endParaRPr>
          </a:p>
        </p:txBody>
      </p:sp>
    </p:spTree>
    <p:extLst>
      <p:ext uri="{BB962C8B-B14F-4D97-AF65-F5344CB8AC3E}">
        <p14:creationId xmlns:p14="http://schemas.microsoft.com/office/powerpoint/2010/main" val="28061411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2477A66-7781-8E2B-76B3-DBEECE5625E6}"/>
            </a:ext>
          </a:extLst>
        </p:cNvPr>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92AB022F-3E47-0C7D-654F-E625C3F2CB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2" name="Group 41">
            <a:extLst>
              <a:ext uri="{FF2B5EF4-FFF2-40B4-BE49-F238E27FC236}">
                <a16:creationId xmlns:a16="http://schemas.microsoft.com/office/drawing/2014/main" id="{0FA7F99C-F6B6-A2ED-881A-59AA22CBA5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43" name="Freeform 5">
              <a:extLst>
                <a:ext uri="{FF2B5EF4-FFF2-40B4-BE49-F238E27FC236}">
                  <a16:creationId xmlns:a16="http://schemas.microsoft.com/office/drawing/2014/main" id="{C90E294D-3442-5F6D-B230-D3CC70E8B7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accent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4" name="Freeform 6">
              <a:extLst>
                <a:ext uri="{FF2B5EF4-FFF2-40B4-BE49-F238E27FC236}">
                  <a16:creationId xmlns:a16="http://schemas.microsoft.com/office/drawing/2014/main" id="{E670C4BC-187A-F806-5BC8-2874A96253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accent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 name="Freeform 7">
              <a:extLst>
                <a:ext uri="{FF2B5EF4-FFF2-40B4-BE49-F238E27FC236}">
                  <a16:creationId xmlns:a16="http://schemas.microsoft.com/office/drawing/2014/main" id="{8F91C79F-EE6A-7041-3056-44099B356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accent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 name="Freeform 8">
              <a:extLst>
                <a:ext uri="{FF2B5EF4-FFF2-40B4-BE49-F238E27FC236}">
                  <a16:creationId xmlns:a16="http://schemas.microsoft.com/office/drawing/2014/main" id="{AB34316F-1815-3AFC-E2B0-05570155A3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accent1">
                  <a:alpha val="18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 name="Freeform 9">
              <a:extLst>
                <a:ext uri="{FF2B5EF4-FFF2-40B4-BE49-F238E27FC236}">
                  <a16:creationId xmlns:a16="http://schemas.microsoft.com/office/drawing/2014/main" id="{E06F0935-46DF-E562-DDF9-6B20A7A809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accent1">
                  <a:alpha val="18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 name="Freeform 10">
              <a:extLst>
                <a:ext uri="{FF2B5EF4-FFF2-40B4-BE49-F238E27FC236}">
                  <a16:creationId xmlns:a16="http://schemas.microsoft.com/office/drawing/2014/main" id="{C2B21F8C-7C47-D7A2-177C-0EDDC14874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accent1">
                  <a:alpha val="18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 name="Freeform 11">
              <a:extLst>
                <a:ext uri="{FF2B5EF4-FFF2-40B4-BE49-F238E27FC236}">
                  <a16:creationId xmlns:a16="http://schemas.microsoft.com/office/drawing/2014/main" id="{BFCEEA2F-1F64-D4DD-7932-F971D9B377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accent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 name="Freeform 12">
              <a:extLst>
                <a:ext uri="{FF2B5EF4-FFF2-40B4-BE49-F238E27FC236}">
                  <a16:creationId xmlns:a16="http://schemas.microsoft.com/office/drawing/2014/main" id="{5AE03DF5-F407-745F-E563-28A86D0A3F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accent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1" name="Freeform 13">
              <a:extLst>
                <a:ext uri="{FF2B5EF4-FFF2-40B4-BE49-F238E27FC236}">
                  <a16:creationId xmlns:a16="http://schemas.microsoft.com/office/drawing/2014/main" id="{1EB8AC1C-71C1-AADF-A271-364BA19A4D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accent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 name="Freeform 14">
              <a:extLst>
                <a:ext uri="{FF2B5EF4-FFF2-40B4-BE49-F238E27FC236}">
                  <a16:creationId xmlns:a16="http://schemas.microsoft.com/office/drawing/2014/main" id="{5CA8B521-8BE1-E336-2CB2-71479CAD55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accent1">
                  <a:alpha val="13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 name="Freeform 15">
              <a:extLst>
                <a:ext uri="{FF2B5EF4-FFF2-40B4-BE49-F238E27FC236}">
                  <a16:creationId xmlns:a16="http://schemas.microsoft.com/office/drawing/2014/main" id="{CBBA22C0-430E-BD33-A30E-2B8EC4E36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accent1">
                  <a:alpha val="12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 name="Freeform 16">
              <a:extLst>
                <a:ext uri="{FF2B5EF4-FFF2-40B4-BE49-F238E27FC236}">
                  <a16:creationId xmlns:a16="http://schemas.microsoft.com/office/drawing/2014/main" id="{13AA0A84-F4A9-A610-7E04-0320EDEF70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accent1">
                  <a:alpha val="13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 name="Freeform 17">
              <a:extLst>
                <a:ext uri="{FF2B5EF4-FFF2-40B4-BE49-F238E27FC236}">
                  <a16:creationId xmlns:a16="http://schemas.microsoft.com/office/drawing/2014/main" id="{30A176BA-1207-BED1-5FD6-44C8186589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accent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 name="Freeform 18">
              <a:extLst>
                <a:ext uri="{FF2B5EF4-FFF2-40B4-BE49-F238E27FC236}">
                  <a16:creationId xmlns:a16="http://schemas.microsoft.com/office/drawing/2014/main" id="{66DF9B63-7B1A-E738-9338-D6837F3C84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accent1">
                  <a:alpha val="12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 name="Freeform 19">
              <a:extLst>
                <a:ext uri="{FF2B5EF4-FFF2-40B4-BE49-F238E27FC236}">
                  <a16:creationId xmlns:a16="http://schemas.microsoft.com/office/drawing/2014/main" id="{46F2A795-B327-725F-D41D-FEE2CA52AE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accent1">
                  <a:alpha val="8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 name="Freeform 20">
              <a:extLst>
                <a:ext uri="{FF2B5EF4-FFF2-40B4-BE49-F238E27FC236}">
                  <a16:creationId xmlns:a16="http://schemas.microsoft.com/office/drawing/2014/main" id="{F2B60F79-FB01-CD19-F55F-1560C1DB64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accent1">
                  <a:alpha val="12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 name="Freeform 21">
              <a:extLst>
                <a:ext uri="{FF2B5EF4-FFF2-40B4-BE49-F238E27FC236}">
                  <a16:creationId xmlns:a16="http://schemas.microsoft.com/office/drawing/2014/main" id="{B5979D72-B77A-3BC9-6FC0-ADA917DA18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accent1">
                  <a:alpha val="12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 name="Freeform 22">
              <a:extLst>
                <a:ext uri="{FF2B5EF4-FFF2-40B4-BE49-F238E27FC236}">
                  <a16:creationId xmlns:a16="http://schemas.microsoft.com/office/drawing/2014/main" id="{EEA7BCD1-8EB1-3B97-6D04-AD77D1615F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accent1">
                  <a:alpha val="11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1" name="Freeform 23">
              <a:extLst>
                <a:ext uri="{FF2B5EF4-FFF2-40B4-BE49-F238E27FC236}">
                  <a16:creationId xmlns:a16="http://schemas.microsoft.com/office/drawing/2014/main" id="{886D14E0-7F14-0291-190E-F420C63BE6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accent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2" name="Freeform 24">
              <a:extLst>
                <a:ext uri="{FF2B5EF4-FFF2-40B4-BE49-F238E27FC236}">
                  <a16:creationId xmlns:a16="http://schemas.microsoft.com/office/drawing/2014/main" id="{52244FEB-0814-6CC7-E5FD-9F75414E6A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accent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3" name="Freeform 25">
              <a:extLst>
                <a:ext uri="{FF2B5EF4-FFF2-40B4-BE49-F238E27FC236}">
                  <a16:creationId xmlns:a16="http://schemas.microsoft.com/office/drawing/2014/main" id="{229E9374-A645-6F43-E9B3-C2FA2F2356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accent1">
                  <a:alpha val="8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3" name="TextBox 2">
            <a:extLst>
              <a:ext uri="{FF2B5EF4-FFF2-40B4-BE49-F238E27FC236}">
                <a16:creationId xmlns:a16="http://schemas.microsoft.com/office/drawing/2014/main" id="{47A7ED3D-EFB6-5E2A-C168-AE631B796523}"/>
              </a:ext>
            </a:extLst>
          </p:cNvPr>
          <p:cNvSpPr txBox="1"/>
          <p:nvPr/>
        </p:nvSpPr>
        <p:spPr>
          <a:xfrm>
            <a:off x="3356314" y="531569"/>
            <a:ext cx="5479371" cy="461665"/>
          </a:xfrm>
          <a:prstGeom prst="rect">
            <a:avLst/>
          </a:prstGeom>
          <a:noFill/>
        </p:spPr>
        <p:txBody>
          <a:bodyPr wrap="square" rtlCol="0">
            <a:spAutoFit/>
          </a:bodyPr>
          <a:lstStyle/>
          <a:p>
            <a:pPr algn="ctr"/>
            <a:r>
              <a:rPr lang="en-US" sz="2400"/>
              <a:t>Model Results and Evaluation</a:t>
            </a:r>
          </a:p>
        </p:txBody>
      </p:sp>
      <p:sp>
        <p:nvSpPr>
          <p:cNvPr id="4" name="TextBox 3">
            <a:extLst>
              <a:ext uri="{FF2B5EF4-FFF2-40B4-BE49-F238E27FC236}">
                <a16:creationId xmlns:a16="http://schemas.microsoft.com/office/drawing/2014/main" id="{0B9F7BDC-D0C2-384E-D705-C4F58030D648}"/>
              </a:ext>
            </a:extLst>
          </p:cNvPr>
          <p:cNvSpPr txBox="1"/>
          <p:nvPr/>
        </p:nvSpPr>
        <p:spPr>
          <a:xfrm>
            <a:off x="2600629" y="5270500"/>
            <a:ext cx="7002160" cy="1200329"/>
          </a:xfrm>
          <a:prstGeom prst="rect">
            <a:avLst/>
          </a:prstGeom>
          <a:noFill/>
        </p:spPr>
        <p:txBody>
          <a:bodyPr wrap="square" rtlCol="0">
            <a:spAutoFit/>
          </a:bodyPr>
          <a:lstStyle/>
          <a:p>
            <a:pPr marL="285750" indent="-285750">
              <a:buClr>
                <a:srgbClr val="FF0000"/>
              </a:buClr>
              <a:buFont typeface="Wingdings" panose="05000000000000000000" pitchFamily="2" charset="2"/>
              <a:buChar char="§"/>
            </a:pPr>
            <a:r>
              <a:rPr lang="en-US"/>
              <a:t>Evaluating accuracy and balance of our model’s performance</a:t>
            </a:r>
          </a:p>
          <a:p>
            <a:pPr marL="285750" indent="-285750">
              <a:buClr>
                <a:srgbClr val="FF0000"/>
              </a:buClr>
              <a:buFont typeface="Wingdings" panose="05000000000000000000" pitchFamily="2" charset="2"/>
              <a:buChar char="§"/>
            </a:pPr>
            <a:r>
              <a:rPr lang="en-US"/>
              <a:t>F1 scores &gt; 0.85</a:t>
            </a:r>
          </a:p>
          <a:p>
            <a:pPr marL="285750" indent="-285750">
              <a:buClr>
                <a:srgbClr val="FF0000"/>
              </a:buClr>
              <a:buFont typeface="Wingdings" panose="05000000000000000000" pitchFamily="2" charset="2"/>
              <a:buChar char="§"/>
            </a:pPr>
            <a:r>
              <a:rPr lang="en-US"/>
              <a:t>Precision and recall are closely aligned</a:t>
            </a:r>
          </a:p>
          <a:p>
            <a:pPr marL="285750" indent="-285750">
              <a:buClr>
                <a:srgbClr val="FF0000"/>
              </a:buClr>
              <a:buFont typeface="Wingdings" panose="05000000000000000000" pitchFamily="2" charset="2"/>
              <a:buChar char="§"/>
            </a:pPr>
            <a:endParaRPr lang="en-US"/>
          </a:p>
        </p:txBody>
      </p:sp>
      <p:pic>
        <p:nvPicPr>
          <p:cNvPr id="6" name="Picture 4">
            <a:extLst>
              <a:ext uri="{FF2B5EF4-FFF2-40B4-BE49-F238E27FC236}">
                <a16:creationId xmlns:a16="http://schemas.microsoft.com/office/drawing/2014/main" id="{FE768E14-0944-20D3-C97F-31BDD79914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6408" y="-663307"/>
            <a:ext cx="2326245" cy="2127358"/>
          </a:xfrm>
          <a:prstGeom prst="rect">
            <a:avLst/>
          </a:prstGeom>
          <a:noFill/>
          <a:extLst>
            <a:ext uri="{909E8E84-426E-40DD-AFC4-6F175D3DCCD1}">
              <a14:hiddenFill xmlns:a14="http://schemas.microsoft.com/office/drawing/2010/main">
                <a:solidFill>
                  <a:srgbClr val="FFFFFF"/>
                </a:solidFill>
              </a14:hiddenFill>
            </a:ext>
          </a:extLst>
        </p:spPr>
      </p:pic>
      <p:pic>
        <p:nvPicPr>
          <p:cNvPr id="8" name="Content Placeholder 6" descr="A red text on a black background&#10;&#10;AI-generated content may be incorrect.">
            <a:extLst>
              <a:ext uri="{FF2B5EF4-FFF2-40B4-BE49-F238E27FC236}">
                <a16:creationId xmlns:a16="http://schemas.microsoft.com/office/drawing/2014/main" id="{30E95EFC-924C-8190-26B2-5D54DF47580A}"/>
              </a:ext>
            </a:extLst>
          </p:cNvPr>
          <p:cNvPicPr>
            <a:picLocks noChangeAspect="1"/>
          </p:cNvPicPr>
          <p:nvPr/>
        </p:nvPicPr>
        <p:blipFill>
          <a:blip r:embed="rId4"/>
          <a:stretch>
            <a:fillRect/>
          </a:stretch>
        </p:blipFill>
        <p:spPr>
          <a:xfrm>
            <a:off x="102098" y="-169011"/>
            <a:ext cx="1708149" cy="1138767"/>
          </a:xfrm>
          <a:prstGeom prst="rect">
            <a:avLst/>
          </a:prstGeom>
        </p:spPr>
      </p:pic>
      <p:graphicFrame>
        <p:nvGraphicFramePr>
          <p:cNvPr id="9" name="Chart 8">
            <a:extLst>
              <a:ext uri="{FF2B5EF4-FFF2-40B4-BE49-F238E27FC236}">
                <a16:creationId xmlns:a16="http://schemas.microsoft.com/office/drawing/2014/main" id="{CC7F535D-3F1F-2108-4231-C5985A664688}"/>
              </a:ext>
            </a:extLst>
          </p:cNvPr>
          <p:cNvGraphicFramePr>
            <a:graphicFrameLocks/>
          </p:cNvGraphicFramePr>
          <p:nvPr>
            <p:extLst>
              <p:ext uri="{D42A27DB-BD31-4B8C-83A1-F6EECF244321}">
                <p14:modId xmlns:p14="http://schemas.microsoft.com/office/powerpoint/2010/main" val="3621480492"/>
              </p:ext>
            </p:extLst>
          </p:nvPr>
        </p:nvGraphicFramePr>
        <p:xfrm>
          <a:off x="1120775" y="900853"/>
          <a:ext cx="10014585" cy="4369647"/>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42033015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DC7ED2E-07C2-C359-6272-2455DC67CD07}"/>
            </a:ext>
          </a:extLst>
        </p:cNvPr>
        <p:cNvGrpSpPr/>
        <p:nvPr/>
      </p:nvGrpSpPr>
      <p:grpSpPr>
        <a:xfrm>
          <a:off x="0" y="0"/>
          <a:ext cx="0" cy="0"/>
          <a:chOff x="0" y="0"/>
          <a:chExt cx="0" cy="0"/>
        </a:xfrm>
      </p:grpSpPr>
      <p:sp useBgFill="1">
        <p:nvSpPr>
          <p:cNvPr id="70" name="Rectangle 69">
            <a:extLst>
              <a:ext uri="{FF2B5EF4-FFF2-40B4-BE49-F238E27FC236}">
                <a16:creationId xmlns:a16="http://schemas.microsoft.com/office/drawing/2014/main" id="{982413CC-69E6-4BDA-A88D-E4EF8F95B2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2" name="Group 71">
            <a:extLst>
              <a:ext uri="{FF2B5EF4-FFF2-40B4-BE49-F238E27FC236}">
                <a16:creationId xmlns:a16="http://schemas.microsoft.com/office/drawing/2014/main" id="{4F1F7357-8633-4CE7-BF80-475EE8A2FAE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73" name="Freeform 5">
              <a:extLst>
                <a:ext uri="{FF2B5EF4-FFF2-40B4-BE49-F238E27FC236}">
                  <a16:creationId xmlns:a16="http://schemas.microsoft.com/office/drawing/2014/main" id="{E402FE4E-C12D-497C-AF81-F08E4E02B45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306513" y="0"/>
              <a:ext cx="3862388" cy="6843713"/>
            </a:xfrm>
            <a:custGeom>
              <a:avLst/>
              <a:gdLst>
                <a:gd name="T0" fmla="*/ 813 w 813"/>
                <a:gd name="T1" fmla="*/ 0 h 1440"/>
                <a:gd name="T2" fmla="*/ 435 w 813"/>
                <a:gd name="T3" fmla="*/ 1440 h 1440"/>
              </a:gdLst>
              <a:ahLst/>
              <a:cxnLst>
                <a:cxn ang="0">
                  <a:pos x="T0" y="T1"/>
                </a:cxn>
                <a:cxn ang="0">
                  <a:pos x="T2" y="T3"/>
                </a:cxn>
              </a:cxnLst>
              <a:rect l="0" t="0" r="r" b="b"/>
              <a:pathLst>
                <a:path w="813" h="1440">
                  <a:moveTo>
                    <a:pt x="813" y="0"/>
                  </a:moveTo>
                  <a:cubicBezTo>
                    <a:pt x="331" y="221"/>
                    <a:pt x="0" y="1039"/>
                    <a:pt x="435"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4" name="Freeform 6">
              <a:extLst>
                <a:ext uri="{FF2B5EF4-FFF2-40B4-BE49-F238E27FC236}">
                  <a16:creationId xmlns:a16="http://schemas.microsoft.com/office/drawing/2014/main" id="{59247B10-170D-4E62-849A-38FCB43C6AF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26725" y="9525"/>
              <a:ext cx="1539875" cy="555625"/>
            </a:xfrm>
            <a:custGeom>
              <a:avLst/>
              <a:gdLst>
                <a:gd name="T0" fmla="*/ 324 w 324"/>
                <a:gd name="T1" fmla="*/ 117 h 117"/>
                <a:gd name="T2" fmla="*/ 0 w 324"/>
                <a:gd name="T3" fmla="*/ 0 h 117"/>
              </a:gdLst>
              <a:ahLst/>
              <a:cxnLst>
                <a:cxn ang="0">
                  <a:pos x="T0" y="T1"/>
                </a:cxn>
                <a:cxn ang="0">
                  <a:pos x="T2" y="T3"/>
                </a:cxn>
              </a:cxnLst>
              <a:rect l="0" t="0" r="r" b="b"/>
              <a:pathLst>
                <a:path w="324" h="117">
                  <a:moveTo>
                    <a:pt x="324" y="117"/>
                  </a:moveTo>
                  <a:cubicBezTo>
                    <a:pt x="223" y="64"/>
                    <a:pt x="107" y="28"/>
                    <a:pt x="0"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5" name="Freeform 7">
              <a:extLst>
                <a:ext uri="{FF2B5EF4-FFF2-40B4-BE49-F238E27FC236}">
                  <a16:creationId xmlns:a16="http://schemas.microsoft.com/office/drawing/2014/main" id="{89A587A7-1BEF-45AA-9EFC-6558A8749CE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247313" y="5013325"/>
              <a:ext cx="1919288" cy="1830388"/>
            </a:xfrm>
            <a:custGeom>
              <a:avLst/>
              <a:gdLst>
                <a:gd name="T0" fmla="*/ 0 w 404"/>
                <a:gd name="T1" fmla="*/ 385 h 385"/>
                <a:gd name="T2" fmla="*/ 404 w 404"/>
                <a:gd name="T3" fmla="*/ 0 h 385"/>
              </a:gdLst>
              <a:ahLst/>
              <a:cxnLst>
                <a:cxn ang="0">
                  <a:pos x="T0" y="T1"/>
                </a:cxn>
                <a:cxn ang="0">
                  <a:pos x="T2" y="T3"/>
                </a:cxn>
              </a:cxnLst>
              <a:rect l="0" t="0" r="r" b="b"/>
              <a:pathLst>
                <a:path w="404" h="385">
                  <a:moveTo>
                    <a:pt x="0" y="385"/>
                  </a:moveTo>
                  <a:cubicBezTo>
                    <a:pt x="146" y="272"/>
                    <a:pt x="285" y="142"/>
                    <a:pt x="404"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6" name="Freeform 8">
              <a:extLst>
                <a:ext uri="{FF2B5EF4-FFF2-40B4-BE49-F238E27FC236}">
                  <a16:creationId xmlns:a16="http://schemas.microsoft.com/office/drawing/2014/main" id="{AC25B5A1-6EF7-44EC-A2F0-1EDC96A79B0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775" y="0"/>
              <a:ext cx="3676650" cy="6843713"/>
            </a:xfrm>
            <a:custGeom>
              <a:avLst/>
              <a:gdLst>
                <a:gd name="T0" fmla="*/ 774 w 774"/>
                <a:gd name="T1" fmla="*/ 0 h 1440"/>
                <a:gd name="T2" fmla="*/ 411 w 774"/>
                <a:gd name="T3" fmla="*/ 1440 h 1440"/>
              </a:gdLst>
              <a:ahLst/>
              <a:cxnLst>
                <a:cxn ang="0">
                  <a:pos x="T0" y="T1"/>
                </a:cxn>
                <a:cxn ang="0">
                  <a:pos x="T2" y="T3"/>
                </a:cxn>
              </a:cxnLst>
              <a:rect l="0" t="0" r="r" b="b"/>
              <a:pathLst>
                <a:path w="774" h="1440">
                  <a:moveTo>
                    <a:pt x="774" y="0"/>
                  </a:moveTo>
                  <a:cubicBezTo>
                    <a:pt x="312" y="240"/>
                    <a:pt x="0" y="1034"/>
                    <a:pt x="411" y="1440"/>
                  </a:cubicBezTo>
                </a:path>
              </a:pathLst>
            </a:custGeom>
            <a:noFill/>
            <a:ln w="9525" cap="flat">
              <a:solidFill>
                <a:schemeClr val="tx1">
                  <a:alpha val="1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7" name="Freeform 9">
              <a:extLst>
                <a:ext uri="{FF2B5EF4-FFF2-40B4-BE49-F238E27FC236}">
                  <a16:creationId xmlns:a16="http://schemas.microsoft.com/office/drawing/2014/main" id="{80B8582C-7E17-4115-9FF1-979C8405CB5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2988" y="9525"/>
              <a:ext cx="963613" cy="366713"/>
            </a:xfrm>
            <a:custGeom>
              <a:avLst/>
              <a:gdLst>
                <a:gd name="T0" fmla="*/ 203 w 203"/>
                <a:gd name="T1" fmla="*/ 77 h 77"/>
                <a:gd name="T2" fmla="*/ 0 w 203"/>
                <a:gd name="T3" fmla="*/ 0 h 77"/>
              </a:gdLst>
              <a:ahLst/>
              <a:cxnLst>
                <a:cxn ang="0">
                  <a:pos x="T0" y="T1"/>
                </a:cxn>
                <a:cxn ang="0">
                  <a:pos x="T2" y="T3"/>
                </a:cxn>
              </a:cxnLst>
              <a:rect l="0" t="0" r="r" b="b"/>
              <a:pathLst>
                <a:path w="203" h="77">
                  <a:moveTo>
                    <a:pt x="203" y="77"/>
                  </a:moveTo>
                  <a:cubicBezTo>
                    <a:pt x="138" y="46"/>
                    <a:pt x="68" y="21"/>
                    <a:pt x="0" y="0"/>
                  </a:cubicBezTo>
                </a:path>
              </a:pathLst>
            </a:custGeom>
            <a:noFill/>
            <a:ln w="9525" cap="flat">
              <a:solidFill>
                <a:schemeClr val="tx1">
                  <a:alpha val="1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8" name="Freeform 10">
              <a:extLst>
                <a:ext uri="{FF2B5EF4-FFF2-40B4-BE49-F238E27FC236}">
                  <a16:creationId xmlns:a16="http://schemas.microsoft.com/office/drawing/2014/main" id="{F6C4AB66-7A18-4E51-935B-237F4CA8272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494963" y="5275263"/>
              <a:ext cx="1666875" cy="1577975"/>
            </a:xfrm>
            <a:custGeom>
              <a:avLst/>
              <a:gdLst>
                <a:gd name="T0" fmla="*/ 0 w 351"/>
                <a:gd name="T1" fmla="*/ 332 h 332"/>
                <a:gd name="T2" fmla="*/ 351 w 351"/>
                <a:gd name="T3" fmla="*/ 0 h 332"/>
              </a:gdLst>
              <a:ahLst/>
              <a:cxnLst>
                <a:cxn ang="0">
                  <a:pos x="T0" y="T1"/>
                </a:cxn>
                <a:cxn ang="0">
                  <a:pos x="T2" y="T3"/>
                </a:cxn>
              </a:cxnLst>
              <a:rect l="0" t="0" r="r" b="b"/>
              <a:pathLst>
                <a:path w="351" h="332">
                  <a:moveTo>
                    <a:pt x="0" y="332"/>
                  </a:moveTo>
                  <a:cubicBezTo>
                    <a:pt x="125" y="232"/>
                    <a:pt x="245" y="121"/>
                    <a:pt x="351" y="0"/>
                  </a:cubicBezTo>
                </a:path>
              </a:pathLst>
            </a:custGeom>
            <a:noFill/>
            <a:ln w="9525" cap="flat">
              <a:solidFill>
                <a:schemeClr val="tx1">
                  <a:alpha val="1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9" name="Freeform 11">
              <a:extLst>
                <a:ext uri="{FF2B5EF4-FFF2-40B4-BE49-F238E27FC236}">
                  <a16:creationId xmlns:a16="http://schemas.microsoft.com/office/drawing/2014/main" id="{CDF12911-A240-4580-8788-0C49DB1FEDB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621088" cy="6843713"/>
            </a:xfrm>
            <a:custGeom>
              <a:avLst/>
              <a:gdLst>
                <a:gd name="T0" fmla="*/ 762 w 762"/>
                <a:gd name="T1" fmla="*/ 0 h 1440"/>
                <a:gd name="T2" fmla="*/ 403 w 762"/>
                <a:gd name="T3" fmla="*/ 1440 h 1440"/>
              </a:gdLst>
              <a:ahLst/>
              <a:cxnLst>
                <a:cxn ang="0">
                  <a:pos x="T0" y="T1"/>
                </a:cxn>
                <a:cxn ang="0">
                  <a:pos x="T2" y="T3"/>
                </a:cxn>
              </a:cxnLst>
              <a:rect l="0" t="0" r="r" b="b"/>
              <a:pathLst>
                <a:path w="762" h="1440">
                  <a:moveTo>
                    <a:pt x="762" y="0"/>
                  </a:moveTo>
                  <a:cubicBezTo>
                    <a:pt x="308" y="245"/>
                    <a:pt x="0" y="1033"/>
                    <a:pt x="403"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0" name="Freeform 12">
              <a:extLst>
                <a:ext uri="{FF2B5EF4-FFF2-40B4-BE49-F238E27FC236}">
                  <a16:creationId xmlns:a16="http://schemas.microsoft.com/office/drawing/2014/main" id="{EAE0F5DE-442D-4F6C-B02C-2568ED19585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501438" y="9525"/>
              <a:ext cx="665163" cy="257175"/>
            </a:xfrm>
            <a:custGeom>
              <a:avLst/>
              <a:gdLst>
                <a:gd name="T0" fmla="*/ 140 w 140"/>
                <a:gd name="T1" fmla="*/ 54 h 54"/>
                <a:gd name="T2" fmla="*/ 0 w 140"/>
                <a:gd name="T3" fmla="*/ 0 h 54"/>
              </a:gdLst>
              <a:ahLst/>
              <a:cxnLst>
                <a:cxn ang="0">
                  <a:pos x="T0" y="T1"/>
                </a:cxn>
                <a:cxn ang="0">
                  <a:pos x="T2" y="T3"/>
                </a:cxn>
              </a:cxnLst>
              <a:rect l="0" t="0" r="r" b="b"/>
              <a:pathLst>
                <a:path w="140" h="54">
                  <a:moveTo>
                    <a:pt x="140" y="54"/>
                  </a:moveTo>
                  <a:cubicBezTo>
                    <a:pt x="95" y="34"/>
                    <a:pt x="48" y="16"/>
                    <a:pt x="0"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1" name="Freeform 13">
              <a:extLst>
                <a:ext uri="{FF2B5EF4-FFF2-40B4-BE49-F238E27FC236}">
                  <a16:creationId xmlns:a16="http://schemas.microsoft.com/office/drawing/2014/main" id="{4F24A002-AFDE-4034-85BE-CBF005AE923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41013" y="5408613"/>
              <a:ext cx="1525588" cy="1435100"/>
            </a:xfrm>
            <a:custGeom>
              <a:avLst/>
              <a:gdLst>
                <a:gd name="T0" fmla="*/ 0 w 321"/>
                <a:gd name="T1" fmla="*/ 302 h 302"/>
                <a:gd name="T2" fmla="*/ 321 w 321"/>
                <a:gd name="T3" fmla="*/ 0 h 302"/>
              </a:gdLst>
              <a:ahLst/>
              <a:cxnLst>
                <a:cxn ang="0">
                  <a:pos x="T0" y="T1"/>
                </a:cxn>
                <a:cxn ang="0">
                  <a:pos x="T2" y="T3"/>
                </a:cxn>
              </a:cxnLst>
              <a:rect l="0" t="0" r="r" b="b"/>
              <a:pathLst>
                <a:path w="321" h="302">
                  <a:moveTo>
                    <a:pt x="0" y="302"/>
                  </a:moveTo>
                  <a:cubicBezTo>
                    <a:pt x="114" y="210"/>
                    <a:pt x="223" y="109"/>
                    <a:pt x="321"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2" name="Freeform 14">
              <a:extLst>
                <a:ext uri="{FF2B5EF4-FFF2-40B4-BE49-F238E27FC236}">
                  <a16:creationId xmlns:a16="http://schemas.microsoft.com/office/drawing/2014/main" id="{36F0721E-B4B0-4A6C-A92C-F8DE92D3AC0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244850" cy="6843713"/>
            </a:xfrm>
            <a:custGeom>
              <a:avLst/>
              <a:gdLst>
                <a:gd name="T0" fmla="*/ 683 w 683"/>
                <a:gd name="T1" fmla="*/ 0 h 1440"/>
                <a:gd name="T2" fmla="*/ 355 w 683"/>
                <a:gd name="T3" fmla="*/ 1440 h 1440"/>
              </a:gdLst>
              <a:ahLst/>
              <a:cxnLst>
                <a:cxn ang="0">
                  <a:pos x="T0" y="T1"/>
                </a:cxn>
                <a:cxn ang="0">
                  <a:pos x="T2" y="T3"/>
                </a:cxn>
              </a:cxnLst>
              <a:rect l="0" t="0" r="r" b="b"/>
              <a:pathLst>
                <a:path w="683" h="1440">
                  <a:moveTo>
                    <a:pt x="683" y="0"/>
                  </a:moveTo>
                  <a:cubicBezTo>
                    <a:pt x="258" y="256"/>
                    <a:pt x="0" y="1041"/>
                    <a:pt x="355"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3" name="Freeform 15">
              <a:extLst>
                <a:ext uri="{FF2B5EF4-FFF2-40B4-BE49-F238E27FC236}">
                  <a16:creationId xmlns:a16="http://schemas.microsoft.com/office/drawing/2014/main" id="{54D2DC98-69F8-4F2F-9D45-BDFFA5E2BBB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802938" y="5518150"/>
              <a:ext cx="1363663" cy="1325563"/>
            </a:xfrm>
            <a:custGeom>
              <a:avLst/>
              <a:gdLst>
                <a:gd name="T0" fmla="*/ 0 w 287"/>
                <a:gd name="T1" fmla="*/ 279 h 279"/>
                <a:gd name="T2" fmla="*/ 287 w 287"/>
                <a:gd name="T3" fmla="*/ 0 h 279"/>
              </a:gdLst>
              <a:ahLst/>
              <a:cxnLst>
                <a:cxn ang="0">
                  <a:pos x="T0" y="T1"/>
                </a:cxn>
                <a:cxn ang="0">
                  <a:pos x="T2" y="T3"/>
                </a:cxn>
              </a:cxnLst>
              <a:rect l="0" t="0" r="r" b="b"/>
              <a:pathLst>
                <a:path w="287" h="279">
                  <a:moveTo>
                    <a:pt x="0" y="279"/>
                  </a:moveTo>
                  <a:cubicBezTo>
                    <a:pt x="101" y="193"/>
                    <a:pt x="198" y="100"/>
                    <a:pt x="287"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4" name="Freeform 16">
              <a:extLst>
                <a:ext uri="{FF2B5EF4-FFF2-40B4-BE49-F238E27FC236}">
                  <a16:creationId xmlns:a16="http://schemas.microsoft.com/office/drawing/2014/main" id="{0A636E33-DC38-40B9-B941-037E5D8603F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89000" y="0"/>
              <a:ext cx="3230563" cy="6843713"/>
            </a:xfrm>
            <a:custGeom>
              <a:avLst/>
              <a:gdLst>
                <a:gd name="T0" fmla="*/ 680 w 680"/>
                <a:gd name="T1" fmla="*/ 0 h 1440"/>
                <a:gd name="T2" fmla="*/ 337 w 680"/>
                <a:gd name="T3" fmla="*/ 1440 h 1440"/>
              </a:gdLst>
              <a:ahLst/>
              <a:cxnLst>
                <a:cxn ang="0">
                  <a:pos x="T0" y="T1"/>
                </a:cxn>
                <a:cxn ang="0">
                  <a:pos x="T2" y="T3"/>
                </a:cxn>
              </a:cxnLst>
              <a:rect l="0" t="0" r="r" b="b"/>
              <a:pathLst>
                <a:path w="680" h="1440">
                  <a:moveTo>
                    <a:pt x="680" y="0"/>
                  </a:moveTo>
                  <a:cubicBezTo>
                    <a:pt x="257" y="265"/>
                    <a:pt x="0" y="1026"/>
                    <a:pt x="337"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5" name="Freeform 17">
              <a:extLst>
                <a:ext uri="{FF2B5EF4-FFF2-40B4-BE49-F238E27FC236}">
                  <a16:creationId xmlns:a16="http://schemas.microsoft.com/office/drawing/2014/main" id="{03D30690-68C2-4AEC-9789-1495D97E194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979150" y="5694363"/>
              <a:ext cx="1187450" cy="1149350"/>
            </a:xfrm>
            <a:custGeom>
              <a:avLst/>
              <a:gdLst>
                <a:gd name="T0" fmla="*/ 0 w 250"/>
                <a:gd name="T1" fmla="*/ 242 h 242"/>
                <a:gd name="T2" fmla="*/ 250 w 250"/>
                <a:gd name="T3" fmla="*/ 0 h 242"/>
              </a:gdLst>
              <a:ahLst/>
              <a:cxnLst>
                <a:cxn ang="0">
                  <a:pos x="T0" y="T1"/>
                </a:cxn>
                <a:cxn ang="0">
                  <a:pos x="T2" y="T3"/>
                </a:cxn>
              </a:cxnLst>
              <a:rect l="0" t="0" r="r" b="b"/>
              <a:pathLst>
                <a:path w="250" h="242">
                  <a:moveTo>
                    <a:pt x="0" y="242"/>
                  </a:moveTo>
                  <a:cubicBezTo>
                    <a:pt x="88" y="166"/>
                    <a:pt x="172" y="85"/>
                    <a:pt x="250"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Freeform 18">
              <a:extLst>
                <a:ext uri="{FF2B5EF4-FFF2-40B4-BE49-F238E27FC236}">
                  <a16:creationId xmlns:a16="http://schemas.microsoft.com/office/drawing/2014/main" id="{1020B1B9-821B-49FB-BDC9-57DA08CBC30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84188" y="0"/>
              <a:ext cx="3421063" cy="6843713"/>
            </a:xfrm>
            <a:custGeom>
              <a:avLst/>
              <a:gdLst>
                <a:gd name="T0" fmla="*/ 720 w 720"/>
                <a:gd name="T1" fmla="*/ 0 h 1440"/>
                <a:gd name="T2" fmla="*/ 362 w 720"/>
                <a:gd name="T3" fmla="*/ 1440 h 1440"/>
              </a:gdLst>
              <a:ahLst/>
              <a:cxnLst>
                <a:cxn ang="0">
                  <a:pos x="T0" y="T1"/>
                </a:cxn>
                <a:cxn ang="0">
                  <a:pos x="T2" y="T3"/>
                </a:cxn>
              </a:cxnLst>
              <a:rect l="0" t="0" r="r" b="b"/>
              <a:pathLst>
                <a:path w="720" h="1440">
                  <a:moveTo>
                    <a:pt x="720" y="0"/>
                  </a:moveTo>
                  <a:cubicBezTo>
                    <a:pt x="316" y="282"/>
                    <a:pt x="0" y="1018"/>
                    <a:pt x="362"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Freeform 19">
              <a:extLst>
                <a:ext uri="{FF2B5EF4-FFF2-40B4-BE49-F238E27FC236}">
                  <a16:creationId xmlns:a16="http://schemas.microsoft.com/office/drawing/2014/main" id="{720EDCE4-8B18-413F-989E-E79628E5AF1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87125" y="6049963"/>
              <a:ext cx="879475" cy="793750"/>
            </a:xfrm>
            <a:custGeom>
              <a:avLst/>
              <a:gdLst>
                <a:gd name="T0" fmla="*/ 0 w 185"/>
                <a:gd name="T1" fmla="*/ 167 h 167"/>
                <a:gd name="T2" fmla="*/ 185 w 185"/>
                <a:gd name="T3" fmla="*/ 0 h 167"/>
              </a:gdLst>
              <a:ahLst/>
              <a:cxnLst>
                <a:cxn ang="0">
                  <a:pos x="T0" y="T1"/>
                </a:cxn>
                <a:cxn ang="0">
                  <a:pos x="T2" y="T3"/>
                </a:cxn>
              </a:cxnLst>
              <a:rect l="0" t="0" r="r" b="b"/>
              <a:pathLst>
                <a:path w="185" h="167">
                  <a:moveTo>
                    <a:pt x="0" y="167"/>
                  </a:moveTo>
                  <a:cubicBezTo>
                    <a:pt x="63" y="114"/>
                    <a:pt x="125" y="58"/>
                    <a:pt x="185"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8" name="Freeform 20">
              <a:extLst>
                <a:ext uri="{FF2B5EF4-FFF2-40B4-BE49-F238E27FC236}">
                  <a16:creationId xmlns:a16="http://schemas.microsoft.com/office/drawing/2014/main" id="{8563351E-0DDD-4FC8-8D0C-1E446E3C1B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8488" y="0"/>
              <a:ext cx="2717800" cy="6843713"/>
            </a:xfrm>
            <a:custGeom>
              <a:avLst/>
              <a:gdLst>
                <a:gd name="T0" fmla="*/ 572 w 572"/>
                <a:gd name="T1" fmla="*/ 0 h 1440"/>
                <a:gd name="T2" fmla="*/ 164 w 572"/>
                <a:gd name="T3" fmla="*/ 1440 h 1440"/>
              </a:gdLst>
              <a:ahLst/>
              <a:cxnLst>
                <a:cxn ang="0">
                  <a:pos x="T0" y="T1"/>
                </a:cxn>
                <a:cxn ang="0">
                  <a:pos x="T2" y="T3"/>
                </a:cxn>
              </a:cxnLst>
              <a:rect l="0" t="0" r="r" b="b"/>
              <a:pathLst>
                <a:path w="572" h="1440">
                  <a:moveTo>
                    <a:pt x="572" y="0"/>
                  </a:moveTo>
                  <a:cubicBezTo>
                    <a:pt x="213" y="320"/>
                    <a:pt x="0" y="979"/>
                    <a:pt x="164" y="1440"/>
                  </a:cubicBezTo>
                </a:path>
              </a:pathLst>
            </a:custGeom>
            <a:noFill/>
            <a:ln w="12700" cap="flat">
              <a:solidFill>
                <a:schemeClr val="tx1">
                  <a:alpha val="15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9" name="Freeform 21">
              <a:extLst>
                <a:ext uri="{FF2B5EF4-FFF2-40B4-BE49-F238E27FC236}">
                  <a16:creationId xmlns:a16="http://schemas.microsoft.com/office/drawing/2014/main" id="{15E8B705-64E7-4513-B3CB-BF46C35732B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61938" y="0"/>
              <a:ext cx="2944813" cy="6843713"/>
            </a:xfrm>
            <a:custGeom>
              <a:avLst/>
              <a:gdLst>
                <a:gd name="T0" fmla="*/ 620 w 620"/>
                <a:gd name="T1" fmla="*/ 0 h 1440"/>
                <a:gd name="T2" fmla="*/ 186 w 620"/>
                <a:gd name="T3" fmla="*/ 1440 h 1440"/>
              </a:gdLst>
              <a:ahLst/>
              <a:cxnLst>
                <a:cxn ang="0">
                  <a:pos x="T0" y="T1"/>
                </a:cxn>
                <a:cxn ang="0">
                  <a:pos x="T2" y="T3"/>
                </a:cxn>
              </a:cxnLst>
              <a:rect l="0" t="0" r="r" b="b"/>
              <a:pathLst>
                <a:path w="620" h="1440">
                  <a:moveTo>
                    <a:pt x="620" y="0"/>
                  </a:moveTo>
                  <a:cubicBezTo>
                    <a:pt x="248" y="325"/>
                    <a:pt x="0" y="960"/>
                    <a:pt x="186" y="1440"/>
                  </a:cubicBezTo>
                </a:path>
              </a:pathLst>
            </a:custGeom>
            <a:noFill/>
            <a:ln w="9525" cap="flat">
              <a:solidFill>
                <a:schemeClr val="tx1">
                  <a:alpha val="15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0" name="Freeform 22">
              <a:extLst>
                <a:ext uri="{FF2B5EF4-FFF2-40B4-BE49-F238E27FC236}">
                  <a16:creationId xmlns:a16="http://schemas.microsoft.com/office/drawing/2014/main" id="{30DAEE1C-EBB5-47F5-9E76-564FCFDBFC2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17513" y="0"/>
              <a:ext cx="2403475" cy="6843713"/>
            </a:xfrm>
            <a:custGeom>
              <a:avLst/>
              <a:gdLst>
                <a:gd name="T0" fmla="*/ 506 w 506"/>
                <a:gd name="T1" fmla="*/ 0 h 1440"/>
                <a:gd name="T2" fmla="*/ 171 w 506"/>
                <a:gd name="T3" fmla="*/ 1440 h 1440"/>
              </a:gdLst>
              <a:ahLst/>
              <a:cxnLst>
                <a:cxn ang="0">
                  <a:pos x="T0" y="T1"/>
                </a:cxn>
                <a:cxn ang="0">
                  <a:pos x="T2" y="T3"/>
                </a:cxn>
              </a:cxnLst>
              <a:rect l="0" t="0" r="r" b="b"/>
              <a:pathLst>
                <a:path w="506" h="1440">
                  <a:moveTo>
                    <a:pt x="506" y="0"/>
                  </a:moveTo>
                  <a:cubicBezTo>
                    <a:pt x="109" y="356"/>
                    <a:pt x="0" y="943"/>
                    <a:pt x="171"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1" name="Freeform 23">
              <a:extLst>
                <a:ext uri="{FF2B5EF4-FFF2-40B4-BE49-F238E27FC236}">
                  <a16:creationId xmlns:a16="http://schemas.microsoft.com/office/drawing/2014/main" id="{EDB255E9-A3E2-4098-99A1-FE38FAD15DA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9525"/>
              <a:ext cx="1771650" cy="3198813"/>
            </a:xfrm>
            <a:custGeom>
              <a:avLst/>
              <a:gdLst>
                <a:gd name="T0" fmla="*/ 373 w 373"/>
                <a:gd name="T1" fmla="*/ 0 h 673"/>
                <a:gd name="T2" fmla="*/ 0 w 373"/>
                <a:gd name="T3" fmla="*/ 673 h 673"/>
              </a:gdLst>
              <a:ahLst/>
              <a:cxnLst>
                <a:cxn ang="0">
                  <a:pos x="T0" y="T1"/>
                </a:cxn>
                <a:cxn ang="0">
                  <a:pos x="T2" y="T3"/>
                </a:cxn>
              </a:cxnLst>
              <a:rect l="0" t="0" r="r" b="b"/>
              <a:pathLst>
                <a:path w="373" h="673">
                  <a:moveTo>
                    <a:pt x="373" y="0"/>
                  </a:moveTo>
                  <a:cubicBezTo>
                    <a:pt x="175" y="183"/>
                    <a:pt x="51" y="409"/>
                    <a:pt x="0" y="673"/>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2" name="Freeform 24">
              <a:extLst>
                <a:ext uri="{FF2B5EF4-FFF2-40B4-BE49-F238E27FC236}">
                  <a16:creationId xmlns:a16="http://schemas.microsoft.com/office/drawing/2014/main" id="{D2507F2A-27AF-4833-8273-5FC9A988639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63" y="6016625"/>
              <a:ext cx="214313" cy="827088"/>
            </a:xfrm>
            <a:custGeom>
              <a:avLst/>
              <a:gdLst>
                <a:gd name="T0" fmla="*/ 0 w 45"/>
                <a:gd name="T1" fmla="*/ 0 h 174"/>
                <a:gd name="T2" fmla="*/ 45 w 45"/>
                <a:gd name="T3" fmla="*/ 174 h 174"/>
              </a:gdLst>
              <a:ahLst/>
              <a:cxnLst>
                <a:cxn ang="0">
                  <a:pos x="T0" y="T1"/>
                </a:cxn>
                <a:cxn ang="0">
                  <a:pos x="T2" y="T3"/>
                </a:cxn>
              </a:cxnLst>
              <a:rect l="0" t="0" r="r" b="b"/>
              <a:pathLst>
                <a:path w="45" h="174">
                  <a:moveTo>
                    <a:pt x="0" y="0"/>
                  </a:moveTo>
                  <a:cubicBezTo>
                    <a:pt x="11" y="59"/>
                    <a:pt x="26" y="118"/>
                    <a:pt x="45" y="174"/>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3" name="Freeform 25">
              <a:extLst>
                <a:ext uri="{FF2B5EF4-FFF2-40B4-BE49-F238E27FC236}">
                  <a16:creationId xmlns:a16="http://schemas.microsoft.com/office/drawing/2014/main" id="{8DFB8904-0CB8-45AD-ABD2-F7A582365E8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0"/>
              <a:ext cx="1562100" cy="2228850"/>
            </a:xfrm>
            <a:custGeom>
              <a:avLst/>
              <a:gdLst>
                <a:gd name="T0" fmla="*/ 329 w 329"/>
                <a:gd name="T1" fmla="*/ 0 h 469"/>
                <a:gd name="T2" fmla="*/ 0 w 329"/>
                <a:gd name="T3" fmla="*/ 469 h 469"/>
              </a:gdLst>
              <a:ahLst/>
              <a:cxnLst>
                <a:cxn ang="0">
                  <a:pos x="T0" y="T1"/>
                </a:cxn>
                <a:cxn ang="0">
                  <a:pos x="T2" y="T3"/>
                </a:cxn>
              </a:cxnLst>
              <a:rect l="0" t="0" r="r" b="b"/>
              <a:pathLst>
                <a:path w="329" h="469">
                  <a:moveTo>
                    <a:pt x="329" y="0"/>
                  </a:moveTo>
                  <a:cubicBezTo>
                    <a:pt x="189" y="133"/>
                    <a:pt x="69" y="288"/>
                    <a:pt x="0" y="469"/>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2" name="TextBox 1">
            <a:extLst>
              <a:ext uri="{FF2B5EF4-FFF2-40B4-BE49-F238E27FC236}">
                <a16:creationId xmlns:a16="http://schemas.microsoft.com/office/drawing/2014/main" id="{C2177478-0163-F97D-1BE4-C63AE9E3605E}"/>
              </a:ext>
            </a:extLst>
          </p:cNvPr>
          <p:cNvSpPr txBox="1"/>
          <p:nvPr/>
        </p:nvSpPr>
        <p:spPr>
          <a:xfrm>
            <a:off x="1759287" y="798881"/>
            <a:ext cx="8673427" cy="1048945"/>
          </a:xfrm>
          <a:prstGeom prst="rect">
            <a:avLst/>
          </a:prstGeom>
        </p:spPr>
        <p:txBody>
          <a:bodyPr rot="0" spcFirstLastPara="0" vertOverflow="overflow" horzOverflow="overflow" vert="horz" lIns="228600" tIns="228600" rIns="228600" bIns="228600" numCol="1" spcCol="0" rtlCol="0" fromWordArt="0" anchor="ctr" anchorCtr="0" forceAA="0" compatLnSpc="1">
            <a:prstTxWarp prst="textNoShape">
              <a:avLst/>
            </a:prstTxWarp>
            <a:normAutofit/>
          </a:bodyPr>
          <a:lstStyle/>
          <a:p>
            <a:pPr algn="ctr" defTabSz="914400">
              <a:lnSpc>
                <a:spcPct val="85000"/>
              </a:lnSpc>
              <a:spcBef>
                <a:spcPct val="0"/>
              </a:spcBef>
              <a:spcAft>
                <a:spcPts val="600"/>
              </a:spcAft>
            </a:pPr>
            <a:r>
              <a:rPr lang="en-US" sz="4400" b="0" i="0" kern="1200" cap="none" spc="-150">
                <a:effectLst/>
                <a:ea typeface="+mj-ea"/>
                <a:cs typeface="+mj-cs"/>
              </a:rPr>
              <a:t>Key Takeaways</a:t>
            </a:r>
          </a:p>
        </p:txBody>
      </p:sp>
      <p:graphicFrame>
        <p:nvGraphicFramePr>
          <p:cNvPr id="65" name="Content Placeholder 5">
            <a:extLst>
              <a:ext uri="{FF2B5EF4-FFF2-40B4-BE49-F238E27FC236}">
                <a16:creationId xmlns:a16="http://schemas.microsoft.com/office/drawing/2014/main" id="{5E949BFC-9768-F509-E943-1AD2D1E32D0E}"/>
              </a:ext>
            </a:extLst>
          </p:cNvPr>
          <p:cNvGraphicFramePr>
            <a:graphicFrameLocks noGrp="1"/>
          </p:cNvGraphicFramePr>
          <p:nvPr>
            <p:ph idx="1"/>
            <p:extLst>
              <p:ext uri="{D42A27DB-BD31-4B8C-83A1-F6EECF244321}">
                <p14:modId xmlns:p14="http://schemas.microsoft.com/office/powerpoint/2010/main" val="2590088301"/>
              </p:ext>
            </p:extLst>
          </p:nvPr>
        </p:nvGraphicFramePr>
        <p:xfrm>
          <a:off x="807722" y="1990976"/>
          <a:ext cx="10576558" cy="41754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Content Placeholder 6" descr="A red text on a black background&#10;&#10;AI-generated content may be incorrect.">
            <a:extLst>
              <a:ext uri="{FF2B5EF4-FFF2-40B4-BE49-F238E27FC236}">
                <a16:creationId xmlns:a16="http://schemas.microsoft.com/office/drawing/2014/main" id="{B99878CF-A706-BA13-1C93-BD94C933927D}"/>
              </a:ext>
            </a:extLst>
          </p:cNvPr>
          <p:cNvPicPr>
            <a:picLocks noChangeAspect="1"/>
          </p:cNvPicPr>
          <p:nvPr/>
        </p:nvPicPr>
        <p:blipFill>
          <a:blip r:embed="rId8"/>
          <a:stretch>
            <a:fillRect/>
          </a:stretch>
        </p:blipFill>
        <p:spPr>
          <a:xfrm>
            <a:off x="102098" y="-169011"/>
            <a:ext cx="1708149" cy="1138767"/>
          </a:xfrm>
          <a:prstGeom prst="rect">
            <a:avLst/>
          </a:prstGeom>
        </p:spPr>
      </p:pic>
      <p:pic>
        <p:nvPicPr>
          <p:cNvPr id="6" name="Picture 4">
            <a:extLst>
              <a:ext uri="{FF2B5EF4-FFF2-40B4-BE49-F238E27FC236}">
                <a16:creationId xmlns:a16="http://schemas.microsoft.com/office/drawing/2014/main" id="{CFD4DDEB-3BD1-B5FC-A31B-D61865DC1FA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26408" y="-663307"/>
            <a:ext cx="2326245" cy="21273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79525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0C9AF87-5A9C-0BCC-A51C-2088FA618585}"/>
            </a:ext>
          </a:extLst>
        </p:cNvPr>
        <p:cNvGrpSpPr/>
        <p:nvPr/>
      </p:nvGrpSpPr>
      <p:grpSpPr>
        <a:xfrm>
          <a:off x="0" y="0"/>
          <a:ext cx="0" cy="0"/>
          <a:chOff x="0" y="0"/>
          <a:chExt cx="0" cy="0"/>
        </a:xfrm>
      </p:grpSpPr>
      <p:sp useBgFill="1">
        <p:nvSpPr>
          <p:cNvPr id="70" name="Rectangle 69">
            <a:extLst>
              <a:ext uri="{FF2B5EF4-FFF2-40B4-BE49-F238E27FC236}">
                <a16:creationId xmlns:a16="http://schemas.microsoft.com/office/drawing/2014/main" id="{982413CC-69E6-4BDA-A88D-E4EF8F95B2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2" name="Group 71">
            <a:extLst>
              <a:ext uri="{FF2B5EF4-FFF2-40B4-BE49-F238E27FC236}">
                <a16:creationId xmlns:a16="http://schemas.microsoft.com/office/drawing/2014/main" id="{4F1F7357-8633-4CE7-BF80-475EE8A2FAE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73" name="Freeform 5">
              <a:extLst>
                <a:ext uri="{FF2B5EF4-FFF2-40B4-BE49-F238E27FC236}">
                  <a16:creationId xmlns:a16="http://schemas.microsoft.com/office/drawing/2014/main" id="{E402FE4E-C12D-497C-AF81-F08E4E02B45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306513" y="0"/>
              <a:ext cx="3862388" cy="6843713"/>
            </a:xfrm>
            <a:custGeom>
              <a:avLst/>
              <a:gdLst>
                <a:gd name="T0" fmla="*/ 813 w 813"/>
                <a:gd name="T1" fmla="*/ 0 h 1440"/>
                <a:gd name="T2" fmla="*/ 435 w 813"/>
                <a:gd name="T3" fmla="*/ 1440 h 1440"/>
              </a:gdLst>
              <a:ahLst/>
              <a:cxnLst>
                <a:cxn ang="0">
                  <a:pos x="T0" y="T1"/>
                </a:cxn>
                <a:cxn ang="0">
                  <a:pos x="T2" y="T3"/>
                </a:cxn>
              </a:cxnLst>
              <a:rect l="0" t="0" r="r" b="b"/>
              <a:pathLst>
                <a:path w="813" h="1440">
                  <a:moveTo>
                    <a:pt x="813" y="0"/>
                  </a:moveTo>
                  <a:cubicBezTo>
                    <a:pt x="331" y="221"/>
                    <a:pt x="0" y="1039"/>
                    <a:pt x="435"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4" name="Freeform 6">
              <a:extLst>
                <a:ext uri="{FF2B5EF4-FFF2-40B4-BE49-F238E27FC236}">
                  <a16:creationId xmlns:a16="http://schemas.microsoft.com/office/drawing/2014/main" id="{59247B10-170D-4E62-849A-38FCB43C6AF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26725" y="9525"/>
              <a:ext cx="1539875" cy="555625"/>
            </a:xfrm>
            <a:custGeom>
              <a:avLst/>
              <a:gdLst>
                <a:gd name="T0" fmla="*/ 324 w 324"/>
                <a:gd name="T1" fmla="*/ 117 h 117"/>
                <a:gd name="T2" fmla="*/ 0 w 324"/>
                <a:gd name="T3" fmla="*/ 0 h 117"/>
              </a:gdLst>
              <a:ahLst/>
              <a:cxnLst>
                <a:cxn ang="0">
                  <a:pos x="T0" y="T1"/>
                </a:cxn>
                <a:cxn ang="0">
                  <a:pos x="T2" y="T3"/>
                </a:cxn>
              </a:cxnLst>
              <a:rect l="0" t="0" r="r" b="b"/>
              <a:pathLst>
                <a:path w="324" h="117">
                  <a:moveTo>
                    <a:pt x="324" y="117"/>
                  </a:moveTo>
                  <a:cubicBezTo>
                    <a:pt x="223" y="64"/>
                    <a:pt x="107" y="28"/>
                    <a:pt x="0"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5" name="Freeform 7">
              <a:extLst>
                <a:ext uri="{FF2B5EF4-FFF2-40B4-BE49-F238E27FC236}">
                  <a16:creationId xmlns:a16="http://schemas.microsoft.com/office/drawing/2014/main" id="{89A587A7-1BEF-45AA-9EFC-6558A8749CE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247313" y="5013325"/>
              <a:ext cx="1919288" cy="1830388"/>
            </a:xfrm>
            <a:custGeom>
              <a:avLst/>
              <a:gdLst>
                <a:gd name="T0" fmla="*/ 0 w 404"/>
                <a:gd name="T1" fmla="*/ 385 h 385"/>
                <a:gd name="T2" fmla="*/ 404 w 404"/>
                <a:gd name="T3" fmla="*/ 0 h 385"/>
              </a:gdLst>
              <a:ahLst/>
              <a:cxnLst>
                <a:cxn ang="0">
                  <a:pos x="T0" y="T1"/>
                </a:cxn>
                <a:cxn ang="0">
                  <a:pos x="T2" y="T3"/>
                </a:cxn>
              </a:cxnLst>
              <a:rect l="0" t="0" r="r" b="b"/>
              <a:pathLst>
                <a:path w="404" h="385">
                  <a:moveTo>
                    <a:pt x="0" y="385"/>
                  </a:moveTo>
                  <a:cubicBezTo>
                    <a:pt x="146" y="272"/>
                    <a:pt x="285" y="142"/>
                    <a:pt x="404"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6" name="Freeform 8">
              <a:extLst>
                <a:ext uri="{FF2B5EF4-FFF2-40B4-BE49-F238E27FC236}">
                  <a16:creationId xmlns:a16="http://schemas.microsoft.com/office/drawing/2014/main" id="{AC25B5A1-6EF7-44EC-A2F0-1EDC96A79B0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775" y="0"/>
              <a:ext cx="3676650" cy="6843713"/>
            </a:xfrm>
            <a:custGeom>
              <a:avLst/>
              <a:gdLst>
                <a:gd name="T0" fmla="*/ 774 w 774"/>
                <a:gd name="T1" fmla="*/ 0 h 1440"/>
                <a:gd name="T2" fmla="*/ 411 w 774"/>
                <a:gd name="T3" fmla="*/ 1440 h 1440"/>
              </a:gdLst>
              <a:ahLst/>
              <a:cxnLst>
                <a:cxn ang="0">
                  <a:pos x="T0" y="T1"/>
                </a:cxn>
                <a:cxn ang="0">
                  <a:pos x="T2" y="T3"/>
                </a:cxn>
              </a:cxnLst>
              <a:rect l="0" t="0" r="r" b="b"/>
              <a:pathLst>
                <a:path w="774" h="1440">
                  <a:moveTo>
                    <a:pt x="774" y="0"/>
                  </a:moveTo>
                  <a:cubicBezTo>
                    <a:pt x="312" y="240"/>
                    <a:pt x="0" y="1034"/>
                    <a:pt x="411" y="1440"/>
                  </a:cubicBezTo>
                </a:path>
              </a:pathLst>
            </a:custGeom>
            <a:noFill/>
            <a:ln w="9525" cap="flat">
              <a:solidFill>
                <a:schemeClr val="tx1">
                  <a:alpha val="1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7" name="Freeform 9">
              <a:extLst>
                <a:ext uri="{FF2B5EF4-FFF2-40B4-BE49-F238E27FC236}">
                  <a16:creationId xmlns:a16="http://schemas.microsoft.com/office/drawing/2014/main" id="{80B8582C-7E17-4115-9FF1-979C8405CB5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2988" y="9525"/>
              <a:ext cx="963613" cy="366713"/>
            </a:xfrm>
            <a:custGeom>
              <a:avLst/>
              <a:gdLst>
                <a:gd name="T0" fmla="*/ 203 w 203"/>
                <a:gd name="T1" fmla="*/ 77 h 77"/>
                <a:gd name="T2" fmla="*/ 0 w 203"/>
                <a:gd name="T3" fmla="*/ 0 h 77"/>
              </a:gdLst>
              <a:ahLst/>
              <a:cxnLst>
                <a:cxn ang="0">
                  <a:pos x="T0" y="T1"/>
                </a:cxn>
                <a:cxn ang="0">
                  <a:pos x="T2" y="T3"/>
                </a:cxn>
              </a:cxnLst>
              <a:rect l="0" t="0" r="r" b="b"/>
              <a:pathLst>
                <a:path w="203" h="77">
                  <a:moveTo>
                    <a:pt x="203" y="77"/>
                  </a:moveTo>
                  <a:cubicBezTo>
                    <a:pt x="138" y="46"/>
                    <a:pt x="68" y="21"/>
                    <a:pt x="0" y="0"/>
                  </a:cubicBezTo>
                </a:path>
              </a:pathLst>
            </a:custGeom>
            <a:noFill/>
            <a:ln w="9525" cap="flat">
              <a:solidFill>
                <a:schemeClr val="tx1">
                  <a:alpha val="1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8" name="Freeform 10">
              <a:extLst>
                <a:ext uri="{FF2B5EF4-FFF2-40B4-BE49-F238E27FC236}">
                  <a16:creationId xmlns:a16="http://schemas.microsoft.com/office/drawing/2014/main" id="{F6C4AB66-7A18-4E51-935B-237F4CA8272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494963" y="5275263"/>
              <a:ext cx="1666875" cy="1577975"/>
            </a:xfrm>
            <a:custGeom>
              <a:avLst/>
              <a:gdLst>
                <a:gd name="T0" fmla="*/ 0 w 351"/>
                <a:gd name="T1" fmla="*/ 332 h 332"/>
                <a:gd name="T2" fmla="*/ 351 w 351"/>
                <a:gd name="T3" fmla="*/ 0 h 332"/>
              </a:gdLst>
              <a:ahLst/>
              <a:cxnLst>
                <a:cxn ang="0">
                  <a:pos x="T0" y="T1"/>
                </a:cxn>
                <a:cxn ang="0">
                  <a:pos x="T2" y="T3"/>
                </a:cxn>
              </a:cxnLst>
              <a:rect l="0" t="0" r="r" b="b"/>
              <a:pathLst>
                <a:path w="351" h="332">
                  <a:moveTo>
                    <a:pt x="0" y="332"/>
                  </a:moveTo>
                  <a:cubicBezTo>
                    <a:pt x="125" y="232"/>
                    <a:pt x="245" y="121"/>
                    <a:pt x="351" y="0"/>
                  </a:cubicBezTo>
                </a:path>
              </a:pathLst>
            </a:custGeom>
            <a:noFill/>
            <a:ln w="9525" cap="flat">
              <a:solidFill>
                <a:schemeClr val="tx1">
                  <a:alpha val="1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9" name="Freeform 11">
              <a:extLst>
                <a:ext uri="{FF2B5EF4-FFF2-40B4-BE49-F238E27FC236}">
                  <a16:creationId xmlns:a16="http://schemas.microsoft.com/office/drawing/2014/main" id="{CDF12911-A240-4580-8788-0C49DB1FEDB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621088" cy="6843713"/>
            </a:xfrm>
            <a:custGeom>
              <a:avLst/>
              <a:gdLst>
                <a:gd name="T0" fmla="*/ 762 w 762"/>
                <a:gd name="T1" fmla="*/ 0 h 1440"/>
                <a:gd name="T2" fmla="*/ 403 w 762"/>
                <a:gd name="T3" fmla="*/ 1440 h 1440"/>
              </a:gdLst>
              <a:ahLst/>
              <a:cxnLst>
                <a:cxn ang="0">
                  <a:pos x="T0" y="T1"/>
                </a:cxn>
                <a:cxn ang="0">
                  <a:pos x="T2" y="T3"/>
                </a:cxn>
              </a:cxnLst>
              <a:rect l="0" t="0" r="r" b="b"/>
              <a:pathLst>
                <a:path w="762" h="1440">
                  <a:moveTo>
                    <a:pt x="762" y="0"/>
                  </a:moveTo>
                  <a:cubicBezTo>
                    <a:pt x="308" y="245"/>
                    <a:pt x="0" y="1033"/>
                    <a:pt x="403"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0" name="Freeform 12">
              <a:extLst>
                <a:ext uri="{FF2B5EF4-FFF2-40B4-BE49-F238E27FC236}">
                  <a16:creationId xmlns:a16="http://schemas.microsoft.com/office/drawing/2014/main" id="{EAE0F5DE-442D-4F6C-B02C-2568ED19585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501438" y="9525"/>
              <a:ext cx="665163" cy="257175"/>
            </a:xfrm>
            <a:custGeom>
              <a:avLst/>
              <a:gdLst>
                <a:gd name="T0" fmla="*/ 140 w 140"/>
                <a:gd name="T1" fmla="*/ 54 h 54"/>
                <a:gd name="T2" fmla="*/ 0 w 140"/>
                <a:gd name="T3" fmla="*/ 0 h 54"/>
              </a:gdLst>
              <a:ahLst/>
              <a:cxnLst>
                <a:cxn ang="0">
                  <a:pos x="T0" y="T1"/>
                </a:cxn>
                <a:cxn ang="0">
                  <a:pos x="T2" y="T3"/>
                </a:cxn>
              </a:cxnLst>
              <a:rect l="0" t="0" r="r" b="b"/>
              <a:pathLst>
                <a:path w="140" h="54">
                  <a:moveTo>
                    <a:pt x="140" y="54"/>
                  </a:moveTo>
                  <a:cubicBezTo>
                    <a:pt x="95" y="34"/>
                    <a:pt x="48" y="16"/>
                    <a:pt x="0"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1" name="Freeform 13">
              <a:extLst>
                <a:ext uri="{FF2B5EF4-FFF2-40B4-BE49-F238E27FC236}">
                  <a16:creationId xmlns:a16="http://schemas.microsoft.com/office/drawing/2014/main" id="{4F24A002-AFDE-4034-85BE-CBF005AE923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41013" y="5408613"/>
              <a:ext cx="1525588" cy="1435100"/>
            </a:xfrm>
            <a:custGeom>
              <a:avLst/>
              <a:gdLst>
                <a:gd name="T0" fmla="*/ 0 w 321"/>
                <a:gd name="T1" fmla="*/ 302 h 302"/>
                <a:gd name="T2" fmla="*/ 321 w 321"/>
                <a:gd name="T3" fmla="*/ 0 h 302"/>
              </a:gdLst>
              <a:ahLst/>
              <a:cxnLst>
                <a:cxn ang="0">
                  <a:pos x="T0" y="T1"/>
                </a:cxn>
                <a:cxn ang="0">
                  <a:pos x="T2" y="T3"/>
                </a:cxn>
              </a:cxnLst>
              <a:rect l="0" t="0" r="r" b="b"/>
              <a:pathLst>
                <a:path w="321" h="302">
                  <a:moveTo>
                    <a:pt x="0" y="302"/>
                  </a:moveTo>
                  <a:cubicBezTo>
                    <a:pt x="114" y="210"/>
                    <a:pt x="223" y="109"/>
                    <a:pt x="321"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2" name="Freeform 14">
              <a:extLst>
                <a:ext uri="{FF2B5EF4-FFF2-40B4-BE49-F238E27FC236}">
                  <a16:creationId xmlns:a16="http://schemas.microsoft.com/office/drawing/2014/main" id="{36F0721E-B4B0-4A6C-A92C-F8DE92D3AC0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244850" cy="6843713"/>
            </a:xfrm>
            <a:custGeom>
              <a:avLst/>
              <a:gdLst>
                <a:gd name="T0" fmla="*/ 683 w 683"/>
                <a:gd name="T1" fmla="*/ 0 h 1440"/>
                <a:gd name="T2" fmla="*/ 355 w 683"/>
                <a:gd name="T3" fmla="*/ 1440 h 1440"/>
              </a:gdLst>
              <a:ahLst/>
              <a:cxnLst>
                <a:cxn ang="0">
                  <a:pos x="T0" y="T1"/>
                </a:cxn>
                <a:cxn ang="0">
                  <a:pos x="T2" y="T3"/>
                </a:cxn>
              </a:cxnLst>
              <a:rect l="0" t="0" r="r" b="b"/>
              <a:pathLst>
                <a:path w="683" h="1440">
                  <a:moveTo>
                    <a:pt x="683" y="0"/>
                  </a:moveTo>
                  <a:cubicBezTo>
                    <a:pt x="258" y="256"/>
                    <a:pt x="0" y="1041"/>
                    <a:pt x="355"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3" name="Freeform 15">
              <a:extLst>
                <a:ext uri="{FF2B5EF4-FFF2-40B4-BE49-F238E27FC236}">
                  <a16:creationId xmlns:a16="http://schemas.microsoft.com/office/drawing/2014/main" id="{54D2DC98-69F8-4F2F-9D45-BDFFA5E2BBB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802938" y="5518150"/>
              <a:ext cx="1363663" cy="1325563"/>
            </a:xfrm>
            <a:custGeom>
              <a:avLst/>
              <a:gdLst>
                <a:gd name="T0" fmla="*/ 0 w 287"/>
                <a:gd name="T1" fmla="*/ 279 h 279"/>
                <a:gd name="T2" fmla="*/ 287 w 287"/>
                <a:gd name="T3" fmla="*/ 0 h 279"/>
              </a:gdLst>
              <a:ahLst/>
              <a:cxnLst>
                <a:cxn ang="0">
                  <a:pos x="T0" y="T1"/>
                </a:cxn>
                <a:cxn ang="0">
                  <a:pos x="T2" y="T3"/>
                </a:cxn>
              </a:cxnLst>
              <a:rect l="0" t="0" r="r" b="b"/>
              <a:pathLst>
                <a:path w="287" h="279">
                  <a:moveTo>
                    <a:pt x="0" y="279"/>
                  </a:moveTo>
                  <a:cubicBezTo>
                    <a:pt x="101" y="193"/>
                    <a:pt x="198" y="100"/>
                    <a:pt x="287"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4" name="Freeform 16">
              <a:extLst>
                <a:ext uri="{FF2B5EF4-FFF2-40B4-BE49-F238E27FC236}">
                  <a16:creationId xmlns:a16="http://schemas.microsoft.com/office/drawing/2014/main" id="{0A636E33-DC38-40B9-B941-037E5D8603F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89000" y="0"/>
              <a:ext cx="3230563" cy="6843713"/>
            </a:xfrm>
            <a:custGeom>
              <a:avLst/>
              <a:gdLst>
                <a:gd name="T0" fmla="*/ 680 w 680"/>
                <a:gd name="T1" fmla="*/ 0 h 1440"/>
                <a:gd name="T2" fmla="*/ 337 w 680"/>
                <a:gd name="T3" fmla="*/ 1440 h 1440"/>
              </a:gdLst>
              <a:ahLst/>
              <a:cxnLst>
                <a:cxn ang="0">
                  <a:pos x="T0" y="T1"/>
                </a:cxn>
                <a:cxn ang="0">
                  <a:pos x="T2" y="T3"/>
                </a:cxn>
              </a:cxnLst>
              <a:rect l="0" t="0" r="r" b="b"/>
              <a:pathLst>
                <a:path w="680" h="1440">
                  <a:moveTo>
                    <a:pt x="680" y="0"/>
                  </a:moveTo>
                  <a:cubicBezTo>
                    <a:pt x="257" y="265"/>
                    <a:pt x="0" y="1026"/>
                    <a:pt x="337"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5" name="Freeform 17">
              <a:extLst>
                <a:ext uri="{FF2B5EF4-FFF2-40B4-BE49-F238E27FC236}">
                  <a16:creationId xmlns:a16="http://schemas.microsoft.com/office/drawing/2014/main" id="{03D30690-68C2-4AEC-9789-1495D97E194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979150" y="5694363"/>
              <a:ext cx="1187450" cy="1149350"/>
            </a:xfrm>
            <a:custGeom>
              <a:avLst/>
              <a:gdLst>
                <a:gd name="T0" fmla="*/ 0 w 250"/>
                <a:gd name="T1" fmla="*/ 242 h 242"/>
                <a:gd name="T2" fmla="*/ 250 w 250"/>
                <a:gd name="T3" fmla="*/ 0 h 242"/>
              </a:gdLst>
              <a:ahLst/>
              <a:cxnLst>
                <a:cxn ang="0">
                  <a:pos x="T0" y="T1"/>
                </a:cxn>
                <a:cxn ang="0">
                  <a:pos x="T2" y="T3"/>
                </a:cxn>
              </a:cxnLst>
              <a:rect l="0" t="0" r="r" b="b"/>
              <a:pathLst>
                <a:path w="250" h="242">
                  <a:moveTo>
                    <a:pt x="0" y="242"/>
                  </a:moveTo>
                  <a:cubicBezTo>
                    <a:pt x="88" y="166"/>
                    <a:pt x="172" y="85"/>
                    <a:pt x="250"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Freeform 18">
              <a:extLst>
                <a:ext uri="{FF2B5EF4-FFF2-40B4-BE49-F238E27FC236}">
                  <a16:creationId xmlns:a16="http://schemas.microsoft.com/office/drawing/2014/main" id="{1020B1B9-821B-49FB-BDC9-57DA08CBC30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84188" y="0"/>
              <a:ext cx="3421063" cy="6843713"/>
            </a:xfrm>
            <a:custGeom>
              <a:avLst/>
              <a:gdLst>
                <a:gd name="T0" fmla="*/ 720 w 720"/>
                <a:gd name="T1" fmla="*/ 0 h 1440"/>
                <a:gd name="T2" fmla="*/ 362 w 720"/>
                <a:gd name="T3" fmla="*/ 1440 h 1440"/>
              </a:gdLst>
              <a:ahLst/>
              <a:cxnLst>
                <a:cxn ang="0">
                  <a:pos x="T0" y="T1"/>
                </a:cxn>
                <a:cxn ang="0">
                  <a:pos x="T2" y="T3"/>
                </a:cxn>
              </a:cxnLst>
              <a:rect l="0" t="0" r="r" b="b"/>
              <a:pathLst>
                <a:path w="720" h="1440">
                  <a:moveTo>
                    <a:pt x="720" y="0"/>
                  </a:moveTo>
                  <a:cubicBezTo>
                    <a:pt x="316" y="282"/>
                    <a:pt x="0" y="1018"/>
                    <a:pt x="362"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Freeform 19">
              <a:extLst>
                <a:ext uri="{FF2B5EF4-FFF2-40B4-BE49-F238E27FC236}">
                  <a16:creationId xmlns:a16="http://schemas.microsoft.com/office/drawing/2014/main" id="{720EDCE4-8B18-413F-989E-E79628E5AF1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87125" y="6049963"/>
              <a:ext cx="879475" cy="793750"/>
            </a:xfrm>
            <a:custGeom>
              <a:avLst/>
              <a:gdLst>
                <a:gd name="T0" fmla="*/ 0 w 185"/>
                <a:gd name="T1" fmla="*/ 167 h 167"/>
                <a:gd name="T2" fmla="*/ 185 w 185"/>
                <a:gd name="T3" fmla="*/ 0 h 167"/>
              </a:gdLst>
              <a:ahLst/>
              <a:cxnLst>
                <a:cxn ang="0">
                  <a:pos x="T0" y="T1"/>
                </a:cxn>
                <a:cxn ang="0">
                  <a:pos x="T2" y="T3"/>
                </a:cxn>
              </a:cxnLst>
              <a:rect l="0" t="0" r="r" b="b"/>
              <a:pathLst>
                <a:path w="185" h="167">
                  <a:moveTo>
                    <a:pt x="0" y="167"/>
                  </a:moveTo>
                  <a:cubicBezTo>
                    <a:pt x="63" y="114"/>
                    <a:pt x="125" y="58"/>
                    <a:pt x="185"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8" name="Freeform 20">
              <a:extLst>
                <a:ext uri="{FF2B5EF4-FFF2-40B4-BE49-F238E27FC236}">
                  <a16:creationId xmlns:a16="http://schemas.microsoft.com/office/drawing/2014/main" id="{8563351E-0DDD-4FC8-8D0C-1E446E3C1B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8488" y="0"/>
              <a:ext cx="2717800" cy="6843713"/>
            </a:xfrm>
            <a:custGeom>
              <a:avLst/>
              <a:gdLst>
                <a:gd name="T0" fmla="*/ 572 w 572"/>
                <a:gd name="T1" fmla="*/ 0 h 1440"/>
                <a:gd name="T2" fmla="*/ 164 w 572"/>
                <a:gd name="T3" fmla="*/ 1440 h 1440"/>
              </a:gdLst>
              <a:ahLst/>
              <a:cxnLst>
                <a:cxn ang="0">
                  <a:pos x="T0" y="T1"/>
                </a:cxn>
                <a:cxn ang="0">
                  <a:pos x="T2" y="T3"/>
                </a:cxn>
              </a:cxnLst>
              <a:rect l="0" t="0" r="r" b="b"/>
              <a:pathLst>
                <a:path w="572" h="1440">
                  <a:moveTo>
                    <a:pt x="572" y="0"/>
                  </a:moveTo>
                  <a:cubicBezTo>
                    <a:pt x="213" y="320"/>
                    <a:pt x="0" y="979"/>
                    <a:pt x="164" y="1440"/>
                  </a:cubicBezTo>
                </a:path>
              </a:pathLst>
            </a:custGeom>
            <a:noFill/>
            <a:ln w="12700" cap="flat">
              <a:solidFill>
                <a:schemeClr val="tx1">
                  <a:alpha val="15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9" name="Freeform 21">
              <a:extLst>
                <a:ext uri="{FF2B5EF4-FFF2-40B4-BE49-F238E27FC236}">
                  <a16:creationId xmlns:a16="http://schemas.microsoft.com/office/drawing/2014/main" id="{15E8B705-64E7-4513-B3CB-BF46C35732B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61938" y="0"/>
              <a:ext cx="2944813" cy="6843713"/>
            </a:xfrm>
            <a:custGeom>
              <a:avLst/>
              <a:gdLst>
                <a:gd name="T0" fmla="*/ 620 w 620"/>
                <a:gd name="T1" fmla="*/ 0 h 1440"/>
                <a:gd name="T2" fmla="*/ 186 w 620"/>
                <a:gd name="T3" fmla="*/ 1440 h 1440"/>
              </a:gdLst>
              <a:ahLst/>
              <a:cxnLst>
                <a:cxn ang="0">
                  <a:pos x="T0" y="T1"/>
                </a:cxn>
                <a:cxn ang="0">
                  <a:pos x="T2" y="T3"/>
                </a:cxn>
              </a:cxnLst>
              <a:rect l="0" t="0" r="r" b="b"/>
              <a:pathLst>
                <a:path w="620" h="1440">
                  <a:moveTo>
                    <a:pt x="620" y="0"/>
                  </a:moveTo>
                  <a:cubicBezTo>
                    <a:pt x="248" y="325"/>
                    <a:pt x="0" y="960"/>
                    <a:pt x="186" y="1440"/>
                  </a:cubicBezTo>
                </a:path>
              </a:pathLst>
            </a:custGeom>
            <a:noFill/>
            <a:ln w="9525" cap="flat">
              <a:solidFill>
                <a:schemeClr val="tx1">
                  <a:alpha val="15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0" name="Freeform 22">
              <a:extLst>
                <a:ext uri="{FF2B5EF4-FFF2-40B4-BE49-F238E27FC236}">
                  <a16:creationId xmlns:a16="http://schemas.microsoft.com/office/drawing/2014/main" id="{30DAEE1C-EBB5-47F5-9E76-564FCFDBFC2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17513" y="0"/>
              <a:ext cx="2403475" cy="6843713"/>
            </a:xfrm>
            <a:custGeom>
              <a:avLst/>
              <a:gdLst>
                <a:gd name="T0" fmla="*/ 506 w 506"/>
                <a:gd name="T1" fmla="*/ 0 h 1440"/>
                <a:gd name="T2" fmla="*/ 171 w 506"/>
                <a:gd name="T3" fmla="*/ 1440 h 1440"/>
              </a:gdLst>
              <a:ahLst/>
              <a:cxnLst>
                <a:cxn ang="0">
                  <a:pos x="T0" y="T1"/>
                </a:cxn>
                <a:cxn ang="0">
                  <a:pos x="T2" y="T3"/>
                </a:cxn>
              </a:cxnLst>
              <a:rect l="0" t="0" r="r" b="b"/>
              <a:pathLst>
                <a:path w="506" h="1440">
                  <a:moveTo>
                    <a:pt x="506" y="0"/>
                  </a:moveTo>
                  <a:cubicBezTo>
                    <a:pt x="109" y="356"/>
                    <a:pt x="0" y="943"/>
                    <a:pt x="171"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1" name="Freeform 23">
              <a:extLst>
                <a:ext uri="{FF2B5EF4-FFF2-40B4-BE49-F238E27FC236}">
                  <a16:creationId xmlns:a16="http://schemas.microsoft.com/office/drawing/2014/main" id="{EDB255E9-A3E2-4098-99A1-FE38FAD15DA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9525"/>
              <a:ext cx="1771650" cy="3198813"/>
            </a:xfrm>
            <a:custGeom>
              <a:avLst/>
              <a:gdLst>
                <a:gd name="T0" fmla="*/ 373 w 373"/>
                <a:gd name="T1" fmla="*/ 0 h 673"/>
                <a:gd name="T2" fmla="*/ 0 w 373"/>
                <a:gd name="T3" fmla="*/ 673 h 673"/>
              </a:gdLst>
              <a:ahLst/>
              <a:cxnLst>
                <a:cxn ang="0">
                  <a:pos x="T0" y="T1"/>
                </a:cxn>
                <a:cxn ang="0">
                  <a:pos x="T2" y="T3"/>
                </a:cxn>
              </a:cxnLst>
              <a:rect l="0" t="0" r="r" b="b"/>
              <a:pathLst>
                <a:path w="373" h="673">
                  <a:moveTo>
                    <a:pt x="373" y="0"/>
                  </a:moveTo>
                  <a:cubicBezTo>
                    <a:pt x="175" y="183"/>
                    <a:pt x="51" y="409"/>
                    <a:pt x="0" y="673"/>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2" name="Freeform 24">
              <a:extLst>
                <a:ext uri="{FF2B5EF4-FFF2-40B4-BE49-F238E27FC236}">
                  <a16:creationId xmlns:a16="http://schemas.microsoft.com/office/drawing/2014/main" id="{D2507F2A-27AF-4833-8273-5FC9A988639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63" y="6016625"/>
              <a:ext cx="214313" cy="827088"/>
            </a:xfrm>
            <a:custGeom>
              <a:avLst/>
              <a:gdLst>
                <a:gd name="T0" fmla="*/ 0 w 45"/>
                <a:gd name="T1" fmla="*/ 0 h 174"/>
                <a:gd name="T2" fmla="*/ 45 w 45"/>
                <a:gd name="T3" fmla="*/ 174 h 174"/>
              </a:gdLst>
              <a:ahLst/>
              <a:cxnLst>
                <a:cxn ang="0">
                  <a:pos x="T0" y="T1"/>
                </a:cxn>
                <a:cxn ang="0">
                  <a:pos x="T2" y="T3"/>
                </a:cxn>
              </a:cxnLst>
              <a:rect l="0" t="0" r="r" b="b"/>
              <a:pathLst>
                <a:path w="45" h="174">
                  <a:moveTo>
                    <a:pt x="0" y="0"/>
                  </a:moveTo>
                  <a:cubicBezTo>
                    <a:pt x="11" y="59"/>
                    <a:pt x="26" y="118"/>
                    <a:pt x="45" y="174"/>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3" name="Freeform 25">
              <a:extLst>
                <a:ext uri="{FF2B5EF4-FFF2-40B4-BE49-F238E27FC236}">
                  <a16:creationId xmlns:a16="http://schemas.microsoft.com/office/drawing/2014/main" id="{8DFB8904-0CB8-45AD-ABD2-F7A582365E8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0"/>
              <a:ext cx="1562100" cy="2228850"/>
            </a:xfrm>
            <a:custGeom>
              <a:avLst/>
              <a:gdLst>
                <a:gd name="T0" fmla="*/ 329 w 329"/>
                <a:gd name="T1" fmla="*/ 0 h 469"/>
                <a:gd name="T2" fmla="*/ 0 w 329"/>
                <a:gd name="T3" fmla="*/ 469 h 469"/>
              </a:gdLst>
              <a:ahLst/>
              <a:cxnLst>
                <a:cxn ang="0">
                  <a:pos x="T0" y="T1"/>
                </a:cxn>
                <a:cxn ang="0">
                  <a:pos x="T2" y="T3"/>
                </a:cxn>
              </a:cxnLst>
              <a:rect l="0" t="0" r="r" b="b"/>
              <a:pathLst>
                <a:path w="329" h="469">
                  <a:moveTo>
                    <a:pt x="329" y="0"/>
                  </a:moveTo>
                  <a:cubicBezTo>
                    <a:pt x="189" y="133"/>
                    <a:pt x="69" y="288"/>
                    <a:pt x="0" y="469"/>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2" name="TextBox 1">
            <a:extLst>
              <a:ext uri="{FF2B5EF4-FFF2-40B4-BE49-F238E27FC236}">
                <a16:creationId xmlns:a16="http://schemas.microsoft.com/office/drawing/2014/main" id="{92888177-3715-D34A-55F6-B4EF400261C5}"/>
              </a:ext>
            </a:extLst>
          </p:cNvPr>
          <p:cNvSpPr txBox="1"/>
          <p:nvPr/>
        </p:nvSpPr>
        <p:spPr>
          <a:xfrm>
            <a:off x="1759133" y="800482"/>
            <a:ext cx="8673427" cy="1048945"/>
          </a:xfrm>
          <a:prstGeom prst="rect">
            <a:avLst/>
          </a:prstGeom>
        </p:spPr>
        <p:txBody>
          <a:bodyPr rot="0" spcFirstLastPara="0" vertOverflow="overflow" horzOverflow="overflow" vert="horz" lIns="228600" tIns="228600" rIns="228600" bIns="228600" numCol="1" spcCol="0" rtlCol="0" fromWordArt="0" anchor="ctr" anchorCtr="0" forceAA="0" compatLnSpc="1">
            <a:prstTxWarp prst="textNoShape">
              <a:avLst/>
            </a:prstTxWarp>
            <a:normAutofit/>
          </a:bodyPr>
          <a:lstStyle/>
          <a:p>
            <a:pPr algn="ctr" defTabSz="914400">
              <a:lnSpc>
                <a:spcPct val="85000"/>
              </a:lnSpc>
              <a:spcBef>
                <a:spcPct val="0"/>
              </a:spcBef>
              <a:spcAft>
                <a:spcPts val="600"/>
              </a:spcAft>
            </a:pPr>
            <a:r>
              <a:rPr lang="en-US" sz="4400" b="0" i="0" kern="1200" cap="none" spc="-150">
                <a:effectLst/>
                <a:ea typeface="+mj-ea"/>
                <a:cs typeface="+mj-cs"/>
              </a:rPr>
              <a:t>Recommendations</a:t>
            </a:r>
          </a:p>
        </p:txBody>
      </p:sp>
      <p:graphicFrame>
        <p:nvGraphicFramePr>
          <p:cNvPr id="65" name="Content Placeholder 5">
            <a:extLst>
              <a:ext uri="{FF2B5EF4-FFF2-40B4-BE49-F238E27FC236}">
                <a16:creationId xmlns:a16="http://schemas.microsoft.com/office/drawing/2014/main" id="{CA871A0A-CF9D-55F2-5FEF-9548739688CA}"/>
              </a:ext>
            </a:extLst>
          </p:cNvPr>
          <p:cNvGraphicFramePr>
            <a:graphicFrameLocks noGrp="1"/>
          </p:cNvGraphicFramePr>
          <p:nvPr>
            <p:ph idx="1"/>
            <p:extLst>
              <p:ext uri="{D42A27DB-BD31-4B8C-83A1-F6EECF244321}">
                <p14:modId xmlns:p14="http://schemas.microsoft.com/office/powerpoint/2010/main" val="2034023599"/>
              </p:ext>
            </p:extLst>
          </p:nvPr>
        </p:nvGraphicFramePr>
        <p:xfrm>
          <a:off x="807722" y="1990976"/>
          <a:ext cx="10576558" cy="41754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4">
            <a:extLst>
              <a:ext uri="{FF2B5EF4-FFF2-40B4-BE49-F238E27FC236}">
                <a16:creationId xmlns:a16="http://schemas.microsoft.com/office/drawing/2014/main" id="{11DC83A0-5BE6-234A-78B5-68A0EFD7481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26408" y="-663307"/>
            <a:ext cx="2326245" cy="2127358"/>
          </a:xfrm>
          <a:prstGeom prst="rect">
            <a:avLst/>
          </a:prstGeom>
          <a:noFill/>
          <a:extLst>
            <a:ext uri="{909E8E84-426E-40DD-AFC4-6F175D3DCCD1}">
              <a14:hiddenFill xmlns:a14="http://schemas.microsoft.com/office/drawing/2010/main">
                <a:solidFill>
                  <a:srgbClr val="FFFFFF"/>
                </a:solidFill>
              </a14:hiddenFill>
            </a:ext>
          </a:extLst>
        </p:spPr>
      </p:pic>
      <p:pic>
        <p:nvPicPr>
          <p:cNvPr id="5" name="Content Placeholder 6" descr="A red text on a black background&#10;&#10;AI-generated content may be incorrect.">
            <a:extLst>
              <a:ext uri="{FF2B5EF4-FFF2-40B4-BE49-F238E27FC236}">
                <a16:creationId xmlns:a16="http://schemas.microsoft.com/office/drawing/2014/main" id="{9EA63654-EA64-40AD-38A7-0D66B42ACDAC}"/>
              </a:ext>
            </a:extLst>
          </p:cNvPr>
          <p:cNvPicPr>
            <a:picLocks noChangeAspect="1"/>
          </p:cNvPicPr>
          <p:nvPr/>
        </p:nvPicPr>
        <p:blipFill>
          <a:blip r:embed="rId9"/>
          <a:stretch>
            <a:fillRect/>
          </a:stretch>
        </p:blipFill>
        <p:spPr>
          <a:xfrm>
            <a:off x="102098" y="-169011"/>
            <a:ext cx="1708149" cy="1138767"/>
          </a:xfrm>
          <a:prstGeom prst="rect">
            <a:avLst/>
          </a:prstGeom>
        </p:spPr>
      </p:pic>
    </p:spTree>
    <p:extLst>
      <p:ext uri="{BB962C8B-B14F-4D97-AF65-F5344CB8AC3E}">
        <p14:creationId xmlns:p14="http://schemas.microsoft.com/office/powerpoint/2010/main" val="6997120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E56FDE-2D86-A510-4E19-2B32D6CEBCEB}"/>
            </a:ext>
          </a:extLst>
        </p:cNvPr>
        <p:cNvGrpSpPr/>
        <p:nvPr/>
      </p:nvGrpSpPr>
      <p:grpSpPr>
        <a:xfrm>
          <a:off x="0" y="0"/>
          <a:ext cx="0" cy="0"/>
          <a:chOff x="0" y="0"/>
          <a:chExt cx="0" cy="0"/>
        </a:xfrm>
      </p:grpSpPr>
      <p:grpSp>
        <p:nvGrpSpPr>
          <p:cNvPr id="68" name="Group 67">
            <a:extLst>
              <a:ext uri="{FF2B5EF4-FFF2-40B4-BE49-F238E27FC236}">
                <a16:creationId xmlns:a16="http://schemas.microsoft.com/office/drawing/2014/main" id="{84DB7353-7D7A-431B-A5B6-A3845E6F2BB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69" name="Freeform 5">
              <a:extLst>
                <a:ext uri="{FF2B5EF4-FFF2-40B4-BE49-F238E27FC236}">
                  <a16:creationId xmlns:a16="http://schemas.microsoft.com/office/drawing/2014/main" id="{9E8D15D6-6183-4BE1-A315-C7EC9C1A53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0" name="Freeform 6">
              <a:extLst>
                <a:ext uri="{FF2B5EF4-FFF2-40B4-BE49-F238E27FC236}">
                  <a16:creationId xmlns:a16="http://schemas.microsoft.com/office/drawing/2014/main" id="{82A253FA-4E60-4B4D-94B0-93ECFCF309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1" name="Freeform 7">
              <a:extLst>
                <a:ext uri="{FF2B5EF4-FFF2-40B4-BE49-F238E27FC236}">
                  <a16:creationId xmlns:a16="http://schemas.microsoft.com/office/drawing/2014/main" id="{E1B39AD1-11BD-457B-822C-A873607F41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2" name="Freeform 8">
              <a:extLst>
                <a:ext uri="{FF2B5EF4-FFF2-40B4-BE49-F238E27FC236}">
                  <a16:creationId xmlns:a16="http://schemas.microsoft.com/office/drawing/2014/main" id="{CC286005-78D5-4BE4-AA8B-75CDC07E78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3" name="Freeform 9">
              <a:extLst>
                <a:ext uri="{FF2B5EF4-FFF2-40B4-BE49-F238E27FC236}">
                  <a16:creationId xmlns:a16="http://schemas.microsoft.com/office/drawing/2014/main" id="{09E4A22D-7E83-4F24-97FE-931A93CAC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4" name="Freeform 10">
              <a:extLst>
                <a:ext uri="{FF2B5EF4-FFF2-40B4-BE49-F238E27FC236}">
                  <a16:creationId xmlns:a16="http://schemas.microsoft.com/office/drawing/2014/main" id="{4351E96B-8DD4-4D5E-A9F0-C47F5F3378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5" name="Freeform 11">
              <a:extLst>
                <a:ext uri="{FF2B5EF4-FFF2-40B4-BE49-F238E27FC236}">
                  <a16:creationId xmlns:a16="http://schemas.microsoft.com/office/drawing/2014/main" id="{BFF78610-2475-4756-9EC8-5DA7D8902D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6" name="Freeform 12">
              <a:extLst>
                <a:ext uri="{FF2B5EF4-FFF2-40B4-BE49-F238E27FC236}">
                  <a16:creationId xmlns:a16="http://schemas.microsoft.com/office/drawing/2014/main" id="{C7ACAE44-681D-4CBC-B2AB-E5131DF5A8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7" name="Freeform 13">
              <a:extLst>
                <a:ext uri="{FF2B5EF4-FFF2-40B4-BE49-F238E27FC236}">
                  <a16:creationId xmlns:a16="http://schemas.microsoft.com/office/drawing/2014/main" id="{CA22E4A0-73AA-4722-9C16-F3AF9A33EC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8" name="Freeform 14">
              <a:extLst>
                <a:ext uri="{FF2B5EF4-FFF2-40B4-BE49-F238E27FC236}">
                  <a16:creationId xmlns:a16="http://schemas.microsoft.com/office/drawing/2014/main" id="{BB36E626-EBEB-41C0-B224-8DB049DB4D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9" name="Freeform 15">
              <a:extLst>
                <a:ext uri="{FF2B5EF4-FFF2-40B4-BE49-F238E27FC236}">
                  <a16:creationId xmlns:a16="http://schemas.microsoft.com/office/drawing/2014/main" id="{D603DEC5-BED4-4DB6-A253-F61CC36742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0" name="Freeform 16">
              <a:extLst>
                <a:ext uri="{FF2B5EF4-FFF2-40B4-BE49-F238E27FC236}">
                  <a16:creationId xmlns:a16="http://schemas.microsoft.com/office/drawing/2014/main" id="{86AE9DE6-CA9A-479B-A0FB-0E1BAC7A65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1" name="Freeform 17">
              <a:extLst>
                <a:ext uri="{FF2B5EF4-FFF2-40B4-BE49-F238E27FC236}">
                  <a16:creationId xmlns:a16="http://schemas.microsoft.com/office/drawing/2014/main" id="{16CB8DC8-E75F-4574-A290-AAB7031BE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 name="Freeform 18">
              <a:extLst>
                <a:ext uri="{FF2B5EF4-FFF2-40B4-BE49-F238E27FC236}">
                  <a16:creationId xmlns:a16="http://schemas.microsoft.com/office/drawing/2014/main" id="{1CA657E1-3A52-4C23-AA47-EBB2D5C414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Freeform 19">
              <a:extLst>
                <a:ext uri="{FF2B5EF4-FFF2-40B4-BE49-F238E27FC236}">
                  <a16:creationId xmlns:a16="http://schemas.microsoft.com/office/drawing/2014/main" id="{ED4F701B-2A93-464F-A673-54EED5C4C4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4" name="Freeform 20">
              <a:extLst>
                <a:ext uri="{FF2B5EF4-FFF2-40B4-BE49-F238E27FC236}">
                  <a16:creationId xmlns:a16="http://schemas.microsoft.com/office/drawing/2014/main" id="{9977C34F-F6C9-4749-B201-7B928802D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 name="Freeform 21">
              <a:extLst>
                <a:ext uri="{FF2B5EF4-FFF2-40B4-BE49-F238E27FC236}">
                  <a16:creationId xmlns:a16="http://schemas.microsoft.com/office/drawing/2014/main" id="{3A913E6B-DBE9-4291-A34C-36069ECB8E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22">
              <a:extLst>
                <a:ext uri="{FF2B5EF4-FFF2-40B4-BE49-F238E27FC236}">
                  <a16:creationId xmlns:a16="http://schemas.microsoft.com/office/drawing/2014/main" id="{7D415C04-AB5C-4B76-9E49-EEBAEE64D0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 name="Freeform 23">
              <a:extLst>
                <a:ext uri="{FF2B5EF4-FFF2-40B4-BE49-F238E27FC236}">
                  <a16:creationId xmlns:a16="http://schemas.microsoft.com/office/drawing/2014/main" id="{151FDC11-E872-4EAE-A597-822F9FE170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89" name="Group 88">
            <a:extLst>
              <a:ext uri="{FF2B5EF4-FFF2-40B4-BE49-F238E27FC236}">
                <a16:creationId xmlns:a16="http://schemas.microsoft.com/office/drawing/2014/main" id="{1B24766B-81CA-44C7-BF11-77A12BA424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69293" y="1186483"/>
            <a:ext cx="8848345" cy="4477933"/>
            <a:chOff x="1669293" y="1186483"/>
            <a:chExt cx="8848345" cy="4477933"/>
          </a:xfrm>
        </p:grpSpPr>
        <p:sp>
          <p:nvSpPr>
            <p:cNvPr id="90" name="Rectangle 89">
              <a:extLst>
                <a:ext uri="{FF2B5EF4-FFF2-40B4-BE49-F238E27FC236}">
                  <a16:creationId xmlns:a16="http://schemas.microsoft.com/office/drawing/2014/main" id="{1A2F9962-DEB8-461C-8B4C-C0ED0D8A7B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1" name="Isosceles Triangle 90">
              <a:extLst>
                <a:ext uri="{FF2B5EF4-FFF2-40B4-BE49-F238E27FC236}">
                  <a16:creationId xmlns:a16="http://schemas.microsoft.com/office/drawing/2014/main" id="{C0672E08-EB09-4B8E-8522-24BBC2CFFD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2" name="Rectangle 91">
              <a:extLst>
                <a:ext uri="{FF2B5EF4-FFF2-40B4-BE49-F238E27FC236}">
                  <a16:creationId xmlns:a16="http://schemas.microsoft.com/office/drawing/2014/main" id="{3447AB64-F3EC-4A1F-BFD4-F0F9DB3DAD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useBgFill="1">
        <p:nvSpPr>
          <p:cNvPr id="94" name="Rectangle 93">
            <a:extLst>
              <a:ext uri="{FF2B5EF4-FFF2-40B4-BE49-F238E27FC236}">
                <a16:creationId xmlns:a16="http://schemas.microsoft.com/office/drawing/2014/main" id="{6BDBA639-2A71-4A60-A71A-FF1836F546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6" name="Group 95">
            <a:extLst>
              <a:ext uri="{FF2B5EF4-FFF2-40B4-BE49-F238E27FC236}">
                <a16:creationId xmlns:a16="http://schemas.microsoft.com/office/drawing/2014/main" id="{5E208A8B-5EBD-4532-BE72-26414FA7CF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97" name="Freeform 5">
              <a:extLst>
                <a:ext uri="{FF2B5EF4-FFF2-40B4-BE49-F238E27FC236}">
                  <a16:creationId xmlns:a16="http://schemas.microsoft.com/office/drawing/2014/main" id="{15D09196-B338-4AB5-A71B-CFD5FFCA62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8" name="Freeform 6">
              <a:extLst>
                <a:ext uri="{FF2B5EF4-FFF2-40B4-BE49-F238E27FC236}">
                  <a16:creationId xmlns:a16="http://schemas.microsoft.com/office/drawing/2014/main" id="{F50B4463-128A-4677-A285-C017E6C543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9" name="Freeform 7">
              <a:extLst>
                <a:ext uri="{FF2B5EF4-FFF2-40B4-BE49-F238E27FC236}">
                  <a16:creationId xmlns:a16="http://schemas.microsoft.com/office/drawing/2014/main" id="{1D9B95CD-F023-4DFA-9678-1E02713F74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0" name="Freeform 8">
              <a:extLst>
                <a:ext uri="{FF2B5EF4-FFF2-40B4-BE49-F238E27FC236}">
                  <a16:creationId xmlns:a16="http://schemas.microsoft.com/office/drawing/2014/main" id="{1DDF47A8-BE7B-43F3-A500-F5A4656D83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9">
              <a:extLst>
                <a:ext uri="{FF2B5EF4-FFF2-40B4-BE49-F238E27FC236}">
                  <a16:creationId xmlns:a16="http://schemas.microsoft.com/office/drawing/2014/main" id="{2DD394DE-76FB-42F8-85F2-FD436F4232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2" name="Freeform 10">
              <a:extLst>
                <a:ext uri="{FF2B5EF4-FFF2-40B4-BE49-F238E27FC236}">
                  <a16:creationId xmlns:a16="http://schemas.microsoft.com/office/drawing/2014/main" id="{B95F2EFB-87E6-4400-AAF3-7EB8B4F156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3" name="Freeform 11">
              <a:extLst>
                <a:ext uri="{FF2B5EF4-FFF2-40B4-BE49-F238E27FC236}">
                  <a16:creationId xmlns:a16="http://schemas.microsoft.com/office/drawing/2014/main" id="{1D463476-2BC7-418C-9D6F-51444B11A7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4" name="Freeform 12">
              <a:extLst>
                <a:ext uri="{FF2B5EF4-FFF2-40B4-BE49-F238E27FC236}">
                  <a16:creationId xmlns:a16="http://schemas.microsoft.com/office/drawing/2014/main" id="{24011122-2495-478A-81BF-ABBDEA1DA8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5" name="Freeform 13">
              <a:extLst>
                <a:ext uri="{FF2B5EF4-FFF2-40B4-BE49-F238E27FC236}">
                  <a16:creationId xmlns:a16="http://schemas.microsoft.com/office/drawing/2014/main" id="{C79E87C5-E5B3-476B-B539-FC9CF4A33B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6" name="Freeform 14">
              <a:extLst>
                <a:ext uri="{FF2B5EF4-FFF2-40B4-BE49-F238E27FC236}">
                  <a16:creationId xmlns:a16="http://schemas.microsoft.com/office/drawing/2014/main" id="{956029CA-2B38-434D-9044-5FF3A1ECD1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7" name="Freeform 15">
              <a:extLst>
                <a:ext uri="{FF2B5EF4-FFF2-40B4-BE49-F238E27FC236}">
                  <a16:creationId xmlns:a16="http://schemas.microsoft.com/office/drawing/2014/main" id="{9514CFB6-E8DB-43DC-B1CD-9CC2D4B276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8" name="Freeform 16">
              <a:extLst>
                <a:ext uri="{FF2B5EF4-FFF2-40B4-BE49-F238E27FC236}">
                  <a16:creationId xmlns:a16="http://schemas.microsoft.com/office/drawing/2014/main" id="{BD8C1FC8-E550-45BE-9F30-822BAB3781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9" name="Freeform 17">
              <a:extLst>
                <a:ext uri="{FF2B5EF4-FFF2-40B4-BE49-F238E27FC236}">
                  <a16:creationId xmlns:a16="http://schemas.microsoft.com/office/drawing/2014/main" id="{D1646B5D-A7B7-41EC-9591-0E0C0F4F94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0" name="Freeform 18">
              <a:extLst>
                <a:ext uri="{FF2B5EF4-FFF2-40B4-BE49-F238E27FC236}">
                  <a16:creationId xmlns:a16="http://schemas.microsoft.com/office/drawing/2014/main" id="{E2118E93-481E-4843-987E-378187AA37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1" name="Freeform 19">
              <a:extLst>
                <a:ext uri="{FF2B5EF4-FFF2-40B4-BE49-F238E27FC236}">
                  <a16:creationId xmlns:a16="http://schemas.microsoft.com/office/drawing/2014/main" id="{77038464-F4E2-47EC-A87F-18469191E3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2" name="Freeform 20">
              <a:extLst>
                <a:ext uri="{FF2B5EF4-FFF2-40B4-BE49-F238E27FC236}">
                  <a16:creationId xmlns:a16="http://schemas.microsoft.com/office/drawing/2014/main" id="{FB3BBEB1-E146-408F-95B7-EE2F269DE1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3" name="Freeform 21">
              <a:extLst>
                <a:ext uri="{FF2B5EF4-FFF2-40B4-BE49-F238E27FC236}">
                  <a16:creationId xmlns:a16="http://schemas.microsoft.com/office/drawing/2014/main" id="{C765B285-56EC-47FC-B116-274EBBD61A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4" name="Freeform 22">
              <a:extLst>
                <a:ext uri="{FF2B5EF4-FFF2-40B4-BE49-F238E27FC236}">
                  <a16:creationId xmlns:a16="http://schemas.microsoft.com/office/drawing/2014/main" id="{CB4A6191-6913-42EA-905E-8A174AE2C9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5" name="Freeform 23">
              <a:extLst>
                <a:ext uri="{FF2B5EF4-FFF2-40B4-BE49-F238E27FC236}">
                  <a16:creationId xmlns:a16="http://schemas.microsoft.com/office/drawing/2014/main" id="{8ADEEF92-F481-475A-845C-5E940F0D55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17" name="Freeform: Shape 116">
            <a:extLst>
              <a:ext uri="{FF2B5EF4-FFF2-40B4-BE49-F238E27FC236}">
                <a16:creationId xmlns:a16="http://schemas.microsoft.com/office/drawing/2014/main" id="{D9C506D7-84CB-4057-A44A-465313E785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31529">
            <a:off x="2173916" y="2448612"/>
            <a:ext cx="4418757" cy="4259609"/>
          </a:xfrm>
          <a:custGeom>
            <a:avLst/>
            <a:gdLst>
              <a:gd name="connsiteX0" fmla="*/ 404107 w 4507111"/>
              <a:gd name="connsiteY0" fmla="*/ 0 h 4344781"/>
              <a:gd name="connsiteX1" fmla="*/ 371857 w 4507111"/>
              <a:gd name="connsiteY1" fmla="*/ 117359 h 4344781"/>
              <a:gd name="connsiteX2" fmla="*/ 307833 w 4507111"/>
              <a:gd name="connsiteY2" fmla="*/ 632970 h 4344781"/>
              <a:gd name="connsiteX3" fmla="*/ 3569418 w 4507111"/>
              <a:gd name="connsiteY3" fmla="*/ 4141149 h 4344781"/>
              <a:gd name="connsiteX4" fmla="*/ 4440861 w 4507111"/>
              <a:gd name="connsiteY4" fmla="*/ 4332480 h 4344781"/>
              <a:gd name="connsiteX5" fmla="*/ 4507111 w 4507111"/>
              <a:gd name="connsiteY5" fmla="*/ 4341752 h 4344781"/>
              <a:gd name="connsiteX6" fmla="*/ 4296045 w 4507111"/>
              <a:gd name="connsiteY6" fmla="*/ 4344781 h 4344781"/>
              <a:gd name="connsiteX7" fmla="*/ 3749565 w 4507111"/>
              <a:gd name="connsiteY7" fmla="*/ 4321853 h 4344781"/>
              <a:gd name="connsiteX8" fmla="*/ 36764 w 4507111"/>
              <a:gd name="connsiteY8" fmla="*/ 1629794 h 4344781"/>
              <a:gd name="connsiteX9" fmla="*/ 300069 w 4507111"/>
              <a:gd name="connsiteY9" fmla="*/ 144750 h 4344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07111" h="4344781">
                <a:moveTo>
                  <a:pt x="404107" y="0"/>
                </a:moveTo>
                <a:lnTo>
                  <a:pt x="371857" y="117359"/>
                </a:lnTo>
                <a:cubicBezTo>
                  <a:pt x="333827" y="278567"/>
                  <a:pt x="311875" y="450459"/>
                  <a:pt x="307833" y="632970"/>
                </a:cubicBezTo>
                <a:cubicBezTo>
                  <a:pt x="264711" y="2579752"/>
                  <a:pt x="2253987" y="3769243"/>
                  <a:pt x="3569418" y="4141149"/>
                </a:cubicBezTo>
                <a:cubicBezTo>
                  <a:pt x="3816061" y="4210881"/>
                  <a:pt x="4114807" y="4279754"/>
                  <a:pt x="4440861" y="4332480"/>
                </a:cubicBezTo>
                <a:lnTo>
                  <a:pt x="4507111" y="4341752"/>
                </a:lnTo>
                <a:lnTo>
                  <a:pt x="4296045" y="4344781"/>
                </a:lnTo>
                <a:cubicBezTo>
                  <a:pt x="4097363" y="4343711"/>
                  <a:pt x="3912623" y="4335104"/>
                  <a:pt x="3749565" y="4321853"/>
                </a:cubicBezTo>
                <a:cubicBezTo>
                  <a:pt x="2445102" y="4215850"/>
                  <a:pt x="356405" y="3466499"/>
                  <a:pt x="36764" y="1629794"/>
                </a:cubicBezTo>
                <a:cubicBezTo>
                  <a:pt x="-63123" y="1055823"/>
                  <a:pt x="45741" y="555869"/>
                  <a:pt x="300069" y="14475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9" name="Oval 32">
            <a:extLst>
              <a:ext uri="{FF2B5EF4-FFF2-40B4-BE49-F238E27FC236}">
                <a16:creationId xmlns:a16="http://schemas.microsoft.com/office/drawing/2014/main" id="{7842FC68-61FD-4700-8A22-BB8B071884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54579" y="691977"/>
            <a:ext cx="7761923" cy="5343064"/>
          </a:xfrm>
          <a:custGeom>
            <a:avLst/>
            <a:gdLst>
              <a:gd name="connsiteX0" fmla="*/ 0 w 6428838"/>
              <a:gd name="connsiteY0" fmla="*/ 2579031 h 5158062"/>
              <a:gd name="connsiteX1" fmla="*/ 3214419 w 6428838"/>
              <a:gd name="connsiteY1" fmla="*/ 0 h 5158062"/>
              <a:gd name="connsiteX2" fmla="*/ 6428838 w 6428838"/>
              <a:gd name="connsiteY2" fmla="*/ 2579031 h 5158062"/>
              <a:gd name="connsiteX3" fmla="*/ 3214419 w 6428838"/>
              <a:gd name="connsiteY3" fmla="*/ 5158062 h 5158062"/>
              <a:gd name="connsiteX4" fmla="*/ 0 w 6428838"/>
              <a:gd name="connsiteY4" fmla="*/ 2579031 h 5158062"/>
              <a:gd name="connsiteX0" fmla="*/ 3321 w 6432159"/>
              <a:gd name="connsiteY0" fmla="*/ 2647125 h 5226156"/>
              <a:gd name="connsiteX1" fmla="*/ 2789723 w 6432159"/>
              <a:gd name="connsiteY1" fmla="*/ 0 h 5226156"/>
              <a:gd name="connsiteX2" fmla="*/ 6432159 w 6432159"/>
              <a:gd name="connsiteY2" fmla="*/ 2647125 h 5226156"/>
              <a:gd name="connsiteX3" fmla="*/ 3217740 w 6432159"/>
              <a:gd name="connsiteY3" fmla="*/ 5226156 h 5226156"/>
              <a:gd name="connsiteX4" fmla="*/ 3321 w 6432159"/>
              <a:gd name="connsiteY4" fmla="*/ 2647125 h 5226156"/>
              <a:gd name="connsiteX0" fmla="*/ 1953 w 6566979"/>
              <a:gd name="connsiteY0" fmla="*/ 2695803 h 5226224"/>
              <a:gd name="connsiteX1" fmla="*/ 2924543 w 6566979"/>
              <a:gd name="connsiteY1" fmla="*/ 39 h 5226224"/>
              <a:gd name="connsiteX2" fmla="*/ 6566979 w 6566979"/>
              <a:gd name="connsiteY2" fmla="*/ 2647164 h 5226224"/>
              <a:gd name="connsiteX3" fmla="*/ 3352560 w 6566979"/>
              <a:gd name="connsiteY3" fmla="*/ 5226195 h 5226224"/>
              <a:gd name="connsiteX4" fmla="*/ 1953 w 6566979"/>
              <a:gd name="connsiteY4" fmla="*/ 2695803 h 5226224"/>
              <a:gd name="connsiteX0" fmla="*/ 8982 w 6574008"/>
              <a:gd name="connsiteY0" fmla="*/ 2695803 h 5226313"/>
              <a:gd name="connsiteX1" fmla="*/ 2931572 w 6574008"/>
              <a:gd name="connsiteY1" fmla="*/ 39 h 5226313"/>
              <a:gd name="connsiteX2" fmla="*/ 6574008 w 6574008"/>
              <a:gd name="connsiteY2" fmla="*/ 2647164 h 5226313"/>
              <a:gd name="connsiteX3" fmla="*/ 3359589 w 6574008"/>
              <a:gd name="connsiteY3" fmla="*/ 5226195 h 5226313"/>
              <a:gd name="connsiteX4" fmla="*/ 8982 w 6574008"/>
              <a:gd name="connsiteY4" fmla="*/ 2695803 h 5226313"/>
              <a:gd name="connsiteX0" fmla="*/ 11929 w 6576955"/>
              <a:gd name="connsiteY0" fmla="*/ 2695953 h 5226463"/>
              <a:gd name="connsiteX1" fmla="*/ 2934519 w 6576955"/>
              <a:gd name="connsiteY1" fmla="*/ 189 h 5226463"/>
              <a:gd name="connsiteX2" fmla="*/ 6576955 w 6576955"/>
              <a:gd name="connsiteY2" fmla="*/ 2647314 h 5226463"/>
              <a:gd name="connsiteX3" fmla="*/ 3362536 w 6576955"/>
              <a:gd name="connsiteY3" fmla="*/ 5226345 h 5226463"/>
              <a:gd name="connsiteX4" fmla="*/ 11929 w 6576955"/>
              <a:gd name="connsiteY4" fmla="*/ 2695953 h 5226463"/>
              <a:gd name="connsiteX0" fmla="*/ 9262 w 6963394"/>
              <a:gd name="connsiteY0" fmla="*/ 2705797 h 5247356"/>
              <a:gd name="connsiteX1" fmla="*/ 2931852 w 6963394"/>
              <a:gd name="connsiteY1" fmla="*/ 10033 h 5247356"/>
              <a:gd name="connsiteX2" fmla="*/ 6963394 w 6963394"/>
              <a:gd name="connsiteY2" fmla="*/ 3318639 h 5247356"/>
              <a:gd name="connsiteX3" fmla="*/ 3359869 w 6963394"/>
              <a:gd name="connsiteY3" fmla="*/ 5236189 h 5247356"/>
              <a:gd name="connsiteX4" fmla="*/ 9262 w 6963394"/>
              <a:gd name="connsiteY4" fmla="*/ 2705797 h 5247356"/>
              <a:gd name="connsiteX0" fmla="*/ 9262 w 6963394"/>
              <a:gd name="connsiteY0" fmla="*/ 2705797 h 5247356"/>
              <a:gd name="connsiteX1" fmla="*/ 2931852 w 6963394"/>
              <a:gd name="connsiteY1" fmla="*/ 10033 h 5247356"/>
              <a:gd name="connsiteX2" fmla="*/ 6963394 w 6963394"/>
              <a:gd name="connsiteY2" fmla="*/ 3318639 h 5247356"/>
              <a:gd name="connsiteX3" fmla="*/ 3359869 w 6963394"/>
              <a:gd name="connsiteY3" fmla="*/ 5236189 h 5247356"/>
              <a:gd name="connsiteX4" fmla="*/ 9262 w 6963394"/>
              <a:gd name="connsiteY4" fmla="*/ 2705797 h 5247356"/>
              <a:gd name="connsiteX0" fmla="*/ 9262 w 6963394"/>
              <a:gd name="connsiteY0" fmla="*/ 2705797 h 5292159"/>
              <a:gd name="connsiteX1" fmla="*/ 2931852 w 6963394"/>
              <a:gd name="connsiteY1" fmla="*/ 10033 h 5292159"/>
              <a:gd name="connsiteX2" fmla="*/ 6963394 w 6963394"/>
              <a:gd name="connsiteY2" fmla="*/ 3318639 h 5292159"/>
              <a:gd name="connsiteX3" fmla="*/ 3359869 w 6963394"/>
              <a:gd name="connsiteY3" fmla="*/ 5236189 h 5292159"/>
              <a:gd name="connsiteX4" fmla="*/ 9262 w 6963394"/>
              <a:gd name="connsiteY4" fmla="*/ 2705797 h 5292159"/>
              <a:gd name="connsiteX0" fmla="*/ 9262 w 6963394"/>
              <a:gd name="connsiteY0" fmla="*/ 2705797 h 5259961"/>
              <a:gd name="connsiteX1" fmla="*/ 2931852 w 6963394"/>
              <a:gd name="connsiteY1" fmla="*/ 10033 h 5259961"/>
              <a:gd name="connsiteX2" fmla="*/ 6963394 w 6963394"/>
              <a:gd name="connsiteY2" fmla="*/ 3318639 h 5259961"/>
              <a:gd name="connsiteX3" fmla="*/ 3359869 w 6963394"/>
              <a:gd name="connsiteY3" fmla="*/ 5236189 h 5259961"/>
              <a:gd name="connsiteX4" fmla="*/ 9262 w 6963394"/>
              <a:gd name="connsiteY4" fmla="*/ 2705797 h 5259961"/>
              <a:gd name="connsiteX0" fmla="*/ 9557 w 7352795"/>
              <a:gd name="connsiteY0" fmla="*/ 2707501 h 5252013"/>
              <a:gd name="connsiteX1" fmla="*/ 2932147 w 7352795"/>
              <a:gd name="connsiteY1" fmla="*/ 11737 h 5252013"/>
              <a:gd name="connsiteX2" fmla="*/ 7352795 w 7352795"/>
              <a:gd name="connsiteY2" fmla="*/ 3378709 h 5252013"/>
              <a:gd name="connsiteX3" fmla="*/ 3360164 w 7352795"/>
              <a:gd name="connsiteY3" fmla="*/ 5237893 h 5252013"/>
              <a:gd name="connsiteX4" fmla="*/ 9557 w 7352795"/>
              <a:gd name="connsiteY4" fmla="*/ 2707501 h 5252013"/>
              <a:gd name="connsiteX0" fmla="*/ 8078 w 7789061"/>
              <a:gd name="connsiteY0" fmla="*/ 2744796 h 5249051"/>
              <a:gd name="connsiteX1" fmla="*/ 3368413 w 7789061"/>
              <a:gd name="connsiteY1" fmla="*/ 10121 h 5249051"/>
              <a:gd name="connsiteX2" fmla="*/ 7789061 w 7789061"/>
              <a:gd name="connsiteY2" fmla="*/ 3377093 h 5249051"/>
              <a:gd name="connsiteX3" fmla="*/ 3796430 w 7789061"/>
              <a:gd name="connsiteY3" fmla="*/ 5236277 h 5249051"/>
              <a:gd name="connsiteX4" fmla="*/ 8078 w 7789061"/>
              <a:gd name="connsiteY4" fmla="*/ 2744796 h 5249051"/>
              <a:gd name="connsiteX0" fmla="*/ 8078 w 7789061"/>
              <a:gd name="connsiteY0" fmla="*/ 2744796 h 5271741"/>
              <a:gd name="connsiteX1" fmla="*/ 3368413 w 7789061"/>
              <a:gd name="connsiteY1" fmla="*/ 10121 h 5271741"/>
              <a:gd name="connsiteX2" fmla="*/ 7789061 w 7789061"/>
              <a:gd name="connsiteY2" fmla="*/ 3377093 h 5271741"/>
              <a:gd name="connsiteX3" fmla="*/ 3796430 w 7789061"/>
              <a:gd name="connsiteY3" fmla="*/ 5236277 h 5271741"/>
              <a:gd name="connsiteX4" fmla="*/ 8078 w 7789061"/>
              <a:gd name="connsiteY4" fmla="*/ 2744796 h 5271741"/>
              <a:gd name="connsiteX0" fmla="*/ 1055 w 7782038"/>
              <a:gd name="connsiteY0" fmla="*/ 2738806 h 5438018"/>
              <a:gd name="connsiteX1" fmla="*/ 3361390 w 7782038"/>
              <a:gd name="connsiteY1" fmla="*/ 4131 h 5438018"/>
              <a:gd name="connsiteX2" fmla="*/ 7782038 w 7782038"/>
              <a:gd name="connsiteY2" fmla="*/ 3371103 h 5438018"/>
              <a:gd name="connsiteX3" fmla="*/ 3692130 w 7782038"/>
              <a:gd name="connsiteY3" fmla="*/ 5415113 h 5438018"/>
              <a:gd name="connsiteX4" fmla="*/ 1055 w 7782038"/>
              <a:gd name="connsiteY4" fmla="*/ 2738806 h 5438018"/>
              <a:gd name="connsiteX0" fmla="*/ 28883 w 7809866"/>
              <a:gd name="connsiteY0" fmla="*/ 2742147 h 5441359"/>
              <a:gd name="connsiteX1" fmla="*/ 3389218 w 7809866"/>
              <a:gd name="connsiteY1" fmla="*/ 7472 h 5441359"/>
              <a:gd name="connsiteX2" fmla="*/ 7809866 w 7809866"/>
              <a:gd name="connsiteY2" fmla="*/ 3374444 h 5441359"/>
              <a:gd name="connsiteX3" fmla="*/ 3719958 w 7809866"/>
              <a:gd name="connsiteY3" fmla="*/ 5418454 h 5441359"/>
              <a:gd name="connsiteX4" fmla="*/ 28883 w 7809866"/>
              <a:gd name="connsiteY4" fmla="*/ 2742147 h 5441359"/>
              <a:gd name="connsiteX0" fmla="*/ 36549 w 7817532"/>
              <a:gd name="connsiteY0" fmla="*/ 2751085 h 5450297"/>
              <a:gd name="connsiteX1" fmla="*/ 3396884 w 7817532"/>
              <a:gd name="connsiteY1" fmla="*/ 16410 h 5450297"/>
              <a:gd name="connsiteX2" fmla="*/ 7817532 w 7817532"/>
              <a:gd name="connsiteY2" fmla="*/ 3383382 h 5450297"/>
              <a:gd name="connsiteX3" fmla="*/ 3727624 w 7817532"/>
              <a:gd name="connsiteY3" fmla="*/ 5427392 h 5450297"/>
              <a:gd name="connsiteX4" fmla="*/ 36549 w 7817532"/>
              <a:gd name="connsiteY4" fmla="*/ 2751085 h 54502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532" h="5450297">
                <a:moveTo>
                  <a:pt x="36549" y="2751085"/>
                </a:moveTo>
                <a:cubicBezTo>
                  <a:pt x="-281221" y="925127"/>
                  <a:pt x="1526121" y="-147339"/>
                  <a:pt x="3396884" y="16410"/>
                </a:cubicBezTo>
                <a:cubicBezTo>
                  <a:pt x="5267647" y="180159"/>
                  <a:pt x="7817532" y="1453184"/>
                  <a:pt x="7817532" y="3383382"/>
                </a:cubicBezTo>
                <a:cubicBezTo>
                  <a:pt x="7700800" y="5342763"/>
                  <a:pt x="5024455" y="5532775"/>
                  <a:pt x="3727624" y="5427392"/>
                </a:cubicBezTo>
                <a:cubicBezTo>
                  <a:pt x="2430794" y="5322009"/>
                  <a:pt x="354319" y="4577043"/>
                  <a:pt x="36549" y="2751085"/>
                </a:cubicBezTo>
                <a:close/>
              </a:path>
            </a:pathLst>
          </a:custGeom>
          <a:ln w="152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409CD64E-800F-A469-F057-86B9226E7EFB}"/>
              </a:ext>
            </a:extLst>
          </p:cNvPr>
          <p:cNvSpPr txBox="1"/>
          <p:nvPr/>
        </p:nvSpPr>
        <p:spPr>
          <a:xfrm>
            <a:off x="2616277" y="2061838"/>
            <a:ext cx="6959446" cy="1662475"/>
          </a:xfrm>
          <a:prstGeom prst="rect">
            <a:avLst/>
          </a:prstGeom>
        </p:spPr>
        <p:txBody>
          <a:bodyPr rot="0" spcFirstLastPara="0" vertOverflow="overflow" horzOverflow="overflow" vert="horz" lIns="228600" tIns="228600" rIns="228600" bIns="0" numCol="1" spcCol="0" rtlCol="0" fromWordArt="0" anchor="b" anchorCtr="0" forceAA="0" compatLnSpc="1">
            <a:prstTxWarp prst="textNoShape">
              <a:avLst/>
            </a:prstTxWarp>
            <a:normAutofit/>
          </a:bodyPr>
          <a:lstStyle/>
          <a:p>
            <a:pPr algn="ctr" defTabSz="914400">
              <a:lnSpc>
                <a:spcPct val="80000"/>
              </a:lnSpc>
              <a:spcBef>
                <a:spcPct val="0"/>
              </a:spcBef>
              <a:spcAft>
                <a:spcPts val="600"/>
              </a:spcAft>
            </a:pPr>
            <a:r>
              <a:rPr lang="en-US" sz="4800" b="1" spc="-150">
                <a:solidFill>
                  <a:srgbClr val="FFFEFF"/>
                </a:solidFill>
                <a:ea typeface="+mj-ea"/>
                <a:cs typeface="+mj-cs"/>
              </a:rPr>
              <a:t>Thank You!</a:t>
            </a:r>
          </a:p>
        </p:txBody>
      </p:sp>
      <p:sp>
        <p:nvSpPr>
          <p:cNvPr id="7" name="TextBox 6">
            <a:extLst>
              <a:ext uri="{FF2B5EF4-FFF2-40B4-BE49-F238E27FC236}">
                <a16:creationId xmlns:a16="http://schemas.microsoft.com/office/drawing/2014/main" id="{73E71971-AD2A-22FD-B340-9322A834B033}"/>
              </a:ext>
            </a:extLst>
          </p:cNvPr>
          <p:cNvSpPr txBox="1"/>
          <p:nvPr/>
        </p:nvSpPr>
        <p:spPr>
          <a:xfrm>
            <a:off x="3388938" y="3783690"/>
            <a:ext cx="5414125" cy="1196717"/>
          </a:xfrm>
          <a:prstGeom prst="rect">
            <a:avLst/>
          </a:prstGeom>
        </p:spPr>
        <p:txBody>
          <a:bodyPr vert="horz" lIns="91440" tIns="0" rIns="91440" bIns="45720" rtlCol="0">
            <a:normAutofit/>
          </a:bodyPr>
          <a:lstStyle/>
          <a:p>
            <a:pPr algn="ctr" defTabSz="914400">
              <a:spcBef>
                <a:spcPts val="1000"/>
              </a:spcBef>
              <a:buClr>
                <a:schemeClr val="accent1"/>
              </a:buClr>
              <a:buSzPct val="110000"/>
            </a:pPr>
            <a:r>
              <a:rPr lang="en-US" sz="2400" b="1">
                <a:solidFill>
                  <a:srgbClr val="FFFEFF"/>
                </a:solidFill>
              </a:rPr>
              <a:t>Questions?</a:t>
            </a:r>
          </a:p>
        </p:txBody>
      </p:sp>
      <p:cxnSp>
        <p:nvCxnSpPr>
          <p:cNvPr id="9" name="Straight Connector 8">
            <a:extLst>
              <a:ext uri="{FF2B5EF4-FFF2-40B4-BE49-F238E27FC236}">
                <a16:creationId xmlns:a16="http://schemas.microsoft.com/office/drawing/2014/main" id="{73EAAEF8-0265-4A43-06E9-AF6CD9ABC7FF}"/>
              </a:ext>
            </a:extLst>
          </p:cNvPr>
          <p:cNvCxnSpPr/>
          <p:nvPr/>
        </p:nvCxnSpPr>
        <p:spPr>
          <a:xfrm>
            <a:off x="3826276" y="3770504"/>
            <a:ext cx="455424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4" name="Content Placeholder 6" descr="A red text on a black background&#10;&#10;AI-generated content may be incorrect.">
            <a:extLst>
              <a:ext uri="{FF2B5EF4-FFF2-40B4-BE49-F238E27FC236}">
                <a16:creationId xmlns:a16="http://schemas.microsoft.com/office/drawing/2014/main" id="{ACAB8B77-50BE-67DD-2045-DD9862CB6F08}"/>
              </a:ext>
            </a:extLst>
          </p:cNvPr>
          <p:cNvPicPr>
            <a:picLocks noChangeAspect="1"/>
          </p:cNvPicPr>
          <p:nvPr/>
        </p:nvPicPr>
        <p:blipFill>
          <a:blip r:embed="rId2"/>
          <a:stretch>
            <a:fillRect/>
          </a:stretch>
        </p:blipFill>
        <p:spPr>
          <a:xfrm>
            <a:off x="102098" y="-169011"/>
            <a:ext cx="1708149" cy="1138767"/>
          </a:xfrm>
          <a:prstGeom prst="rect">
            <a:avLst/>
          </a:prstGeom>
        </p:spPr>
      </p:pic>
      <p:pic>
        <p:nvPicPr>
          <p:cNvPr id="5" name="Picture 4">
            <a:extLst>
              <a:ext uri="{FF2B5EF4-FFF2-40B4-BE49-F238E27FC236}">
                <a16:creationId xmlns:a16="http://schemas.microsoft.com/office/drawing/2014/main" id="{69605B5B-5D6D-D87B-84AA-78857D58F4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6408" y="-663307"/>
            <a:ext cx="2326245" cy="21273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3067507"/>
      </p:ext>
    </p:extLst>
  </p:cSld>
  <p:clrMapOvr>
    <a:masterClrMapping/>
  </p:clrMapOvr>
</p:sld>
</file>

<file path=ppt/theme/theme1.xml><?xml version="1.0" encoding="utf-8"?>
<a:theme xmlns:a="http://schemas.openxmlformats.org/drawingml/2006/main" name="Atlas">
  <a:themeElements>
    <a:clrScheme name="Atlas">
      <a:dk1>
        <a:sysClr val="windowText" lastClr="000000"/>
      </a:dk1>
      <a:lt1>
        <a:sysClr val="window" lastClr="FFFFFF"/>
      </a:lt1>
      <a:dk2>
        <a:srgbClr val="454545"/>
      </a:dk2>
      <a:lt2>
        <a:srgbClr val="E0E0E0"/>
      </a:lt2>
      <a:accent1>
        <a:srgbClr val="F81B02"/>
      </a:accent1>
      <a:accent2>
        <a:srgbClr val="FC7715"/>
      </a:accent2>
      <a:accent3>
        <a:srgbClr val="AFBF41"/>
      </a:accent3>
      <a:accent4>
        <a:srgbClr val="50C49F"/>
      </a:accent4>
      <a:accent5>
        <a:srgbClr val="3B95C4"/>
      </a:accent5>
      <a:accent6>
        <a:srgbClr val="B560D4"/>
      </a:accent6>
      <a:hlink>
        <a:srgbClr val="FC5A1A"/>
      </a:hlink>
      <a:folHlink>
        <a:srgbClr val="B49E74"/>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508F7963-D0B5-43F7-BB2C-FCE3009C08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1162</Words>
  <Application>Microsoft Macintosh PowerPoint</Application>
  <PresentationFormat>Widescreen</PresentationFormat>
  <Paragraphs>172</Paragraphs>
  <Slides>19</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Aptos</vt:lpstr>
      <vt:lpstr>Arial</vt:lpstr>
      <vt:lpstr>Arial,Sans-Serif</vt:lpstr>
      <vt:lpstr>Calibri Light</vt:lpstr>
      <vt:lpstr>Rockwell</vt:lpstr>
      <vt:lpstr>Wingdings</vt:lpstr>
      <vt:lpstr>Atlas</vt:lpstr>
      <vt:lpstr>Enhancing Morningstar’s Match API</vt:lpstr>
      <vt:lpstr>PowerPoint Presentation</vt:lpstr>
      <vt:lpstr>About Morningstar</vt:lpstr>
      <vt:lpstr>Objective &amp; Purpose</vt:lpstr>
      <vt:lpstr>Descriptive Analysis</vt:lpstr>
      <vt:lpstr>PowerPoint Presentation</vt:lpstr>
      <vt:lpstr>PowerPoint Presentation</vt:lpstr>
      <vt:lpstr>PowerPoint Presentation</vt:lpstr>
      <vt:lpstr>PowerPoint Presentation</vt:lpstr>
      <vt:lpstr>PowerPoint Presentation</vt:lpstr>
      <vt:lpstr>Results</vt:lpstr>
      <vt:lpstr>Predictive Model Approach 2</vt:lpstr>
      <vt:lpstr>Results</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Name-Only Classification</dc:title>
  <dc:creator>Cramb, Liana</dc:creator>
  <cp:lastModifiedBy>Cramb, Liana</cp:lastModifiedBy>
  <cp:revision>2</cp:revision>
  <dcterms:created xsi:type="dcterms:W3CDTF">2025-10-24T01:26:53Z</dcterms:created>
  <dcterms:modified xsi:type="dcterms:W3CDTF">2025-11-17T00:59:35Z</dcterms:modified>
</cp:coreProperties>
</file>